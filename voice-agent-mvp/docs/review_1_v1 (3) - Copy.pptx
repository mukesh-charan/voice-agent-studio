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96" r:id="rId2"/>
    <p:sldId id="370" r:id="rId3"/>
    <p:sldId id="338" r:id="rId4"/>
    <p:sldId id="340" r:id="rId5"/>
    <p:sldId id="341" r:id="rId6"/>
    <p:sldId id="342" r:id="rId7"/>
    <p:sldId id="343" r:id="rId8"/>
    <p:sldId id="369" r:id="rId9"/>
    <p:sldId id="345" r:id="rId10"/>
    <p:sldId id="346" r:id="rId11"/>
    <p:sldId id="348" r:id="rId12"/>
    <p:sldId id="351" r:id="rId13"/>
    <p:sldId id="349" r:id="rId14"/>
    <p:sldId id="350" r:id="rId15"/>
    <p:sldId id="353" r:id="rId16"/>
    <p:sldId id="354" r:id="rId17"/>
    <p:sldId id="355" r:id="rId18"/>
    <p:sldId id="356" r:id="rId19"/>
    <p:sldId id="357" r:id="rId20"/>
    <p:sldId id="358" r:id="rId21"/>
    <p:sldId id="360" r:id="rId22"/>
    <p:sldId id="362" r:id="rId23"/>
    <p:sldId id="381" r:id="rId24"/>
    <p:sldId id="385" r:id="rId25"/>
    <p:sldId id="386" r:id="rId26"/>
    <p:sldId id="371" r:id="rId27"/>
    <p:sldId id="382" r:id="rId28"/>
    <p:sldId id="373" r:id="rId29"/>
    <p:sldId id="379" r:id="rId30"/>
    <p:sldId id="374" r:id="rId31"/>
    <p:sldId id="383" r:id="rId32"/>
    <p:sldId id="375" r:id="rId33"/>
    <p:sldId id="376" r:id="rId34"/>
    <p:sldId id="377" r:id="rId35"/>
    <p:sldId id="384" r:id="rId36"/>
    <p:sldId id="378" r:id="rId37"/>
    <p:sldId id="380" r:id="rId38"/>
    <p:sldId id="363" r:id="rId39"/>
    <p:sldId id="364" r:id="rId40"/>
    <p:sldId id="365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E6F63D-87DE-448D-97F5-8CEEF0B5DDFD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7D21D9-5084-4FC8-B78A-862E7FC045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588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7D21D9-5084-4FC8-B78A-862E7FC0450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143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941D0-0E49-B0E7-9EE4-8FE3832164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412E1B-C377-A2E9-DE2C-333DF40F6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9C9F9-E934-F94C-60BA-C04C4A3BB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0805D-1CD8-450E-81DB-E328A3891D4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4B6B7-51A3-1B34-5D93-409F81182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D716E-6640-B55F-35F6-C04431E0F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26FFB-F2EE-4A5A-8D27-EC5014A4D8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670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1EA43-A185-E99E-597C-BDBE96A50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C6A72-D2BE-E081-EB24-F5FE39725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86226-AE78-7DE3-F1DA-F9C38B18E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0805D-1CD8-450E-81DB-E328A3891D4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07680-16FF-85F5-E806-5A3B344E5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789F8-204B-9359-6066-03863B996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26FFB-F2EE-4A5A-8D27-EC5014A4D8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059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ABF88-BD98-9090-CE0D-311428562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1C92C-A4CC-C6C1-55F6-7A06E68B6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E0CD9-6935-C572-64BB-A7840DC49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0805D-1CD8-450E-81DB-E328A3891D4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C064C-44B4-EC73-0EC4-80C071CDD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4BC8A-F1EA-420E-8330-499DBC909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26FFB-F2EE-4A5A-8D27-EC5014A4D8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5952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BD606-29BC-8E64-6CDB-C7F186ABD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5C37A-7616-F2ED-F07F-264165C900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08C4B4-AC70-595A-68E6-F0CCEBDE0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4C0F55-E107-48FC-4A9D-9BD6CA0A5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0805D-1CD8-450E-81DB-E328A3891D4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050817-189D-1DAA-9F13-5A6F8FCF7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3DA3D-96DE-4EA1-7841-069B2B082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26FFB-F2EE-4A5A-8D27-EC5014A4D8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008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B18DF-AADC-CEC5-F912-EA88839A9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2A6F6C-E96D-A67F-6C7F-56589C89E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C670CE-87C8-64E3-B8BE-E7F8822118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DFE9F5-249F-64E5-DA15-92EF0F0FAF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0CE1EB-CC8D-A6A6-E50A-7104F75C5B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00A560-2C96-28BE-958B-33E008AAA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0805D-1CD8-450E-81DB-E328A3891D4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3CE30C-0A21-0290-C8C4-C9F492EA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B12DB8-8ED9-39F6-2B56-0C733BA9B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26FFB-F2EE-4A5A-8D27-EC5014A4D8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340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C73BC-D878-994C-00FB-EB73A45D8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5DB607-8BD5-4863-F41D-1B48EDAFC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0805D-1CD8-450E-81DB-E328A3891D4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D7C0F4-712B-BE04-3C8B-A10419523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766C3E-020F-6ED5-CFF6-900AECB6F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26FFB-F2EE-4A5A-8D27-EC5014A4D8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435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CF63A2-B044-1E71-2471-3E21E76EF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0805D-1CD8-450E-81DB-E328A3891D4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B0834E-90E4-D55D-203A-98CF688BD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4F0D47-67EB-2FD3-4C4A-9B0FC554D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26FFB-F2EE-4A5A-8D27-EC5014A4D8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378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9D845-613D-B57D-690F-35FD89215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7951F-B9C1-6302-9F6E-09D255B4E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C69844-B1E4-E10F-B453-DE3E8A4FA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6BE983-677E-8823-89EC-BAA47FD5A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0805D-1CD8-450E-81DB-E328A3891D4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29CDC1-4018-4BED-73C4-92C7A0B1B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C9D00-084A-A4C7-E36D-E30C40063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26FFB-F2EE-4A5A-8D27-EC5014A4D8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416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CFA75-6006-1D6E-9ECC-82E02289B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19ED87-0D75-7F9A-8D33-AAA64267AC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3D14BB-05A4-9496-CC37-F390A9B3A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B96239-2BB1-3E79-071A-DF71ABFC4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0805D-1CD8-450E-81DB-E328A3891D4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2EEC0-9F36-94F6-0CB6-2D3539F8D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2ED78-50BD-0D53-88F5-26401F4DC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26FFB-F2EE-4A5A-8D27-EC5014A4D8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907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320B2-8A22-579C-66A0-41A63DC4F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FCDEA8-BA4F-5E51-C7F7-99124B76C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8E665-D6C6-8330-5DE6-05B82C642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0805D-1CD8-450E-81DB-E328A3891D4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61440-B63F-A24B-63C1-85EB34CCB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69E67-7954-AA77-DC5D-862EFEFF6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26FFB-F2EE-4A5A-8D27-EC5014A4D8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019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D6A49F-DB0C-4D4E-A950-53FB3C3BEF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F5BD7E-5472-312F-69D6-C1EACA120E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5BE38-9BC2-C1CF-ABD5-3E2AE7C95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0805D-1CD8-450E-81DB-E328A3891D4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D1892-F851-EB64-4F6F-E77CA719F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C174E-CE98-9160-9A27-84610DFEB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26FFB-F2EE-4A5A-8D27-EC5014A4D8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5464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userDrawn="1">
  <p:cSld name="Custom Layout 1">
    <p:spTree>
      <p:nvGrpSpPr>
        <p:cNvPr id="1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5" name="Google Shape;1725;p2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2192000" cy="6873413"/>
          </a:xfrm>
          <a:prstGeom prst="rect">
            <a:avLst/>
          </a:prstGeom>
          <a:noFill/>
          <a:ln>
            <a:noFill/>
          </a:ln>
        </p:spPr>
      </p:pic>
      <p:sp>
        <p:nvSpPr>
          <p:cNvPr id="1726" name="Google Shape;172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90204"/>
              <a:buNone/>
              <a:defRPr sz="1200"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9pPr>
          </a:lstStyle>
          <a:p>
            <a:endParaRPr/>
          </a:p>
        </p:txBody>
      </p:sp>
      <p:sp>
        <p:nvSpPr>
          <p:cNvPr id="1727" name="Google Shape;172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90204"/>
              <a:buNone/>
              <a:defRPr sz="1200"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9pPr>
          </a:lstStyle>
          <a:p>
            <a:endParaRPr/>
          </a:p>
        </p:txBody>
      </p:sp>
      <p:cxnSp>
        <p:nvCxnSpPr>
          <p:cNvPr id="1729" name="Google Shape;1729;p22"/>
          <p:cNvCxnSpPr/>
          <p:nvPr/>
        </p:nvCxnSpPr>
        <p:spPr>
          <a:xfrm>
            <a:off x="2462213" y="3143250"/>
            <a:ext cx="72675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30" name="Google Shape;1730;p22"/>
          <p:cNvSpPr txBox="1">
            <a:spLocks noGrp="1"/>
          </p:cNvSpPr>
          <p:nvPr>
            <p:ph type="ctrTitle"/>
          </p:nvPr>
        </p:nvSpPr>
        <p:spPr>
          <a:xfrm>
            <a:off x="0" y="3143293"/>
            <a:ext cx="12192000" cy="7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90303"/>
              <a:buNone/>
              <a:defRPr sz="4000" b="0">
                <a:solidFill>
                  <a:schemeClr val="lt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1" name="Google Shape;1731;p22"/>
          <p:cNvSpPr txBox="1">
            <a:spLocks noGrp="1"/>
          </p:cNvSpPr>
          <p:nvPr>
            <p:ph type="subTitle" idx="1"/>
          </p:nvPr>
        </p:nvSpPr>
        <p:spPr>
          <a:xfrm>
            <a:off x="0" y="3858604"/>
            <a:ext cx="12192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sz="2400">
                <a:solidFill>
                  <a:schemeClr val="accent4"/>
                </a:solidFill>
              </a:defRPr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732" name="Google Shape;1732;p2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187040" y="1902157"/>
            <a:ext cx="3817920" cy="858362"/>
          </a:xfrm>
          <a:prstGeom prst="rect">
            <a:avLst/>
          </a:prstGeom>
          <a:noFill/>
          <a:ln>
            <a:noFill/>
          </a:ln>
        </p:spPr>
      </p:pic>
      <p:sp>
        <p:nvSpPr>
          <p:cNvPr id="1733" name="Google Shape;1733;p22"/>
          <p:cNvSpPr txBox="1"/>
          <p:nvPr/>
        </p:nvSpPr>
        <p:spPr>
          <a:xfrm>
            <a:off x="0" y="6533916"/>
            <a:ext cx="1219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 panose="020B0604020202090204"/>
              <a:buNone/>
            </a:pPr>
            <a:r>
              <a:rPr lang="en-US" sz="11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AMARAVATI | AMRITAPURI | BENGALURU |</a:t>
            </a:r>
            <a:r>
              <a:rPr lang="en-US" sz="1100" b="1" i="0" u="none" strike="noStrike" cap="none">
                <a:solidFill>
                  <a:schemeClr val="bg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CHENNAI</a:t>
            </a:r>
            <a:r>
              <a:rPr lang="en-US" sz="11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| COIMBATORE | FARIDABAD | KOCHI | MYSURU | NAGARCOIL</a:t>
            </a:r>
            <a:endParaRPr sz="1100" b="0" i="0" u="none" strike="noStrike" cap="none">
              <a:solidFill>
                <a:schemeClr val="accent4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3931900" y="2760663"/>
            <a:ext cx="914400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939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ustom Layout">
  <p:cSld name="7_Custom Layout">
    <p:bg>
      <p:bgPr>
        <a:solidFill>
          <a:schemeClr val="bg1"/>
        </a:solidFill>
        <a:effectLst/>
      </p:bgPr>
    </p:bg>
    <p:spTree>
      <p:nvGrpSpPr>
        <p:cNvPr id="1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p23"/>
          <p:cNvSpPr txBox="1">
            <a:spLocks noGrp="1"/>
          </p:cNvSpPr>
          <p:nvPr>
            <p:ph type="sldNum" idx="12"/>
          </p:nvPr>
        </p:nvSpPr>
        <p:spPr>
          <a:xfrm>
            <a:off x="190501" y="638106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 dirty="0"/>
          </a:p>
        </p:txBody>
      </p:sp>
      <p:sp>
        <p:nvSpPr>
          <p:cNvPr id="1738" name="Google Shape;1738;p23"/>
          <p:cNvSpPr txBox="1">
            <a:spLocks noGrp="1"/>
          </p:cNvSpPr>
          <p:nvPr>
            <p:ph type="title"/>
          </p:nvPr>
        </p:nvSpPr>
        <p:spPr>
          <a:xfrm>
            <a:off x="1248636" y="180603"/>
            <a:ext cx="105156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4000"/>
              <a:buFont typeface="Georgia" panose="02040502050405090303"/>
              <a:buNone/>
              <a:defRPr sz="4000" b="0">
                <a:solidFill>
                  <a:srgbClr val="A4123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739" name="Google Shape;1739;p23"/>
          <p:cNvCxnSpPr/>
          <p:nvPr/>
        </p:nvCxnSpPr>
        <p:spPr>
          <a:xfrm>
            <a:off x="495300" y="1129577"/>
            <a:ext cx="11049000" cy="0"/>
          </a:xfrm>
          <a:prstGeom prst="straightConnector1">
            <a:avLst/>
          </a:prstGeom>
          <a:noFill/>
          <a:ln w="9525" cap="flat" cmpd="sng">
            <a:solidFill>
              <a:srgbClr val="A4123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40" name="Google Shape;1740;p23"/>
          <p:cNvPicPr preferRelativeResize="0"/>
          <p:nvPr/>
        </p:nvPicPr>
        <p:blipFill rotWithShape="1">
          <a:blip r:embed="rId2">
            <a:duotone>
              <a:prstClr val="black"/>
              <a:srgbClr val="A4123F">
                <a:tint val="45000"/>
                <a:satMod val="400000"/>
              </a:srgbClr>
            </a:duotone>
          </a:blip>
          <a:srcRect r="81454" b="8517"/>
          <a:stretch>
            <a:fillRect/>
          </a:stretch>
        </p:blipFill>
        <p:spPr>
          <a:xfrm>
            <a:off x="495300" y="176714"/>
            <a:ext cx="583354" cy="712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1" name="Google Shape;1741;p23"/>
          <p:cNvCxnSpPr/>
          <p:nvPr/>
        </p:nvCxnSpPr>
        <p:spPr>
          <a:xfrm>
            <a:off x="1149212" y="181160"/>
            <a:ext cx="0" cy="703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42" name="Google Shape;1742;p23"/>
          <p:cNvSpPr txBox="1">
            <a:spLocks noGrp="1"/>
          </p:cNvSpPr>
          <p:nvPr>
            <p:ph type="body" idx="1"/>
          </p:nvPr>
        </p:nvSpPr>
        <p:spPr>
          <a:xfrm>
            <a:off x="1248636" y="605283"/>
            <a:ext cx="10515600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3" name="Google Shape;1743;p23"/>
          <p:cNvSpPr txBox="1">
            <a:spLocks noGrp="1"/>
          </p:cNvSpPr>
          <p:nvPr>
            <p:ph type="body" idx="2"/>
          </p:nvPr>
        </p:nvSpPr>
        <p:spPr>
          <a:xfrm>
            <a:off x="495301" y="2402014"/>
            <a:ext cx="5485500" cy="18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1800">
                <a:solidFill>
                  <a:srgbClr val="7F7F7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7054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DBFED0-1D0C-A92D-D4A8-99EE3B219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DA04BD-03CD-F29B-0DED-E4874B3EC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E5A55-8156-2738-8B72-5A9EF19CA7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70805D-1CD8-450E-81DB-E328A3891D4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0C485-0E49-1B87-CF4E-506524994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18D11-6885-823D-33F3-506E88A360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326FFB-F2EE-4A5A-8D27-EC5014A4D8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068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746-025-01776-y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75" y="3191830"/>
            <a:ext cx="12192000" cy="1128048"/>
          </a:xfrm>
        </p:spPr>
        <p:txBody>
          <a:bodyPr/>
          <a:lstStyle/>
          <a:p>
            <a:r>
              <a:rPr lang="en-I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Department  of </a:t>
            </a:r>
            <a:br>
              <a:rPr lang="en-I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Computer Science &amp; Engineering</a:t>
            </a:r>
            <a:r>
              <a:rPr lang="en-IN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07220" y="4189559"/>
            <a:ext cx="12192000" cy="777000"/>
          </a:xfrm>
        </p:spPr>
        <p:txBody>
          <a:bodyPr/>
          <a:lstStyle/>
          <a:p>
            <a:endParaRPr lang="en-IN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Amrita School of Computing </a:t>
            </a:r>
          </a:p>
          <a:p>
            <a:r>
              <a:rPr lang="en-I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Amrita Vishwa Vidyapeetham, Chennai Campus</a:t>
            </a:r>
          </a:p>
        </p:txBody>
      </p:sp>
      <p:cxnSp>
        <p:nvCxnSpPr>
          <p:cNvPr id="6" name="Google Shape;1729;p22"/>
          <p:cNvCxnSpPr/>
          <p:nvPr/>
        </p:nvCxnSpPr>
        <p:spPr>
          <a:xfrm>
            <a:off x="2462213" y="4425783"/>
            <a:ext cx="72675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" name="TextBox 6"/>
          <p:cNvSpPr txBox="1"/>
          <p:nvPr/>
        </p:nvSpPr>
        <p:spPr>
          <a:xfrm>
            <a:off x="6239435" y="111610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3856990" y="170751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692275"/>
            <a:ext cx="5743575" cy="1359535"/>
          </a:xfrm>
          <a:prstGeom prst="rect">
            <a:avLst/>
          </a:prstGeom>
        </p:spPr>
      </p:pic>
      <p:sp>
        <p:nvSpPr>
          <p:cNvPr id="9" name="Title 1"/>
          <p:cNvSpPr txBox="1"/>
          <p:nvPr/>
        </p:nvSpPr>
        <p:spPr>
          <a:xfrm>
            <a:off x="-299" y="2018937"/>
            <a:ext cx="12192000" cy="7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90303"/>
              <a:buNone/>
              <a:defRPr sz="4000" b="0" i="0" u="none" strike="noStrike" cap="none">
                <a:solidFill>
                  <a:schemeClr val="lt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>
              <a:spcAft>
                <a:spcPts val="200"/>
              </a:spcAft>
              <a:defRPr sz="2000" b="1">
                <a:latin typeface="Times New Roman"/>
              </a:defRPr>
            </a:pPr>
            <a:r>
              <a:t>Voice Agent Studio: A Local, Privacy-First, Quantum-Optimized AI Voice Assistant</a:t>
            </a:r>
          </a:p>
          <a:p>
            <a:pPr>
              <a:spcAft>
                <a:spcPts val="200"/>
              </a:spcAft>
              <a:defRPr sz="2000" b="1">
                <a:latin typeface="Times New Roman"/>
              </a:defRPr>
            </a:pPr>
            <a:r>
              <a:t>Domain: Agentic AI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143510" y="4778375"/>
            <a:ext cx="6096000" cy="9694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200"/>
              </a:spcAft>
              <a:defRPr sz="1200" b="0">
                <a:latin typeface="Times New Roman"/>
              </a:defRPr>
            </a:pPr>
            <a:r>
              <a:rPr b="1" dirty="0">
                <a:solidFill>
                  <a:schemeClr val="bg1"/>
                </a:solidFill>
              </a:rPr>
              <a:t>Student Members [BATCH ID: </a:t>
            </a:r>
            <a:r>
              <a:rPr lang="en-US" b="1" dirty="0">
                <a:solidFill>
                  <a:schemeClr val="bg1"/>
                </a:solidFill>
              </a:rPr>
              <a:t>2</a:t>
            </a:r>
            <a:r>
              <a:rPr b="1" dirty="0">
                <a:solidFill>
                  <a:schemeClr val="bg1"/>
                </a:solidFill>
              </a:rPr>
              <a:t>]</a:t>
            </a:r>
            <a:endParaRPr lang="en-US" altLang="en-IN" sz="16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Aft>
                <a:spcPts val="200"/>
              </a:spcAft>
              <a:defRPr sz="1200" b="0">
                <a:latin typeface="Times New Roman"/>
              </a:defRPr>
            </a:pPr>
            <a:endParaRPr lang="en-US" altLang="en-IN" sz="16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Aft>
                <a:spcPts val="200"/>
              </a:spcAft>
              <a:defRPr sz="1200" b="0">
                <a:latin typeface="Times New Roman"/>
              </a:defRPr>
            </a:pPr>
            <a:r>
              <a:rPr b="1" dirty="0">
                <a:solidFill>
                  <a:schemeClr val="bg1"/>
                </a:solidFill>
              </a:rPr>
              <a:t>1: Mukesh Charan M – CH.SC.U4AIE23032</a:t>
            </a:r>
          </a:p>
          <a:p>
            <a:pPr>
              <a:spcAft>
                <a:spcPts val="200"/>
              </a:spcAft>
              <a:defRPr sz="1200" b="0">
                <a:latin typeface="Times New Roman"/>
              </a:defRPr>
            </a:pPr>
            <a:r>
              <a:rPr b="1" dirty="0">
                <a:solidFill>
                  <a:schemeClr val="bg1"/>
                </a:solidFill>
              </a:rPr>
              <a:t>2: Sanjjey A – CH.SC.U4AIE23050</a:t>
            </a:r>
          </a:p>
        </p:txBody>
      </p:sp>
      <p:sp>
        <p:nvSpPr>
          <p:cNvPr id="16" name="Text Box 15"/>
          <p:cNvSpPr txBox="1"/>
          <p:nvPr/>
        </p:nvSpPr>
        <p:spPr>
          <a:xfrm>
            <a:off x="8616044" y="5165641"/>
            <a:ext cx="3580765" cy="11182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>
              <a:spcAft>
                <a:spcPts val="200"/>
              </a:spcAft>
              <a:defRPr sz="1200" b="0">
                <a:latin typeface="Times New Roman"/>
              </a:defRPr>
            </a:pPr>
            <a:r>
              <a:rPr b="1" dirty="0">
                <a:solidFill>
                  <a:schemeClr val="bg1"/>
                </a:solidFill>
              </a:rPr>
              <a:t>Guide Details</a:t>
            </a:r>
          </a:p>
          <a:p>
            <a:pPr>
              <a:spcAft>
                <a:spcPts val="200"/>
              </a:spcAft>
              <a:defRPr sz="1200" b="0">
                <a:latin typeface="Times New Roman"/>
              </a:defRPr>
            </a:pPr>
            <a:r>
              <a:rPr b="1" dirty="0">
                <a:solidFill>
                  <a:schemeClr val="bg1"/>
                </a:solidFill>
              </a:rPr>
              <a:t> Dr. </a:t>
            </a:r>
            <a:r>
              <a:rPr b="1" dirty="0" err="1">
                <a:solidFill>
                  <a:schemeClr val="bg1"/>
                </a:solidFill>
              </a:rPr>
              <a:t>Sountharrajan</a:t>
            </a:r>
            <a:r>
              <a:rPr b="1" dirty="0">
                <a:solidFill>
                  <a:schemeClr val="bg1"/>
                </a:solidFill>
              </a:rPr>
              <a:t> S.</a:t>
            </a:r>
            <a:endParaRPr lang="en-US" b="1" dirty="0">
              <a:solidFill>
                <a:schemeClr val="bg1"/>
              </a:solidFill>
            </a:endParaRPr>
          </a:p>
          <a:p>
            <a:pPr>
              <a:spcAft>
                <a:spcPts val="200"/>
              </a:spcAft>
              <a:defRPr sz="1200" b="0">
                <a:latin typeface="Times New Roman"/>
              </a:defRPr>
            </a:pP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IN" b="1" dirty="0">
                <a:solidFill>
                  <a:schemeClr val="bg1"/>
                </a:solidFill>
              </a:rPr>
              <a:t>PGP Co-Chair,</a:t>
            </a:r>
            <a:endParaRPr b="1" dirty="0">
              <a:solidFill>
                <a:schemeClr val="bg1"/>
              </a:solidFill>
            </a:endParaRPr>
          </a:p>
          <a:p>
            <a:pPr>
              <a:spcAft>
                <a:spcPts val="200"/>
              </a:spcAft>
              <a:defRPr sz="1200" b="0">
                <a:latin typeface="Times New Roman"/>
              </a:defRPr>
            </a:pPr>
            <a:r>
              <a:rPr b="1" dirty="0">
                <a:solidFill>
                  <a:schemeClr val="bg1"/>
                </a:solidFill>
              </a:rPr>
              <a:t> Professor,</a:t>
            </a:r>
          </a:p>
          <a:p>
            <a:pPr>
              <a:spcAft>
                <a:spcPts val="200"/>
              </a:spcAft>
              <a:defRPr sz="1200" b="0">
                <a:latin typeface="Times New Roman"/>
              </a:defRPr>
            </a:pPr>
            <a:r>
              <a:rPr b="1" dirty="0">
                <a:solidFill>
                  <a:schemeClr val="bg1"/>
                </a:solidFill>
              </a:rPr>
              <a:t> Dept of CSE</a:t>
            </a:r>
          </a:p>
        </p:txBody>
      </p:sp>
      <p:pic>
        <p:nvPicPr>
          <p:cNvPr id="4" name="Picture 3" descr="A pink background with white text&#10;&#10;AI-generated content may be incorrect.">
            <a:extLst>
              <a:ext uri="{FF2B5EF4-FFF2-40B4-BE49-F238E27FC236}">
                <a16:creationId xmlns:a16="http://schemas.microsoft.com/office/drawing/2014/main" id="{912A1048-9C9A-1138-3172-2D0CAF796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986" y="168275"/>
            <a:ext cx="4757058" cy="13761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0DBCD-BC9D-892B-A5ED-3530D0F37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388FE-25E5-73E6-52D1-39C867F07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US" sz="3200" b="1" spc="-35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Introduction</a:t>
            </a:r>
            <a:endParaRPr lang="en-IN" sz="3200" b="1" spc="-35" dirty="0">
              <a:latin typeface="Cambria" panose="02040503050406030204" pitchFamily="18" charset="0"/>
              <a:ea typeface="Cambria" panose="02040503050406030204" pitchFamily="18" charset="0"/>
              <a:cs typeface="Times New Roman" panose="02020503050405090304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F74D169-583E-E1EE-8D10-28938772273A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C537D7E-7083-7C5E-426A-CE979C82C44B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87B8BE33-8F44-0C43-63E9-16710B6039A7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92CAF72-2308-8EC0-A2F7-CC5DBE9AE2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03CC591D-00E0-F828-BEC6-73271D1B99FB}"/>
              </a:ext>
            </a:extLst>
          </p:cNvPr>
          <p:cNvSpPr/>
          <p:nvPr/>
        </p:nvSpPr>
        <p:spPr>
          <a:xfrm>
            <a:off x="-1" y="1157351"/>
            <a:ext cx="2165680" cy="5304409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b="1" spc="-35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Literature</a:t>
            </a:r>
            <a:r>
              <a:rPr lang="en-IN" sz="1500" spc="-5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10" dirty="0">
                <a:solidFill>
                  <a:schemeClr val="bg1"/>
                </a:solidFill>
                <a:latin typeface="Cambria"/>
                <a:cs typeface="Cambria"/>
              </a:rPr>
              <a:t>Survey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Research</a:t>
            </a:r>
            <a:r>
              <a:rPr lang="en-IN" sz="1500" spc="-7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25" dirty="0">
                <a:solidFill>
                  <a:schemeClr val="bg1"/>
                </a:solidFill>
                <a:latin typeface="Cambria"/>
                <a:cs typeface="Cambria"/>
              </a:rPr>
              <a:t>Gap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Problem Identification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 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Evaluation of design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</a:t>
            </a: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and Analysis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78837A-AEA0-4A45-A658-002E4C403A7F}"/>
              </a:ext>
            </a:extLst>
          </p:cNvPr>
          <p:cNvSpPr txBox="1"/>
          <p:nvPr/>
        </p:nvSpPr>
        <p:spPr>
          <a:xfrm>
            <a:off x="2368671" y="1969872"/>
            <a:ext cx="9620334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 b="0">
                <a:latin typeface="Times New Roman"/>
              </a:defRPr>
            </a:pPr>
            <a:r>
              <a:rPr dirty="0"/>
              <a:t>• Voice Agent Studio is an ultra-low-latency, privacy-first conversational AI platform engineered to eliminate costly telephony infrastructure and centralized cloud API dependencies.</a:t>
            </a:r>
          </a:p>
          <a:p>
            <a:pPr>
              <a:spcAft>
                <a:spcPts val="200"/>
              </a:spcAft>
              <a:defRPr sz="1300" b="0">
                <a:latin typeface="Times New Roman"/>
              </a:defRPr>
            </a:pPr>
            <a:endParaRPr dirty="0"/>
          </a:p>
          <a:p>
            <a:pPr>
              <a:spcAft>
                <a:spcPts val="400"/>
              </a:spcAft>
              <a:defRPr sz="1300" b="0">
                <a:latin typeface="Times New Roman"/>
              </a:defRPr>
            </a:pPr>
            <a:r>
              <a:rPr dirty="0"/>
              <a:t>• Employs an end-to-end local speech pipeline: browser-side Web Audio DSP </a:t>
            </a:r>
            <a:r>
              <a:rPr dirty="0" err="1"/>
              <a:t>downsampling</a:t>
            </a:r>
            <a:r>
              <a:rPr dirty="0"/>
              <a:t> (16 kHz PCM), client-side adaptive VAD, Faster-Whisper (</a:t>
            </a:r>
            <a:r>
              <a:rPr dirty="0" err="1"/>
              <a:t>small.en</a:t>
            </a:r>
            <a:r>
              <a:rPr dirty="0"/>
              <a:t>) STT, and Piper ONNX neural voice synthesis (</a:t>
            </a:r>
            <a:r>
              <a:rPr dirty="0" err="1"/>
              <a:t>en_US</a:t>
            </a:r>
            <a:r>
              <a:rPr dirty="0"/>
              <a:t>-</a:t>
            </a:r>
            <a:r>
              <a:rPr dirty="0" err="1"/>
              <a:t>lessac</a:t>
            </a:r>
            <a:r>
              <a:rPr dirty="0"/>
              <a:t>-medium) with Windows SAPI5 fallback for 100% offline speech turnaround.</a:t>
            </a:r>
          </a:p>
          <a:p>
            <a:pPr>
              <a:spcAft>
                <a:spcPts val="200"/>
              </a:spcAft>
              <a:defRPr sz="1300" b="0">
                <a:latin typeface="Times New Roman"/>
              </a:defRPr>
            </a:pPr>
            <a:endParaRPr dirty="0"/>
          </a:p>
          <a:p>
            <a:pPr>
              <a:spcAft>
                <a:spcPts val="400"/>
              </a:spcAft>
              <a:defRPr sz="1300" b="0">
                <a:latin typeface="Times New Roman"/>
              </a:defRPr>
            </a:pPr>
            <a:r>
              <a:rPr dirty="0"/>
              <a:t>• Features in-memory BM25 Retrieval-Augmented Generation (RAG) over uploaded enterprise documents (.pdf, .docx, .txt), delivering sub-millisecond context grounding without external vector databases.</a:t>
            </a:r>
          </a:p>
          <a:p>
            <a:pPr>
              <a:spcAft>
                <a:spcPts val="200"/>
              </a:spcAft>
              <a:defRPr sz="1300" b="0">
                <a:latin typeface="Times New Roman"/>
              </a:defRPr>
            </a:pPr>
            <a:endParaRPr dirty="0"/>
          </a:p>
          <a:p>
            <a:pPr>
              <a:spcAft>
                <a:spcPts val="400"/>
              </a:spcAft>
              <a:defRPr sz="1300" b="0">
                <a:latin typeface="Times New Roman"/>
              </a:defRPr>
            </a:pPr>
            <a:r>
              <a:rPr dirty="0"/>
              <a:t>• Incorporates hybrid quantum-classical subroutines: IBM </a:t>
            </a:r>
            <a:r>
              <a:rPr dirty="0" err="1"/>
              <a:t>Qiskit</a:t>
            </a:r>
            <a:r>
              <a:rPr dirty="0"/>
              <a:t> QAOA / QUBO for combinatorial prompt optimization and PennyLane Variational Quantum Circuits (VQC) for conflict-free multi-booking appointment scheduling.</a:t>
            </a:r>
          </a:p>
          <a:p>
            <a:pPr>
              <a:spcAft>
                <a:spcPts val="200"/>
              </a:spcAft>
              <a:defRPr sz="1300" b="0">
                <a:latin typeface="Times New Roman"/>
              </a:defRPr>
            </a:pPr>
            <a:endParaRPr dirty="0"/>
          </a:p>
          <a:p>
            <a:pPr>
              <a:spcAft>
                <a:spcPts val="400"/>
              </a:spcAft>
              <a:defRPr sz="1300" b="0">
                <a:latin typeface="Times New Roman"/>
              </a:defRPr>
            </a:pPr>
            <a:r>
              <a:rPr dirty="0"/>
              <a:t>• Packaged into an isolated on-premises Docker container with zero external data egress, providing enterprise data sovereignty and full compliance with GDPR, HIPAA, and India's DPDP Act 2023.</a:t>
            </a:r>
          </a:p>
        </p:txBody>
      </p:sp>
    </p:spTree>
    <p:extLst>
      <p:ext uri="{BB962C8B-B14F-4D97-AF65-F5344CB8AC3E}">
        <p14:creationId xmlns:p14="http://schemas.microsoft.com/office/powerpoint/2010/main" val="866985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9D8EE-7210-D7D4-6F76-8B343CD4E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CE7FF-A784-F257-843B-A1823B64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>
              <a:defRPr>
                <a:latin typeface="Times New Roman"/>
              </a:defRPr>
            </a:pPr>
            <a:r>
              <a:t>Literature Survey - Conversational Agents &amp; LLM Security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4F44B6A-80A9-0004-D13F-166F5CBB8F8E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5630C57-2872-4CED-A97F-1D5E6842493B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80613AB3-8FC1-0C9D-43C0-D7C312241645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CFFB35E-6FE3-1FCC-DDCF-6DF7C52D78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75460586-E983-A427-B045-33A1E1003870}"/>
              </a:ext>
            </a:extLst>
          </p:cNvPr>
          <p:cNvSpPr/>
          <p:nvPr/>
        </p:nvSpPr>
        <p:spPr>
          <a:xfrm>
            <a:off x="-1" y="1157351"/>
            <a:ext cx="2165680" cy="5304409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/>
                <a:cs typeface="Cambria"/>
              </a:rPr>
              <a:t>Literature</a:t>
            </a:r>
            <a:r>
              <a:rPr lang="en-IN" sz="1500" b="1" spc="-55" dirty="0">
                <a:solidFill>
                  <a:srgbClr val="FFC000"/>
                </a:solidFill>
                <a:latin typeface="Cambria"/>
                <a:cs typeface="Cambria"/>
              </a:rPr>
              <a:t> </a:t>
            </a:r>
            <a:r>
              <a:rPr lang="en-IN" sz="1500" b="1" spc="-10" dirty="0">
                <a:solidFill>
                  <a:srgbClr val="FFC000"/>
                </a:solidFill>
                <a:latin typeface="Cambria"/>
                <a:cs typeface="Cambria"/>
              </a:rPr>
              <a:t>Survey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rgbClr val="FFFFFF"/>
                </a:solidFill>
                <a:latin typeface="Cambria"/>
                <a:cs typeface="Cambria"/>
              </a:rPr>
              <a:t>Research</a:t>
            </a:r>
            <a:r>
              <a:rPr lang="en-IN" sz="1500" spc="-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n-IN" sz="1500" spc="-25" dirty="0">
                <a:solidFill>
                  <a:srgbClr val="FFFFFF"/>
                </a:solidFill>
                <a:latin typeface="Cambria"/>
                <a:cs typeface="Cambria"/>
              </a:rPr>
              <a:t>Gap</a:t>
            </a:r>
            <a:endParaRPr lang="en-IN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Problem Identification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</a:t>
            </a:r>
            <a:r>
              <a:rPr lang="en-IN" sz="1500" b="1" dirty="0">
                <a:solidFill>
                  <a:schemeClr val="accent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sz="1500" b="1" dirty="0">
              <a:solidFill>
                <a:schemeClr val="accent4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Evaluation of design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</a:t>
            </a: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and Analysis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EF2DCD7-CE06-A2ED-90D3-F9C2DBBD7C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188205"/>
              </p:ext>
            </p:extLst>
          </p:nvPr>
        </p:nvGraphicFramePr>
        <p:xfrm>
          <a:off x="2189129" y="1155763"/>
          <a:ext cx="10026320" cy="50499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9879">
                  <a:extLst>
                    <a:ext uri="{9D8B030D-6E8A-4147-A177-3AD203B41FA5}">
                      <a16:colId xmlns:a16="http://schemas.microsoft.com/office/drawing/2014/main" val="711285694"/>
                    </a:ext>
                  </a:extLst>
                </a:gridCol>
                <a:gridCol w="1269998">
                  <a:extLst>
                    <a:ext uri="{9D8B030D-6E8A-4147-A177-3AD203B41FA5}">
                      <a16:colId xmlns:a16="http://schemas.microsoft.com/office/drawing/2014/main" val="1533914162"/>
                    </a:ext>
                  </a:extLst>
                </a:gridCol>
                <a:gridCol w="1115121">
                  <a:extLst>
                    <a:ext uri="{9D8B030D-6E8A-4147-A177-3AD203B41FA5}">
                      <a16:colId xmlns:a16="http://schemas.microsoft.com/office/drawing/2014/main" val="2146148060"/>
                    </a:ext>
                  </a:extLst>
                </a:gridCol>
                <a:gridCol w="1236673">
                  <a:extLst>
                    <a:ext uri="{9D8B030D-6E8A-4147-A177-3AD203B41FA5}">
                      <a16:colId xmlns:a16="http://schemas.microsoft.com/office/drawing/2014/main" val="3218227663"/>
                    </a:ext>
                  </a:extLst>
                </a:gridCol>
                <a:gridCol w="1801906">
                  <a:extLst>
                    <a:ext uri="{9D8B030D-6E8A-4147-A177-3AD203B41FA5}">
                      <a16:colId xmlns:a16="http://schemas.microsoft.com/office/drawing/2014/main" val="1076539548"/>
                    </a:ext>
                  </a:extLst>
                </a:gridCol>
                <a:gridCol w="2136392">
                  <a:extLst>
                    <a:ext uri="{9D8B030D-6E8A-4147-A177-3AD203B41FA5}">
                      <a16:colId xmlns:a16="http://schemas.microsoft.com/office/drawing/2014/main" val="3196161089"/>
                    </a:ext>
                  </a:extLst>
                </a:gridCol>
                <a:gridCol w="1876351">
                  <a:extLst>
                    <a:ext uri="{9D8B030D-6E8A-4147-A177-3AD203B41FA5}">
                      <a16:colId xmlns:a16="http://schemas.microsoft.com/office/drawing/2014/main" val="1224288341"/>
                    </a:ext>
                  </a:extLst>
                </a:gridCol>
              </a:tblGrid>
              <a:tr h="38313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S.No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Authors &amp; Year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Title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Journal Name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Methods Used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Key Findings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Research Gap Identified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681931"/>
                  </a:ext>
                </a:extLst>
              </a:tr>
              <a:tr h="2552933">
                <a:tc>
                  <a:txBody>
                    <a:bodyPr/>
                    <a:lstStyle/>
                    <a:p>
                      <a:pPr algn="ctr">
                        <a:defRPr sz="950" b="1">
                          <a:latin typeface="Times New Roman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Bhatia &amp; Khetarpaul (2025)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AI-enhanced bilingual banking assistant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Scientific Reports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Multi-turn conversational pipeline with intent classification, LLM response generation, and banking tool execution.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Demonstrated 94.2% task success in bilingual user interactions; improved query completion rates in financial workflows.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Relies entirely on cloud speech services; lacks local edge execution and privacy-preserving offline inference.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2005825"/>
                  </a:ext>
                </a:extLst>
              </a:tr>
              <a:tr h="2113875">
                <a:tc>
                  <a:txBody>
                    <a:bodyPr/>
                    <a:lstStyle/>
                    <a:p>
                      <a:pPr algn="ctr">
                        <a:defRPr sz="950" b="1">
                          <a:latin typeface="Times New Roman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Chowa et al. (2026)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LLM agents security duality: a comprehensive survey of self-security and empowered cybersecurity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Artificial Intelligence Review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Survey of autonomous agent vulnerabilities, prompt injection risks, and defensive agent guardrails.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Demonstrates agent susceptibility to adversarial prompts and boundary degradation during tool calling.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No mathematical combinatorial optimization of system prompt guardrails or edge runtime sandboxing.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2345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0738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43BA7-AB17-58D5-D41E-E316EAA43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EB86E-6E93-B615-74CF-6F68E6B9B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>
              <a:defRPr>
                <a:latin typeface="Times New Roman"/>
              </a:defRPr>
            </a:pPr>
            <a:r>
              <a:t>Literature Survey - Healthcare UX &amp; Full-Duplex Benchmarking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B243D1C-BA0E-46C4-9AA6-C6139B258A22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113284C-6876-1C91-653B-81BEC05A3CF6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8AEAAFCC-884A-BCF0-527C-97250A90EBD5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65EA067-9A8B-B6C1-1318-3953AD534B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196B966D-53B1-C3C6-EFF1-20767F693740}"/>
              </a:ext>
            </a:extLst>
          </p:cNvPr>
          <p:cNvSpPr/>
          <p:nvPr/>
        </p:nvSpPr>
        <p:spPr>
          <a:xfrm>
            <a:off x="-1" y="1157351"/>
            <a:ext cx="2165680" cy="5304409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/>
                <a:cs typeface="Cambria"/>
              </a:rPr>
              <a:t>Literature</a:t>
            </a:r>
            <a:r>
              <a:rPr lang="en-IN" sz="1500" b="1" spc="-55" dirty="0">
                <a:solidFill>
                  <a:srgbClr val="FFC000"/>
                </a:solidFill>
                <a:latin typeface="Cambria"/>
                <a:cs typeface="Cambria"/>
              </a:rPr>
              <a:t> </a:t>
            </a:r>
            <a:r>
              <a:rPr lang="en-IN" sz="1500" b="1" spc="-10" dirty="0">
                <a:solidFill>
                  <a:srgbClr val="FFC000"/>
                </a:solidFill>
                <a:latin typeface="Cambria"/>
                <a:cs typeface="Cambria"/>
              </a:rPr>
              <a:t>Survey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rgbClr val="FFFFFF"/>
                </a:solidFill>
                <a:latin typeface="Cambria"/>
                <a:cs typeface="Cambria"/>
              </a:rPr>
              <a:t>Research</a:t>
            </a:r>
            <a:r>
              <a:rPr lang="en-IN" sz="1500" spc="-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n-IN" sz="1500" spc="-25" dirty="0">
                <a:solidFill>
                  <a:srgbClr val="FFFFFF"/>
                </a:solidFill>
                <a:latin typeface="Cambria"/>
                <a:cs typeface="Cambria"/>
              </a:rPr>
              <a:t>Gap</a:t>
            </a:r>
            <a:endParaRPr lang="en-IN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Problem Identification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</a:t>
            </a:r>
            <a:r>
              <a:rPr lang="en-IN" sz="1500" b="1" dirty="0">
                <a:solidFill>
                  <a:schemeClr val="accent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sz="1500" b="1" dirty="0">
              <a:solidFill>
                <a:schemeClr val="accent4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Evaluation of design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</a:t>
            </a: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and Analysis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86F49AC-1091-8B7E-BEAC-0ABD2F0DE3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331022"/>
              </p:ext>
            </p:extLst>
          </p:nvPr>
        </p:nvGraphicFramePr>
        <p:xfrm>
          <a:off x="2165678" y="1126294"/>
          <a:ext cx="10026322" cy="518560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83594">
                  <a:extLst>
                    <a:ext uri="{9D8B030D-6E8A-4147-A177-3AD203B41FA5}">
                      <a16:colId xmlns:a16="http://schemas.microsoft.com/office/drawing/2014/main" val="991737301"/>
                    </a:ext>
                  </a:extLst>
                </a:gridCol>
                <a:gridCol w="1109784">
                  <a:extLst>
                    <a:ext uri="{9D8B030D-6E8A-4147-A177-3AD203B41FA5}">
                      <a16:colId xmlns:a16="http://schemas.microsoft.com/office/drawing/2014/main" val="3577451864"/>
                    </a:ext>
                  </a:extLst>
                </a:gridCol>
                <a:gridCol w="1262857">
                  <a:extLst>
                    <a:ext uri="{9D8B030D-6E8A-4147-A177-3AD203B41FA5}">
                      <a16:colId xmlns:a16="http://schemas.microsoft.com/office/drawing/2014/main" val="980031608"/>
                    </a:ext>
                  </a:extLst>
                </a:gridCol>
                <a:gridCol w="1109784">
                  <a:extLst>
                    <a:ext uri="{9D8B030D-6E8A-4147-A177-3AD203B41FA5}">
                      <a16:colId xmlns:a16="http://schemas.microsoft.com/office/drawing/2014/main" val="1005281019"/>
                    </a:ext>
                  </a:extLst>
                </a:gridCol>
                <a:gridCol w="1942121">
                  <a:extLst>
                    <a:ext uri="{9D8B030D-6E8A-4147-A177-3AD203B41FA5}">
                      <a16:colId xmlns:a16="http://schemas.microsoft.com/office/drawing/2014/main" val="332759165"/>
                    </a:ext>
                  </a:extLst>
                </a:gridCol>
                <a:gridCol w="1961256">
                  <a:extLst>
                    <a:ext uri="{9D8B030D-6E8A-4147-A177-3AD203B41FA5}">
                      <a16:colId xmlns:a16="http://schemas.microsoft.com/office/drawing/2014/main" val="420229571"/>
                    </a:ext>
                  </a:extLst>
                </a:gridCol>
                <a:gridCol w="2056926">
                  <a:extLst>
                    <a:ext uri="{9D8B030D-6E8A-4147-A177-3AD203B41FA5}">
                      <a16:colId xmlns:a16="http://schemas.microsoft.com/office/drawing/2014/main" val="1013366221"/>
                    </a:ext>
                  </a:extLst>
                </a:gridCol>
              </a:tblGrid>
              <a:tr h="54841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S.No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Authors &amp; Year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Title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Journal Name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Methods Used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Key Findings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Research Gap Identified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099054"/>
                  </a:ext>
                </a:extLst>
              </a:tr>
              <a:tr h="2409115">
                <a:tc>
                  <a:txBody>
                    <a:bodyPr/>
                    <a:lstStyle/>
                    <a:p>
                      <a:pPr algn="ctr">
                        <a:defRPr sz="950" b="1">
                          <a:latin typeface="Times New Roman"/>
                        </a:defRPr>
                      </a:pPr>
                      <a:r>
                        <a:t>3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Furtado et al. (2025)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Assessing the User Experience of an LLM-based Conversational Agent for Older Adults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Journal of Healthcare Informatics Research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Mixed-method UX evaluation of voice assistants in senior care with speech-driven dialogue.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High user acceptance when latency is &lt;1000ms; voice naturalness directly correlates with user trust.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High reliance on commercial cloud APIs introduces significant latency variance and cost bottlenecks.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1037093"/>
                  </a:ext>
                </a:extLst>
              </a:tr>
              <a:tr h="2228080">
                <a:tc>
                  <a:txBody>
                    <a:bodyPr/>
                    <a:lstStyle/>
                    <a:p>
                      <a:pPr algn="ctr">
                        <a:defRPr sz="950" b="1">
                          <a:latin typeface="Times New Roman"/>
                        </a:defRPr>
                      </a:pPr>
                      <a:r>
                        <a:t>4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Ray, Dhandhania, Barres &amp; Narasimhan (2026)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τ-Voice: Benchmarking Full-Duplex Voice Agents on Real-World Domains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ICML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Comprehensive benchmark for turn-taking, barge-in, and full-duplex conversational latency across speech agents.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Current cloud voice pipelines average 2.1s turnaround latency and suffer from high barge-in collision rates.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Highlights critical necessity for client-side VAD, local acoustic gating, and zero-latency sentence streaming.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4125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9494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AC38A-8B81-7F9C-7403-DAD33EB9E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7F0F0-C41A-9372-DE35-39C3BDC84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>
              <a:defRPr>
                <a:latin typeface="Times New Roman"/>
              </a:defRPr>
            </a:pPr>
            <a:r>
              <a:t>Literature Survey - Personalized Conversational Health Agents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7FE47E7-C8FE-C79B-5719-CBA856864AE5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0D40F80-1100-A9B7-9F26-45B4C91BC618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8A40836D-DD58-42F2-C499-BE8647550CF9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CBEE4CC-6F00-FC04-8B15-E3EC508BC0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85030D93-37DA-83BE-68B4-B30295B73BDD}"/>
              </a:ext>
            </a:extLst>
          </p:cNvPr>
          <p:cNvSpPr/>
          <p:nvPr/>
        </p:nvSpPr>
        <p:spPr>
          <a:xfrm>
            <a:off x="-1" y="1157351"/>
            <a:ext cx="2165680" cy="5304409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/>
                <a:cs typeface="Cambria"/>
              </a:rPr>
              <a:t>Literature</a:t>
            </a:r>
            <a:r>
              <a:rPr lang="en-IN" sz="1500" b="1" spc="-55" dirty="0">
                <a:solidFill>
                  <a:srgbClr val="FFC000"/>
                </a:solidFill>
                <a:latin typeface="Cambria"/>
                <a:cs typeface="Cambria"/>
              </a:rPr>
              <a:t> </a:t>
            </a:r>
            <a:r>
              <a:rPr lang="en-IN" sz="1500" b="1" spc="-10" dirty="0">
                <a:solidFill>
                  <a:srgbClr val="FFC000"/>
                </a:solidFill>
                <a:latin typeface="Cambria"/>
                <a:cs typeface="Cambria"/>
              </a:rPr>
              <a:t>Survey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rgbClr val="FFFFFF"/>
                </a:solidFill>
                <a:latin typeface="Cambria"/>
                <a:cs typeface="Cambria"/>
              </a:rPr>
              <a:t>Research</a:t>
            </a:r>
            <a:r>
              <a:rPr lang="en-IN" sz="1500" spc="-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n-IN" sz="1500" spc="-25" dirty="0">
                <a:solidFill>
                  <a:srgbClr val="FFFFFF"/>
                </a:solidFill>
                <a:latin typeface="Cambria"/>
                <a:cs typeface="Cambria"/>
              </a:rPr>
              <a:t>Gap</a:t>
            </a:r>
            <a:endParaRPr lang="en-IN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Problem Identification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</a:t>
            </a:r>
            <a:r>
              <a:rPr lang="en-IN" sz="1500" b="1" dirty="0">
                <a:solidFill>
                  <a:schemeClr val="accent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sz="1500" b="1" dirty="0">
              <a:solidFill>
                <a:schemeClr val="accent4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Evaluation of design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</a:t>
            </a: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and Analysis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6B9DCF-EABA-0E7D-615F-E748CD4504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688087"/>
              </p:ext>
            </p:extLst>
          </p:nvPr>
        </p:nvGraphicFramePr>
        <p:xfrm>
          <a:off x="2165679" y="1157352"/>
          <a:ext cx="10026319" cy="344981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88110">
                  <a:extLst>
                    <a:ext uri="{9D8B030D-6E8A-4147-A177-3AD203B41FA5}">
                      <a16:colId xmlns:a16="http://schemas.microsoft.com/office/drawing/2014/main" val="1684258519"/>
                    </a:ext>
                  </a:extLst>
                </a:gridCol>
                <a:gridCol w="1079657">
                  <a:extLst>
                    <a:ext uri="{9D8B030D-6E8A-4147-A177-3AD203B41FA5}">
                      <a16:colId xmlns:a16="http://schemas.microsoft.com/office/drawing/2014/main" val="4279218987"/>
                    </a:ext>
                  </a:extLst>
                </a:gridCol>
                <a:gridCol w="1345223">
                  <a:extLst>
                    <a:ext uri="{9D8B030D-6E8A-4147-A177-3AD203B41FA5}">
                      <a16:colId xmlns:a16="http://schemas.microsoft.com/office/drawing/2014/main" val="1042745496"/>
                    </a:ext>
                  </a:extLst>
                </a:gridCol>
                <a:gridCol w="1170177">
                  <a:extLst>
                    <a:ext uri="{9D8B030D-6E8A-4147-A177-3AD203B41FA5}">
                      <a16:colId xmlns:a16="http://schemas.microsoft.com/office/drawing/2014/main" val="4134388238"/>
                    </a:ext>
                  </a:extLst>
                </a:gridCol>
                <a:gridCol w="2342952">
                  <a:extLst>
                    <a:ext uri="{9D8B030D-6E8A-4147-A177-3AD203B41FA5}">
                      <a16:colId xmlns:a16="http://schemas.microsoft.com/office/drawing/2014/main" val="2971252104"/>
                    </a:ext>
                  </a:extLst>
                </a:gridCol>
                <a:gridCol w="1859185">
                  <a:extLst>
                    <a:ext uri="{9D8B030D-6E8A-4147-A177-3AD203B41FA5}">
                      <a16:colId xmlns:a16="http://schemas.microsoft.com/office/drawing/2014/main" val="4021093231"/>
                    </a:ext>
                  </a:extLst>
                </a:gridCol>
                <a:gridCol w="1641015">
                  <a:extLst>
                    <a:ext uri="{9D8B030D-6E8A-4147-A177-3AD203B41FA5}">
                      <a16:colId xmlns:a16="http://schemas.microsoft.com/office/drawing/2014/main" val="2844095846"/>
                    </a:ext>
                  </a:extLst>
                </a:gridCol>
              </a:tblGrid>
              <a:tr h="398552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S.No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Authors &amp; 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Journal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Methods 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Key Findings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Research Gap Identified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810626"/>
                  </a:ext>
                </a:extLst>
              </a:tr>
              <a:tr h="3051266">
                <a:tc>
                  <a:txBody>
                    <a:bodyPr/>
                    <a:lstStyle/>
                    <a:p>
                      <a:pPr algn="ctr">
                        <a:defRPr sz="950" b="1">
                          <a:latin typeface="Times New Roman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Abbasian, Azimi, Rahmani &amp; Jain (2025)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Conversational health agents: A personalized large language model-powered agent framework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JAMIA Open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RAG-grounded health consultation agent with personal medical record retrieval and conversational LLM.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Significantly enhanced domain accuracy and patient engagement through structured clinical grounding.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Patient speech data egress to centralized cloud infrastructure violates medical confidentiality (HIPAA).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50288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0733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D5DE8-23F4-FBE4-CFD3-4D6070FD7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9B3FE-526E-5DB4-B831-5B18FCE40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>
              <a:defRPr>
                <a:latin typeface="Times New Roman"/>
              </a:defRPr>
            </a:pPr>
            <a:r>
              <a:t>Literature Survey - Generative AI in Medicine &amp; Clinical Robotics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265F084-F871-D9EF-41D2-5F5B7B9D77E4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08DBFA-C7DD-E221-33EE-5ED87DD0A4F3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FF899BA1-DCD2-3BC4-94E5-18E8E75FA2FF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E72953-69DB-241A-ED7B-B0E7E5EF0A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AA738F1E-9B31-6CC0-5BEB-DACBC37531F0}"/>
              </a:ext>
            </a:extLst>
          </p:cNvPr>
          <p:cNvSpPr/>
          <p:nvPr/>
        </p:nvSpPr>
        <p:spPr>
          <a:xfrm>
            <a:off x="-1" y="1157351"/>
            <a:ext cx="2165680" cy="5304409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/>
                <a:cs typeface="Cambria"/>
              </a:rPr>
              <a:t>Literature</a:t>
            </a:r>
            <a:r>
              <a:rPr lang="en-IN" sz="1500" b="1" spc="-55" dirty="0">
                <a:solidFill>
                  <a:srgbClr val="FFC000"/>
                </a:solidFill>
                <a:latin typeface="Cambria"/>
                <a:cs typeface="Cambria"/>
              </a:rPr>
              <a:t> </a:t>
            </a:r>
            <a:r>
              <a:rPr lang="en-IN" sz="1500" b="1" spc="-10" dirty="0">
                <a:solidFill>
                  <a:srgbClr val="FFC000"/>
                </a:solidFill>
                <a:latin typeface="Cambria"/>
                <a:cs typeface="Cambria"/>
              </a:rPr>
              <a:t>Survey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rgbClr val="FFFFFF"/>
                </a:solidFill>
                <a:latin typeface="Cambria"/>
                <a:cs typeface="Cambria"/>
              </a:rPr>
              <a:t>Research</a:t>
            </a:r>
            <a:r>
              <a:rPr lang="en-IN" sz="1500" spc="-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n-IN" sz="1500" spc="-25" dirty="0">
                <a:solidFill>
                  <a:srgbClr val="FFFFFF"/>
                </a:solidFill>
                <a:latin typeface="Cambria"/>
                <a:cs typeface="Cambria"/>
              </a:rPr>
              <a:t>Gap</a:t>
            </a:r>
            <a:endParaRPr lang="en-IN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Problem Identification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</a:t>
            </a:r>
            <a:r>
              <a:rPr lang="en-IN" sz="1500" b="1" dirty="0">
                <a:solidFill>
                  <a:schemeClr val="accent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sz="1500" b="1" dirty="0">
              <a:solidFill>
                <a:schemeClr val="accent4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Evaluation of design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</a:t>
            </a: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and Analysis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693A576-F699-10DA-6861-802B66C89A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78538"/>
              </p:ext>
            </p:extLst>
          </p:nvPr>
        </p:nvGraphicFramePr>
        <p:xfrm>
          <a:off x="2165678" y="1126294"/>
          <a:ext cx="10026322" cy="518560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83594">
                  <a:extLst>
                    <a:ext uri="{9D8B030D-6E8A-4147-A177-3AD203B41FA5}">
                      <a16:colId xmlns:a16="http://schemas.microsoft.com/office/drawing/2014/main" val="991737301"/>
                    </a:ext>
                  </a:extLst>
                </a:gridCol>
                <a:gridCol w="1109784">
                  <a:extLst>
                    <a:ext uri="{9D8B030D-6E8A-4147-A177-3AD203B41FA5}">
                      <a16:colId xmlns:a16="http://schemas.microsoft.com/office/drawing/2014/main" val="3577451864"/>
                    </a:ext>
                  </a:extLst>
                </a:gridCol>
                <a:gridCol w="1262857">
                  <a:extLst>
                    <a:ext uri="{9D8B030D-6E8A-4147-A177-3AD203B41FA5}">
                      <a16:colId xmlns:a16="http://schemas.microsoft.com/office/drawing/2014/main" val="980031608"/>
                    </a:ext>
                  </a:extLst>
                </a:gridCol>
                <a:gridCol w="1109784">
                  <a:extLst>
                    <a:ext uri="{9D8B030D-6E8A-4147-A177-3AD203B41FA5}">
                      <a16:colId xmlns:a16="http://schemas.microsoft.com/office/drawing/2014/main" val="1005281019"/>
                    </a:ext>
                  </a:extLst>
                </a:gridCol>
                <a:gridCol w="1942121">
                  <a:extLst>
                    <a:ext uri="{9D8B030D-6E8A-4147-A177-3AD203B41FA5}">
                      <a16:colId xmlns:a16="http://schemas.microsoft.com/office/drawing/2014/main" val="332759165"/>
                    </a:ext>
                  </a:extLst>
                </a:gridCol>
                <a:gridCol w="1961256">
                  <a:extLst>
                    <a:ext uri="{9D8B030D-6E8A-4147-A177-3AD203B41FA5}">
                      <a16:colId xmlns:a16="http://schemas.microsoft.com/office/drawing/2014/main" val="420229571"/>
                    </a:ext>
                  </a:extLst>
                </a:gridCol>
                <a:gridCol w="2056926">
                  <a:extLst>
                    <a:ext uri="{9D8B030D-6E8A-4147-A177-3AD203B41FA5}">
                      <a16:colId xmlns:a16="http://schemas.microsoft.com/office/drawing/2014/main" val="1013366221"/>
                    </a:ext>
                  </a:extLst>
                </a:gridCol>
              </a:tblGrid>
              <a:tr h="70124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S.No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Authors &amp; Year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Title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Journal Name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Methods Used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Key Findings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Research Gap Identified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099054"/>
                  </a:ext>
                </a:extLst>
              </a:tr>
              <a:tr h="2329712">
                <a:tc>
                  <a:txBody>
                    <a:bodyPr/>
                    <a:lstStyle/>
                    <a:p>
                      <a:pPr algn="ctr">
                        <a:defRPr sz="950" b="1">
                          <a:latin typeface="Times New Roman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Adams, Acosta &amp; Rajpurkar (2025)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How generative AI voice agents will transform medicine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npj Digital Medicine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Systematic review of generative voice agents in clinical intake, triage, and administrative automation.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Real-time voice agents reduce physician burnout and administrative documentation load by 35%.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Identifies severe lack of air-gapped on-premises deployment solutions meeting hospital IT security standards.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1037093"/>
                  </a:ext>
                </a:extLst>
              </a:tr>
              <a:tr h="2154644">
                <a:tc>
                  <a:txBody>
                    <a:bodyPr/>
                    <a:lstStyle/>
                    <a:p>
                      <a:pPr algn="ctr">
                        <a:defRPr sz="950" b="1">
                          <a:latin typeface="Times New Roman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Lima et al. (2025)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Cultural Feasibility of Conversational Robots for Dementia Care: A Mixed Methods Study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Journal of Participatory Medicine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Evaluation of acoustic pacing, empathy, and repetitive interaction handling in voice agents for dementia care.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Natural speech prosody and low-latency feedback are vital to sustain cognitive engagement.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Needs lightweight, low-power edge deployment that operates autonomously without active internet connectivity.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4125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2989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03534-9549-6894-9F9A-4C6A2E71F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8E76C-D3F6-7A02-049F-D678FA994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>
              <a:defRPr>
                <a:latin typeface="Times New Roman"/>
              </a:defRPr>
            </a:pPr>
            <a:r>
              <a:t>Literature Survey - Standalone Speech LLMs &amp; Streaming Duplex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3B90C3A-C1E4-C6E1-B5D1-402699A4FD1C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160544A-86D9-DACA-B8D3-7FEAEB2AEEDE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BDFF6C8D-00B9-F8B4-2715-B76C4E7755DD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F454D84-8A89-CD19-D411-411CF04A05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481BB656-0DDC-FD9B-A124-98C69BBD62FA}"/>
              </a:ext>
            </a:extLst>
          </p:cNvPr>
          <p:cNvSpPr/>
          <p:nvPr/>
        </p:nvSpPr>
        <p:spPr>
          <a:xfrm>
            <a:off x="-1" y="1157351"/>
            <a:ext cx="2165680" cy="5304409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/>
                <a:cs typeface="Cambria"/>
              </a:rPr>
              <a:t>Literature</a:t>
            </a:r>
            <a:r>
              <a:rPr lang="en-IN" sz="1500" b="1" spc="-55" dirty="0">
                <a:solidFill>
                  <a:srgbClr val="FFC000"/>
                </a:solidFill>
                <a:latin typeface="Cambria"/>
                <a:cs typeface="Cambria"/>
              </a:rPr>
              <a:t> </a:t>
            </a:r>
            <a:r>
              <a:rPr lang="en-IN" sz="1500" b="1" spc="-10" dirty="0">
                <a:solidFill>
                  <a:srgbClr val="FFC000"/>
                </a:solidFill>
                <a:latin typeface="Cambria"/>
                <a:cs typeface="Cambria"/>
              </a:rPr>
              <a:t>Survey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rgbClr val="FFFFFF"/>
                </a:solidFill>
                <a:latin typeface="Cambria"/>
                <a:cs typeface="Cambria"/>
              </a:rPr>
              <a:t>Research</a:t>
            </a:r>
            <a:r>
              <a:rPr lang="en-IN" sz="1500" spc="-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n-IN" sz="1500" spc="-25" dirty="0">
                <a:solidFill>
                  <a:srgbClr val="FFFFFF"/>
                </a:solidFill>
                <a:latin typeface="Cambria"/>
                <a:cs typeface="Cambria"/>
              </a:rPr>
              <a:t>Gap</a:t>
            </a:r>
            <a:endParaRPr lang="en-IN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Problem Identification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</a:t>
            </a:r>
            <a:r>
              <a:rPr lang="en-IN" sz="1500" b="1" dirty="0">
                <a:solidFill>
                  <a:schemeClr val="accent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sz="1500" b="1" dirty="0">
              <a:solidFill>
                <a:schemeClr val="accent4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Evaluation of design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</a:t>
            </a: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and Analysis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6841B34-3036-6886-BB95-10D152AC9C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950501"/>
              </p:ext>
            </p:extLst>
          </p:nvPr>
        </p:nvGraphicFramePr>
        <p:xfrm>
          <a:off x="2165678" y="1126294"/>
          <a:ext cx="10026322" cy="51856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83594">
                  <a:extLst>
                    <a:ext uri="{9D8B030D-6E8A-4147-A177-3AD203B41FA5}">
                      <a16:colId xmlns:a16="http://schemas.microsoft.com/office/drawing/2014/main" val="991737301"/>
                    </a:ext>
                  </a:extLst>
                </a:gridCol>
                <a:gridCol w="1109784">
                  <a:extLst>
                    <a:ext uri="{9D8B030D-6E8A-4147-A177-3AD203B41FA5}">
                      <a16:colId xmlns:a16="http://schemas.microsoft.com/office/drawing/2014/main" val="3577451864"/>
                    </a:ext>
                  </a:extLst>
                </a:gridCol>
                <a:gridCol w="1262857">
                  <a:extLst>
                    <a:ext uri="{9D8B030D-6E8A-4147-A177-3AD203B41FA5}">
                      <a16:colId xmlns:a16="http://schemas.microsoft.com/office/drawing/2014/main" val="980031608"/>
                    </a:ext>
                  </a:extLst>
                </a:gridCol>
                <a:gridCol w="1109784">
                  <a:extLst>
                    <a:ext uri="{9D8B030D-6E8A-4147-A177-3AD203B41FA5}">
                      <a16:colId xmlns:a16="http://schemas.microsoft.com/office/drawing/2014/main" val="1005281019"/>
                    </a:ext>
                  </a:extLst>
                </a:gridCol>
                <a:gridCol w="1942121">
                  <a:extLst>
                    <a:ext uri="{9D8B030D-6E8A-4147-A177-3AD203B41FA5}">
                      <a16:colId xmlns:a16="http://schemas.microsoft.com/office/drawing/2014/main" val="332759165"/>
                    </a:ext>
                  </a:extLst>
                </a:gridCol>
                <a:gridCol w="1961256">
                  <a:extLst>
                    <a:ext uri="{9D8B030D-6E8A-4147-A177-3AD203B41FA5}">
                      <a16:colId xmlns:a16="http://schemas.microsoft.com/office/drawing/2014/main" val="420229571"/>
                    </a:ext>
                  </a:extLst>
                </a:gridCol>
                <a:gridCol w="2056926">
                  <a:extLst>
                    <a:ext uri="{9D8B030D-6E8A-4147-A177-3AD203B41FA5}">
                      <a16:colId xmlns:a16="http://schemas.microsoft.com/office/drawing/2014/main" val="1013366221"/>
                    </a:ext>
                  </a:extLst>
                </a:gridCol>
              </a:tblGrid>
              <a:tr h="67405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S.No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Authors &amp; Year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Title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Journal Name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Methods Used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Key Findings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Research Gap Identified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099054"/>
                  </a:ext>
                </a:extLst>
              </a:tr>
              <a:tr h="2255777">
                <a:tc>
                  <a:txBody>
                    <a:bodyPr/>
                    <a:lstStyle/>
                    <a:p>
                      <a:pPr algn="ctr">
                        <a:defRPr sz="950" b="1">
                          <a:latin typeface="Times New Roman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Yu et al. (2025)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SALMONN-omni: A Standalone Speech LLM without Codec Injection for Full-duplex Conversation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NeurIPS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Unified end-to-end streaming speech-to-speech model with integrated acoustic encoders.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Eliminates cascading errors between ASR and TTS; achieves 35.9% accuracy gain with rapid barge-in.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High parameter footprint (13B+) requires enterprise cluster GPUs, making it impractical for on-premise edge use.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2885275"/>
                  </a:ext>
                </a:extLst>
              </a:tr>
              <a:tr h="2255777">
                <a:tc>
                  <a:txBody>
                    <a:bodyPr/>
                    <a:lstStyle/>
                    <a:p>
                      <a:pPr algn="ctr">
                        <a:defRPr sz="950" b="1">
                          <a:latin typeface="Times New Roman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Lu et al. (2025)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DuplexMamba: Enhancing Real-time Speech Conversations with Duplex and Streaming Capabilities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NLPCC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State-space model (Mamba) architecture applied to streaming speech dialogue and full-duplex decoding.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Achieves linear-time sequence complexity, matching Transformer quality while cutting decoding latency.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Tool integration and knowledge base retrieval remain unaddressed in pure SSM speech models.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4912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9928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DAEA2-9D47-604F-118D-F92099827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0A591-1789-7387-9BDB-E96A18B20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>
              <a:defRPr>
                <a:latin typeface="Times New Roman"/>
              </a:defRPr>
            </a:pPr>
            <a:r>
              <a:t>Literature Survey - Open Full-Duplex Systems &amp; Hybrid RAG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D5B6DAF-D0E5-5E7F-2ADF-83C50D509CBD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902F42B-9917-638B-DC06-7726500F6D84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7A50CDF7-5292-C9A6-EFE7-2A60E7264A40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F476FD8-A46D-52AE-5D03-E8B0541C6F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533A7BEA-F5DC-52E7-7924-8DA3E4799BB9}"/>
              </a:ext>
            </a:extLst>
          </p:cNvPr>
          <p:cNvSpPr/>
          <p:nvPr/>
        </p:nvSpPr>
        <p:spPr>
          <a:xfrm>
            <a:off x="-1" y="1157351"/>
            <a:ext cx="2165680" cy="5304409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/>
                <a:cs typeface="Cambria"/>
              </a:rPr>
              <a:t>Literature</a:t>
            </a:r>
            <a:r>
              <a:rPr lang="en-IN" sz="1500" b="1" spc="-55" dirty="0">
                <a:solidFill>
                  <a:srgbClr val="FFC000"/>
                </a:solidFill>
                <a:latin typeface="Cambria"/>
                <a:cs typeface="Cambria"/>
              </a:rPr>
              <a:t> </a:t>
            </a:r>
            <a:r>
              <a:rPr lang="en-IN" sz="1500" b="1" spc="-10" dirty="0">
                <a:solidFill>
                  <a:srgbClr val="FFC000"/>
                </a:solidFill>
                <a:latin typeface="Cambria"/>
                <a:cs typeface="Cambria"/>
              </a:rPr>
              <a:t>Survey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rgbClr val="FFFFFF"/>
                </a:solidFill>
                <a:latin typeface="Cambria"/>
                <a:cs typeface="Cambria"/>
              </a:rPr>
              <a:t>Research</a:t>
            </a:r>
            <a:r>
              <a:rPr lang="en-IN" sz="1500" spc="-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n-IN" sz="1500" spc="-25" dirty="0">
                <a:solidFill>
                  <a:srgbClr val="FFFFFF"/>
                </a:solidFill>
                <a:latin typeface="Cambria"/>
                <a:cs typeface="Cambria"/>
              </a:rPr>
              <a:t>Gap</a:t>
            </a:r>
            <a:endParaRPr lang="en-IN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Problem Identification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</a:t>
            </a:r>
            <a:r>
              <a:rPr lang="en-IN" sz="1500" b="1" dirty="0">
                <a:solidFill>
                  <a:schemeClr val="accent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sz="1500" b="1" dirty="0">
              <a:solidFill>
                <a:schemeClr val="accent4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Evaluation of design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</a:t>
            </a: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and Analysis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059F818-50CB-937B-510E-3E1885AADE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471035"/>
              </p:ext>
            </p:extLst>
          </p:nvPr>
        </p:nvGraphicFramePr>
        <p:xfrm>
          <a:off x="2165678" y="1126294"/>
          <a:ext cx="10026322" cy="51856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83594">
                  <a:extLst>
                    <a:ext uri="{9D8B030D-6E8A-4147-A177-3AD203B41FA5}">
                      <a16:colId xmlns:a16="http://schemas.microsoft.com/office/drawing/2014/main" val="991737301"/>
                    </a:ext>
                  </a:extLst>
                </a:gridCol>
                <a:gridCol w="1109784">
                  <a:extLst>
                    <a:ext uri="{9D8B030D-6E8A-4147-A177-3AD203B41FA5}">
                      <a16:colId xmlns:a16="http://schemas.microsoft.com/office/drawing/2014/main" val="3577451864"/>
                    </a:ext>
                  </a:extLst>
                </a:gridCol>
                <a:gridCol w="1262857">
                  <a:extLst>
                    <a:ext uri="{9D8B030D-6E8A-4147-A177-3AD203B41FA5}">
                      <a16:colId xmlns:a16="http://schemas.microsoft.com/office/drawing/2014/main" val="980031608"/>
                    </a:ext>
                  </a:extLst>
                </a:gridCol>
                <a:gridCol w="1109784">
                  <a:extLst>
                    <a:ext uri="{9D8B030D-6E8A-4147-A177-3AD203B41FA5}">
                      <a16:colId xmlns:a16="http://schemas.microsoft.com/office/drawing/2014/main" val="1005281019"/>
                    </a:ext>
                  </a:extLst>
                </a:gridCol>
                <a:gridCol w="1942121">
                  <a:extLst>
                    <a:ext uri="{9D8B030D-6E8A-4147-A177-3AD203B41FA5}">
                      <a16:colId xmlns:a16="http://schemas.microsoft.com/office/drawing/2014/main" val="332759165"/>
                    </a:ext>
                  </a:extLst>
                </a:gridCol>
                <a:gridCol w="1961256">
                  <a:extLst>
                    <a:ext uri="{9D8B030D-6E8A-4147-A177-3AD203B41FA5}">
                      <a16:colId xmlns:a16="http://schemas.microsoft.com/office/drawing/2014/main" val="420229571"/>
                    </a:ext>
                  </a:extLst>
                </a:gridCol>
                <a:gridCol w="2056926">
                  <a:extLst>
                    <a:ext uri="{9D8B030D-6E8A-4147-A177-3AD203B41FA5}">
                      <a16:colId xmlns:a16="http://schemas.microsoft.com/office/drawing/2014/main" val="1013366221"/>
                    </a:ext>
                  </a:extLst>
                </a:gridCol>
              </a:tblGrid>
              <a:tr h="67405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S.No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Authors &amp; Year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Title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Journal Name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Methods Used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Key Findings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Research Gap Identified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099054"/>
                  </a:ext>
                </a:extLst>
              </a:tr>
              <a:tr h="2255777">
                <a:tc>
                  <a:txBody>
                    <a:bodyPr/>
                    <a:lstStyle/>
                    <a:p>
                      <a:pPr algn="ctr">
                        <a:defRPr sz="950" b="1">
                          <a:latin typeface="Times New Roman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Casanova et al. (2025)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Open Full-duplex Voice Agent with Speech-to-Speech Language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IEEE ASRU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Open-source duplex speech-to-speech pipeline with low-latency neural acoustic tokenization.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Enables conversational interruption and natural turn-taking with open weights.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Lacks domain-specific document RAG, business tool orchestration, and automated scheduling workflows.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2885275"/>
                  </a:ext>
                </a:extLst>
              </a:tr>
              <a:tr h="2255777">
                <a:tc>
                  <a:txBody>
                    <a:bodyPr/>
                    <a:lstStyle/>
                    <a:p>
                      <a:pPr algn="ctr">
                        <a:defRPr sz="950" b="1">
                          <a:latin typeface="Times New Roman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Keshireddy (2025)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Retrieval-Augmented Generation Techniques in Oracle APEX Improving Contextual Responses in AI Assistants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Archives for Technical Sciences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Enterprise RAG implementation comparing dense vector embeddings and BM25 lexical ranking.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BM25 demonstrates superior precision on specific entity lookups (dates, product codes, room types) with &lt;1ms latency.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Dense vector search incurs substantial indexing and retrieval latency on low-resource edge servers.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3802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6626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9DF86-0DEF-E0AC-611B-1ED8F67B6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C1771-E898-0903-34ED-43054753D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>
              <a:defRPr>
                <a:latin typeface="Times New Roman"/>
              </a:defRPr>
            </a:pPr>
            <a:r>
              <a:t>Literature Survey - Agentic Tool Orchestration &amp; Voice Automation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269D032-7C3F-B3B7-2592-540B950BFA80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B900DD3-9C79-58BC-7104-4D2AB93809B1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15441D78-35E2-8AB9-3830-A65763B857C3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184F08A-C6EB-6753-7E40-9219AE1CEE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2CED4678-A4D2-8014-8793-417CA7930204}"/>
              </a:ext>
            </a:extLst>
          </p:cNvPr>
          <p:cNvSpPr/>
          <p:nvPr/>
        </p:nvSpPr>
        <p:spPr>
          <a:xfrm>
            <a:off x="-1" y="1157351"/>
            <a:ext cx="2165680" cy="5304409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/>
                <a:cs typeface="Cambria"/>
              </a:rPr>
              <a:t>Literature</a:t>
            </a:r>
            <a:r>
              <a:rPr lang="en-IN" sz="1500" b="1" spc="-55" dirty="0">
                <a:solidFill>
                  <a:srgbClr val="FFC000"/>
                </a:solidFill>
                <a:latin typeface="Cambria"/>
                <a:cs typeface="Cambria"/>
              </a:rPr>
              <a:t> </a:t>
            </a:r>
            <a:r>
              <a:rPr lang="en-IN" sz="1500" b="1" spc="-10" dirty="0">
                <a:solidFill>
                  <a:srgbClr val="FFC000"/>
                </a:solidFill>
                <a:latin typeface="Cambria"/>
                <a:cs typeface="Cambria"/>
              </a:rPr>
              <a:t>Survey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rgbClr val="FFFFFF"/>
                </a:solidFill>
                <a:latin typeface="Cambria"/>
                <a:cs typeface="Cambria"/>
              </a:rPr>
              <a:t>Research</a:t>
            </a:r>
            <a:r>
              <a:rPr lang="en-IN" sz="1500" spc="-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n-IN" sz="1500" spc="-25" dirty="0">
                <a:solidFill>
                  <a:srgbClr val="FFFFFF"/>
                </a:solidFill>
                <a:latin typeface="Cambria"/>
                <a:cs typeface="Cambria"/>
              </a:rPr>
              <a:t>Gap</a:t>
            </a:r>
            <a:endParaRPr lang="en-IN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Problem Identification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</a:t>
            </a:r>
            <a:r>
              <a:rPr lang="en-IN" sz="1500" b="1" dirty="0">
                <a:solidFill>
                  <a:schemeClr val="accent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sz="1500" b="1" dirty="0">
              <a:solidFill>
                <a:schemeClr val="accent4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Evaluation of design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</a:t>
            </a: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and Analysis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FF825E-7FD9-B274-01BB-555E03D690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097425"/>
              </p:ext>
            </p:extLst>
          </p:nvPr>
        </p:nvGraphicFramePr>
        <p:xfrm>
          <a:off x="2165678" y="1126294"/>
          <a:ext cx="10026322" cy="51856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83594">
                  <a:extLst>
                    <a:ext uri="{9D8B030D-6E8A-4147-A177-3AD203B41FA5}">
                      <a16:colId xmlns:a16="http://schemas.microsoft.com/office/drawing/2014/main" val="991737301"/>
                    </a:ext>
                  </a:extLst>
                </a:gridCol>
                <a:gridCol w="1109784">
                  <a:extLst>
                    <a:ext uri="{9D8B030D-6E8A-4147-A177-3AD203B41FA5}">
                      <a16:colId xmlns:a16="http://schemas.microsoft.com/office/drawing/2014/main" val="3577451864"/>
                    </a:ext>
                  </a:extLst>
                </a:gridCol>
                <a:gridCol w="1262857">
                  <a:extLst>
                    <a:ext uri="{9D8B030D-6E8A-4147-A177-3AD203B41FA5}">
                      <a16:colId xmlns:a16="http://schemas.microsoft.com/office/drawing/2014/main" val="980031608"/>
                    </a:ext>
                  </a:extLst>
                </a:gridCol>
                <a:gridCol w="1184758">
                  <a:extLst>
                    <a:ext uri="{9D8B030D-6E8A-4147-A177-3AD203B41FA5}">
                      <a16:colId xmlns:a16="http://schemas.microsoft.com/office/drawing/2014/main" val="1005281019"/>
                    </a:ext>
                  </a:extLst>
                </a:gridCol>
                <a:gridCol w="1867147">
                  <a:extLst>
                    <a:ext uri="{9D8B030D-6E8A-4147-A177-3AD203B41FA5}">
                      <a16:colId xmlns:a16="http://schemas.microsoft.com/office/drawing/2014/main" val="332759165"/>
                    </a:ext>
                  </a:extLst>
                </a:gridCol>
                <a:gridCol w="1961256">
                  <a:extLst>
                    <a:ext uri="{9D8B030D-6E8A-4147-A177-3AD203B41FA5}">
                      <a16:colId xmlns:a16="http://schemas.microsoft.com/office/drawing/2014/main" val="420229571"/>
                    </a:ext>
                  </a:extLst>
                </a:gridCol>
                <a:gridCol w="2056926">
                  <a:extLst>
                    <a:ext uri="{9D8B030D-6E8A-4147-A177-3AD203B41FA5}">
                      <a16:colId xmlns:a16="http://schemas.microsoft.com/office/drawing/2014/main" val="1013366221"/>
                    </a:ext>
                  </a:extLst>
                </a:gridCol>
              </a:tblGrid>
              <a:tr h="621084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S.No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Authors &amp; Year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Title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Journal Name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Methods Used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Key Findings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Research Gap Identified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099054"/>
                  </a:ext>
                </a:extLst>
              </a:tr>
              <a:tr h="2247403">
                <a:tc>
                  <a:txBody>
                    <a:bodyPr/>
                    <a:lstStyle/>
                    <a:p>
                      <a:pPr algn="ctr">
                        <a:defRPr sz="950" b="1">
                          <a:latin typeface="Times New Roman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Acikgoz et al. (2025)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Can a Single Model Master Both Multi-turn Conversations and Tool Use? CoALM: Unified Conversational Agentic Language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ACL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Multi-task training framework for conversational reasoning and structured API tool execution.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CoALM outperformed domain models in executing complex tool chains while maintaining natural dialogue.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Fails to handle real-time concurrency conflicts when multiple tools compete for identical resource slots.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1037093"/>
                  </a:ext>
                </a:extLst>
              </a:tr>
              <a:tr h="2317117">
                <a:tc>
                  <a:txBody>
                    <a:bodyPr/>
                    <a:lstStyle/>
                    <a:p>
                      <a:pPr algn="ctr">
                        <a:defRPr sz="950" b="1">
                          <a:latin typeface="Times New Roman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Samal, Swain &amp; Sahoo (2026)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Srota AI: A Voice-Controlled Intelligent Web Automation Platform Using Large Language Models and Multi-Agent Orchestration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IJESSM LAW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FastAPI-orchestrated multi-agent voice system executing end-to-end browser and enterprise tasks.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Automated high-friction business workflows, reducing human execution time by 60%.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High reliance on external telephony and proprietary cloud models creates ongoing operational costs.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4125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299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52C12-CA6A-2D1D-3F4B-8051CF6C0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3E6C6-66CD-3341-56D5-A889FF1F9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>
              <a:defRPr>
                <a:latin typeface="Times New Roman"/>
              </a:defRPr>
            </a:pPr>
            <a:r>
              <a:t>Literature Survey - Trust Dynamics &amp; Healthcare Systems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364FF3B-949F-CEF0-07DF-3824785E449C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AAD19D0-B7B9-A7AE-4116-EB8A829AEEAA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D560D64D-E8A0-D21B-8E55-9058C30CA54C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CA0DB10-F775-65B9-E9E3-AE4BBC53AF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93380CD2-4521-3E58-E7B1-3CCFEA786E8E}"/>
              </a:ext>
            </a:extLst>
          </p:cNvPr>
          <p:cNvSpPr/>
          <p:nvPr/>
        </p:nvSpPr>
        <p:spPr>
          <a:xfrm>
            <a:off x="-1" y="1157351"/>
            <a:ext cx="2165680" cy="5304409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/>
                <a:cs typeface="Cambria"/>
              </a:rPr>
              <a:t>Literature</a:t>
            </a:r>
            <a:r>
              <a:rPr lang="en-IN" sz="1500" b="1" spc="-55" dirty="0">
                <a:solidFill>
                  <a:srgbClr val="FFC000"/>
                </a:solidFill>
                <a:latin typeface="Cambria"/>
                <a:cs typeface="Cambria"/>
              </a:rPr>
              <a:t> </a:t>
            </a:r>
            <a:r>
              <a:rPr lang="en-IN" sz="1500" b="1" spc="-10" dirty="0">
                <a:solidFill>
                  <a:srgbClr val="FFC000"/>
                </a:solidFill>
                <a:latin typeface="Cambria"/>
                <a:cs typeface="Cambria"/>
              </a:rPr>
              <a:t>Survey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rgbClr val="FFFFFF"/>
                </a:solidFill>
                <a:latin typeface="Cambria"/>
                <a:cs typeface="Cambria"/>
              </a:rPr>
              <a:t>Research</a:t>
            </a:r>
            <a:r>
              <a:rPr lang="en-IN" sz="1500" spc="-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n-IN" sz="1500" spc="-25" dirty="0">
                <a:solidFill>
                  <a:srgbClr val="FFFFFF"/>
                </a:solidFill>
                <a:latin typeface="Cambria"/>
                <a:cs typeface="Cambria"/>
              </a:rPr>
              <a:t>Gap</a:t>
            </a:r>
            <a:endParaRPr lang="en-IN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Problem Identification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</a:t>
            </a:r>
            <a:r>
              <a:rPr lang="en-IN" sz="1500" b="1" dirty="0">
                <a:solidFill>
                  <a:schemeClr val="accent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sz="1500" b="1" dirty="0">
              <a:solidFill>
                <a:schemeClr val="accent4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Evaluation of design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</a:t>
            </a: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and Analysis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97FC89D-98BA-258C-39CC-940864865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134644"/>
              </p:ext>
            </p:extLst>
          </p:nvPr>
        </p:nvGraphicFramePr>
        <p:xfrm>
          <a:off x="2165678" y="1126295"/>
          <a:ext cx="10026322" cy="518560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83594">
                  <a:extLst>
                    <a:ext uri="{9D8B030D-6E8A-4147-A177-3AD203B41FA5}">
                      <a16:colId xmlns:a16="http://schemas.microsoft.com/office/drawing/2014/main" val="991737301"/>
                    </a:ext>
                  </a:extLst>
                </a:gridCol>
                <a:gridCol w="1049005">
                  <a:extLst>
                    <a:ext uri="{9D8B030D-6E8A-4147-A177-3AD203B41FA5}">
                      <a16:colId xmlns:a16="http://schemas.microsoft.com/office/drawing/2014/main" val="3577451864"/>
                    </a:ext>
                  </a:extLst>
                </a:gridCol>
                <a:gridCol w="1323636">
                  <a:extLst>
                    <a:ext uri="{9D8B030D-6E8A-4147-A177-3AD203B41FA5}">
                      <a16:colId xmlns:a16="http://schemas.microsoft.com/office/drawing/2014/main" val="980031608"/>
                    </a:ext>
                  </a:extLst>
                </a:gridCol>
                <a:gridCol w="1184758">
                  <a:extLst>
                    <a:ext uri="{9D8B030D-6E8A-4147-A177-3AD203B41FA5}">
                      <a16:colId xmlns:a16="http://schemas.microsoft.com/office/drawing/2014/main" val="1005281019"/>
                    </a:ext>
                  </a:extLst>
                </a:gridCol>
                <a:gridCol w="1936376">
                  <a:extLst>
                    <a:ext uri="{9D8B030D-6E8A-4147-A177-3AD203B41FA5}">
                      <a16:colId xmlns:a16="http://schemas.microsoft.com/office/drawing/2014/main" val="332759165"/>
                    </a:ext>
                  </a:extLst>
                </a:gridCol>
                <a:gridCol w="1949824">
                  <a:extLst>
                    <a:ext uri="{9D8B030D-6E8A-4147-A177-3AD203B41FA5}">
                      <a16:colId xmlns:a16="http://schemas.microsoft.com/office/drawing/2014/main" val="420229571"/>
                    </a:ext>
                  </a:extLst>
                </a:gridCol>
                <a:gridCol w="1999129">
                  <a:extLst>
                    <a:ext uri="{9D8B030D-6E8A-4147-A177-3AD203B41FA5}">
                      <a16:colId xmlns:a16="http://schemas.microsoft.com/office/drawing/2014/main" val="1013366221"/>
                    </a:ext>
                  </a:extLst>
                </a:gridCol>
              </a:tblGrid>
              <a:tr h="639132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S.No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Authors &amp; Year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Title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Journal Name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Methods Used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Key Findings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Research Gap Identified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099054"/>
                  </a:ext>
                </a:extLst>
              </a:tr>
              <a:tr h="2312708">
                <a:tc>
                  <a:txBody>
                    <a:bodyPr/>
                    <a:lstStyle/>
                    <a:p>
                      <a:pPr algn="ctr">
                        <a:defRPr sz="950" b="1">
                          <a:latin typeface="Times New Roman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Zhang et al. (2025)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Artificial intelligence voice gender, gender role congruity, and trust in automated vehicles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Scientific Reports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Empirical investigation of voice acoustics, persona congruence, and cognitive user trust.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Acoustic warmth and concise verbal phrasing significantly increase user trust in autonomous assistants.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Requires systematic prompt optimization methods to tune LLM verbal persona to match voice acoustics.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1037093"/>
                  </a:ext>
                </a:extLst>
              </a:tr>
              <a:tr h="2233765">
                <a:tc>
                  <a:txBody>
                    <a:bodyPr/>
                    <a:lstStyle/>
                    <a:p>
                      <a:pPr algn="ctr">
                        <a:defRPr sz="950" b="1">
                          <a:latin typeface="Times New Roman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Mahajan et al. (2025)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Transforming healthcare delivery with conversational AI platforms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npj Digital Medicine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Analysis of governance, clinical safety validation, and data sovereignty across conversational platforms.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Emphasizes zero data leakage and local processing as mandatory criteria for clinical adoption.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Commercial SaaS solutions fail to provide air-gapped on-premise Docker deployment.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4125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9318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2CA01-673A-386B-9846-7BE3BF840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F8017-BDF3-5656-CBE2-8F19AB221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>
              <a:defRPr>
                <a:latin typeface="Times New Roman"/>
              </a:defRPr>
            </a:pPr>
            <a:r>
              <a:t>Literature Survey - Human-AI Coaching &amp; XAI Design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033878B-63A4-AE11-23CA-AAF55020369E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C775842-251D-3CE7-C3F9-F5392949C661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38CEE520-6A5A-403E-8FDD-3D634F686D95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7F22A8-DF93-6DF4-740A-1D100673FC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E07AFAED-68CD-6CF2-6F47-8F7DB199EDEB}"/>
              </a:ext>
            </a:extLst>
          </p:cNvPr>
          <p:cNvSpPr/>
          <p:nvPr/>
        </p:nvSpPr>
        <p:spPr>
          <a:xfrm>
            <a:off x="-1" y="1157351"/>
            <a:ext cx="2165680" cy="5304409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/>
                <a:cs typeface="Cambria"/>
              </a:rPr>
              <a:t>Literature</a:t>
            </a:r>
            <a:r>
              <a:rPr lang="en-IN" sz="1500" b="1" spc="-55" dirty="0">
                <a:solidFill>
                  <a:srgbClr val="FFC000"/>
                </a:solidFill>
                <a:latin typeface="Cambria"/>
                <a:cs typeface="Cambria"/>
              </a:rPr>
              <a:t> </a:t>
            </a:r>
            <a:r>
              <a:rPr lang="en-IN" sz="1500" b="1" spc="-10" dirty="0">
                <a:solidFill>
                  <a:srgbClr val="FFC000"/>
                </a:solidFill>
                <a:latin typeface="Cambria"/>
                <a:cs typeface="Cambria"/>
              </a:rPr>
              <a:t>Survey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rgbClr val="FFFFFF"/>
                </a:solidFill>
                <a:latin typeface="Cambria"/>
                <a:cs typeface="Cambria"/>
              </a:rPr>
              <a:t>Research</a:t>
            </a:r>
            <a:r>
              <a:rPr lang="en-IN" sz="1500" spc="-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n-IN" sz="1500" spc="-25" dirty="0">
                <a:solidFill>
                  <a:srgbClr val="FFFFFF"/>
                </a:solidFill>
                <a:latin typeface="Cambria"/>
                <a:cs typeface="Cambria"/>
              </a:rPr>
              <a:t>Gap</a:t>
            </a:r>
            <a:endParaRPr lang="en-IN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Problem Identification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</a:t>
            </a:r>
            <a:r>
              <a:rPr lang="en-IN" sz="1500" b="1" dirty="0">
                <a:solidFill>
                  <a:schemeClr val="accent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sz="1500" b="1" dirty="0">
              <a:solidFill>
                <a:schemeClr val="accent4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Evaluation of design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</a:t>
            </a: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and Analysis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4FDF729-886A-C416-F9BF-67238F17F8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129418"/>
              </p:ext>
            </p:extLst>
          </p:nvPr>
        </p:nvGraphicFramePr>
        <p:xfrm>
          <a:off x="2165678" y="1126295"/>
          <a:ext cx="10026322" cy="518560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83594">
                  <a:extLst>
                    <a:ext uri="{9D8B030D-6E8A-4147-A177-3AD203B41FA5}">
                      <a16:colId xmlns:a16="http://schemas.microsoft.com/office/drawing/2014/main" val="991737301"/>
                    </a:ext>
                  </a:extLst>
                </a:gridCol>
                <a:gridCol w="1109784">
                  <a:extLst>
                    <a:ext uri="{9D8B030D-6E8A-4147-A177-3AD203B41FA5}">
                      <a16:colId xmlns:a16="http://schemas.microsoft.com/office/drawing/2014/main" val="3577451864"/>
                    </a:ext>
                  </a:extLst>
                </a:gridCol>
                <a:gridCol w="1262857">
                  <a:extLst>
                    <a:ext uri="{9D8B030D-6E8A-4147-A177-3AD203B41FA5}">
                      <a16:colId xmlns:a16="http://schemas.microsoft.com/office/drawing/2014/main" val="980031608"/>
                    </a:ext>
                  </a:extLst>
                </a:gridCol>
                <a:gridCol w="1184758">
                  <a:extLst>
                    <a:ext uri="{9D8B030D-6E8A-4147-A177-3AD203B41FA5}">
                      <a16:colId xmlns:a16="http://schemas.microsoft.com/office/drawing/2014/main" val="1005281019"/>
                    </a:ext>
                  </a:extLst>
                </a:gridCol>
                <a:gridCol w="1867147">
                  <a:extLst>
                    <a:ext uri="{9D8B030D-6E8A-4147-A177-3AD203B41FA5}">
                      <a16:colId xmlns:a16="http://schemas.microsoft.com/office/drawing/2014/main" val="332759165"/>
                    </a:ext>
                  </a:extLst>
                </a:gridCol>
                <a:gridCol w="1961256">
                  <a:extLst>
                    <a:ext uri="{9D8B030D-6E8A-4147-A177-3AD203B41FA5}">
                      <a16:colId xmlns:a16="http://schemas.microsoft.com/office/drawing/2014/main" val="420229571"/>
                    </a:ext>
                  </a:extLst>
                </a:gridCol>
                <a:gridCol w="2056926">
                  <a:extLst>
                    <a:ext uri="{9D8B030D-6E8A-4147-A177-3AD203B41FA5}">
                      <a16:colId xmlns:a16="http://schemas.microsoft.com/office/drawing/2014/main" val="1013366221"/>
                    </a:ext>
                  </a:extLst>
                </a:gridCol>
              </a:tblGrid>
              <a:tr h="47935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S.No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Authors &amp; Year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Title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Journal Name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Methods Used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Key Findings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Research Gap Identified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099054"/>
                  </a:ext>
                </a:extLst>
              </a:tr>
              <a:tr h="1976623">
                <a:tc>
                  <a:txBody>
                    <a:bodyPr/>
                    <a:lstStyle/>
                    <a:p>
                      <a:pPr algn="ctr">
                        <a:defRPr sz="950" b="1">
                          <a:latin typeface="Times New Roman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Loughnane et al. (2025)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Systematic review exploring human, AI, and hybrid health coaching interventions for psychological well-being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Frontiers in Digital Health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Systematic review of voice vs. text interaction modalities in conversational wellness coaching.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Spoken interactions demonstrate 40% higher adherence and emotional rapport than text-based chat.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High latency in spoken cloud pipelines degrades conversational presence and user rapport.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1037093"/>
                  </a:ext>
                </a:extLst>
              </a:tr>
              <a:tr h="2729623">
                <a:tc>
                  <a:txBody>
                    <a:bodyPr/>
                    <a:lstStyle/>
                    <a:p>
                      <a:pPr algn="ctr">
                        <a:defRPr sz="950" b="1">
                          <a:latin typeface="Times New Roman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Hong &amp; Park (2025)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Developing user-centered system design guidelines for explainable AI: a systematic literature review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Artificial Intelligence Review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Human-centered design guidelines for explainability and transparency in real-time conversational agents.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Users demand immediate, non-intrusive verbal confirmation when agents trigger external transactional tools.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Does not provide real-time streaming feedback mechanisms during voice-driven function execution.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4125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2692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6BCD8-F29B-5451-1130-118566951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3D17F-2497-48EE-DD51-21F2AE3C2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>
              <a:defRPr>
                <a:latin typeface="Times New Roman"/>
              </a:defRPr>
            </a:pPr>
            <a:r>
              <a:t>Literature Survey - Streaming ASR Decoders &amp; Quantum k-NN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532474A-BC60-8C02-6067-6049C3F65F36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4D12A62-580D-21B3-EE18-9D8A56E0845A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482CBBAB-0CA8-2305-DA58-91EAE92E3283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D042D66-4181-69E1-08D1-FDF7499EA2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7BB2E0DA-3DFF-BD7D-69FC-F5F2D8C7FEFB}"/>
              </a:ext>
            </a:extLst>
          </p:cNvPr>
          <p:cNvSpPr/>
          <p:nvPr/>
        </p:nvSpPr>
        <p:spPr>
          <a:xfrm>
            <a:off x="-1" y="1157351"/>
            <a:ext cx="2165680" cy="5304409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/>
                <a:cs typeface="Cambria"/>
              </a:rPr>
              <a:t>Literature</a:t>
            </a:r>
            <a:r>
              <a:rPr lang="en-IN" sz="1500" b="1" spc="-55" dirty="0">
                <a:solidFill>
                  <a:srgbClr val="FFC000"/>
                </a:solidFill>
                <a:latin typeface="Cambria"/>
                <a:cs typeface="Cambria"/>
              </a:rPr>
              <a:t> </a:t>
            </a:r>
            <a:r>
              <a:rPr lang="en-IN" sz="1500" b="1" spc="-10" dirty="0">
                <a:solidFill>
                  <a:srgbClr val="FFC000"/>
                </a:solidFill>
                <a:latin typeface="Cambria"/>
                <a:cs typeface="Cambria"/>
              </a:rPr>
              <a:t>Survey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rgbClr val="FFFFFF"/>
                </a:solidFill>
                <a:latin typeface="Cambria"/>
                <a:cs typeface="Cambria"/>
              </a:rPr>
              <a:t>Research</a:t>
            </a:r>
            <a:r>
              <a:rPr lang="en-IN" sz="1500" spc="-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n-IN" sz="1500" spc="-25" dirty="0">
                <a:solidFill>
                  <a:srgbClr val="FFFFFF"/>
                </a:solidFill>
                <a:latin typeface="Cambria"/>
                <a:cs typeface="Cambria"/>
              </a:rPr>
              <a:t>Gap</a:t>
            </a:r>
            <a:endParaRPr lang="en-IN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Problem Identification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</a:t>
            </a:r>
            <a:r>
              <a:rPr lang="en-IN" sz="1500" b="1" dirty="0">
                <a:solidFill>
                  <a:schemeClr val="accent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sz="1500" b="1" dirty="0">
              <a:solidFill>
                <a:schemeClr val="accent4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Evaluation of design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</a:t>
            </a: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and Analysis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73FE2E3-F548-5109-DCAE-CE9505B170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642502"/>
              </p:ext>
            </p:extLst>
          </p:nvPr>
        </p:nvGraphicFramePr>
        <p:xfrm>
          <a:off x="2165678" y="1126295"/>
          <a:ext cx="10026323" cy="507941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35676">
                  <a:extLst>
                    <a:ext uri="{9D8B030D-6E8A-4147-A177-3AD203B41FA5}">
                      <a16:colId xmlns:a16="http://schemas.microsoft.com/office/drawing/2014/main" val="991737301"/>
                    </a:ext>
                  </a:extLst>
                </a:gridCol>
                <a:gridCol w="1261154">
                  <a:extLst>
                    <a:ext uri="{9D8B030D-6E8A-4147-A177-3AD203B41FA5}">
                      <a16:colId xmlns:a16="http://schemas.microsoft.com/office/drawing/2014/main" val="3577451864"/>
                    </a:ext>
                  </a:extLst>
                </a:gridCol>
                <a:gridCol w="1554259">
                  <a:extLst>
                    <a:ext uri="{9D8B030D-6E8A-4147-A177-3AD203B41FA5}">
                      <a16:colId xmlns:a16="http://schemas.microsoft.com/office/drawing/2014/main" val="980031608"/>
                    </a:ext>
                  </a:extLst>
                </a:gridCol>
                <a:gridCol w="1108255">
                  <a:extLst>
                    <a:ext uri="{9D8B030D-6E8A-4147-A177-3AD203B41FA5}">
                      <a16:colId xmlns:a16="http://schemas.microsoft.com/office/drawing/2014/main" val="1005281019"/>
                    </a:ext>
                  </a:extLst>
                </a:gridCol>
                <a:gridCol w="1594805">
                  <a:extLst>
                    <a:ext uri="{9D8B030D-6E8A-4147-A177-3AD203B41FA5}">
                      <a16:colId xmlns:a16="http://schemas.microsoft.com/office/drawing/2014/main" val="332759165"/>
                    </a:ext>
                  </a:extLst>
                </a:gridCol>
                <a:gridCol w="2081356">
                  <a:extLst>
                    <a:ext uri="{9D8B030D-6E8A-4147-A177-3AD203B41FA5}">
                      <a16:colId xmlns:a16="http://schemas.microsoft.com/office/drawing/2014/main" val="420229571"/>
                    </a:ext>
                  </a:extLst>
                </a:gridCol>
                <a:gridCol w="1890818">
                  <a:extLst>
                    <a:ext uri="{9D8B030D-6E8A-4147-A177-3AD203B41FA5}">
                      <a16:colId xmlns:a16="http://schemas.microsoft.com/office/drawing/2014/main" val="1013366221"/>
                    </a:ext>
                  </a:extLst>
                </a:gridCol>
              </a:tblGrid>
              <a:tr h="375738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S.No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Authors &amp; Year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Title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Journal Name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Methods Used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Key Findings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Research Gap Identified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099054"/>
                  </a:ext>
                </a:extLst>
              </a:tr>
              <a:tr h="1650582">
                <a:tc>
                  <a:txBody>
                    <a:bodyPr/>
                    <a:lstStyle/>
                    <a:p>
                      <a:pPr algn="ctr">
                        <a:defRPr sz="950" b="1">
                          <a:latin typeface="Times New Roman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Wang et al. (2024)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Double Decoder: Improving Latency for Streaming End-to-end ASR 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ICNLSP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Dual-decoder streaming ASR combining CTC greedy prefix decoding with autoregressive rescoring.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Reduces first-token transcription latency by 45% without degrading Word Error Rate (WER).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High computational cost on edge CPU devices; necessitates lightweight quantized engines like Faster-Whisper.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1037093"/>
                  </a:ext>
                </a:extLst>
              </a:tr>
              <a:tr h="1526548">
                <a:tc>
                  <a:txBody>
                    <a:bodyPr/>
                    <a:lstStyle/>
                    <a:p>
                      <a:pPr algn="ctr">
                        <a:defRPr sz="950" b="1">
                          <a:latin typeface="Times New Roman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Vaswani et al. (2017)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Attention Is All You Need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NeurIPS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Foundational Transformer architecture utilizing multi-head self-attention mechanisms.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Established parallelized sequence transduction, forming the backbone of all modern LLMs and speech models.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Quadratic attention complexity O(N^2) creates memory bottlenecks for edge devices, motivating quantum attention research.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4125169"/>
                  </a:ext>
                </a:extLst>
              </a:tr>
              <a:tr h="1526548">
                <a:tc>
                  <a:txBody>
                    <a:bodyPr/>
                    <a:lstStyle/>
                    <a:p>
                      <a:pPr algn="ctr">
                        <a:defRPr sz="950" b="1">
                          <a:latin typeface="Times New Roman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Zardini, E., Blanzieri, E., &amp; Pastorello, D. (2024)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A quantum k-nearest neighbors algorithm based on the Euclidean distance estimation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Quantum Machine Intelligence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Formulates quantum k-NN classification using quantum state overlap and Euclidean distance estimation circuits.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Demonstrates quadratic speedup in high-dimensional vector search over classical k-NN algorithms.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Limited to small-qubit NISQ simulators; not yet integrated into real-time retrieval-augmented voice pipelines.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3261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5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A6A2F-805E-EB32-4C62-12D1C3049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82EE6-A6C2-30C3-1F0D-329AC2B81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>
              <a:defRPr>
                <a:latin typeface="Times New Roman"/>
              </a:defRPr>
            </a:pPr>
            <a:r>
              <a:t>Literature Survey - Quantum Kernels &amp; Quantum Attention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0A5ED30-781F-9EE1-687E-D83167FBA033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91FDBA6-15AD-6B2D-6E74-B1CE2278EEC5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32A15B23-E713-8AC1-CD01-7080A941A551}"/>
                </a:ext>
              </a:extLst>
            </p:cNvPr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9D7EF83-8F57-4EDF-3581-CBF8A975A4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DAD36CB9-7FD8-184A-7915-A1B208BCD5C4}"/>
              </a:ext>
            </a:extLst>
          </p:cNvPr>
          <p:cNvSpPr/>
          <p:nvPr/>
        </p:nvSpPr>
        <p:spPr>
          <a:xfrm>
            <a:off x="-1" y="1157351"/>
            <a:ext cx="2165680" cy="5304409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/>
                <a:cs typeface="Cambria"/>
              </a:rPr>
              <a:t>Literature</a:t>
            </a:r>
            <a:r>
              <a:rPr lang="en-IN" sz="1500" b="1" spc="-55" dirty="0">
                <a:solidFill>
                  <a:srgbClr val="FFC000"/>
                </a:solidFill>
                <a:latin typeface="Cambria"/>
                <a:cs typeface="Cambria"/>
              </a:rPr>
              <a:t> </a:t>
            </a:r>
            <a:r>
              <a:rPr lang="en-IN" sz="1500" b="1" spc="-10" dirty="0">
                <a:solidFill>
                  <a:srgbClr val="FFC000"/>
                </a:solidFill>
                <a:latin typeface="Cambria"/>
                <a:cs typeface="Cambria"/>
              </a:rPr>
              <a:t>Survey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rgbClr val="FFFFFF"/>
                </a:solidFill>
                <a:latin typeface="Cambria"/>
                <a:cs typeface="Cambria"/>
              </a:rPr>
              <a:t>Research</a:t>
            </a:r>
            <a:r>
              <a:rPr lang="en-IN" sz="1500" spc="-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n-IN" sz="1500" spc="-25" dirty="0">
                <a:solidFill>
                  <a:srgbClr val="FFFFFF"/>
                </a:solidFill>
                <a:latin typeface="Cambria"/>
                <a:cs typeface="Cambria"/>
              </a:rPr>
              <a:t>Gap</a:t>
            </a:r>
            <a:endParaRPr lang="en-IN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Problem Identification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</a:t>
            </a:r>
            <a:r>
              <a:rPr lang="en-IN" sz="1500" b="1" dirty="0">
                <a:solidFill>
                  <a:schemeClr val="accent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sz="1500" b="1" dirty="0">
              <a:solidFill>
                <a:schemeClr val="accent4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Evaluation of design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</a:t>
            </a: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and Analysis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45FB79D-33BA-C733-C62E-23C81CCAE6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771575"/>
              </p:ext>
            </p:extLst>
          </p:nvPr>
        </p:nvGraphicFramePr>
        <p:xfrm>
          <a:off x="2218430" y="1206109"/>
          <a:ext cx="9950122" cy="507941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79159">
                  <a:extLst>
                    <a:ext uri="{9D8B030D-6E8A-4147-A177-3AD203B41FA5}">
                      <a16:colId xmlns:a16="http://schemas.microsoft.com/office/drawing/2014/main" val="991737301"/>
                    </a:ext>
                  </a:extLst>
                </a:gridCol>
                <a:gridCol w="1195011">
                  <a:extLst>
                    <a:ext uri="{9D8B030D-6E8A-4147-A177-3AD203B41FA5}">
                      <a16:colId xmlns:a16="http://schemas.microsoft.com/office/drawing/2014/main" val="3577451864"/>
                    </a:ext>
                  </a:extLst>
                </a:gridCol>
                <a:gridCol w="1361176">
                  <a:extLst>
                    <a:ext uri="{9D8B030D-6E8A-4147-A177-3AD203B41FA5}">
                      <a16:colId xmlns:a16="http://schemas.microsoft.com/office/drawing/2014/main" val="980031608"/>
                    </a:ext>
                  </a:extLst>
                </a:gridCol>
                <a:gridCol w="1134313">
                  <a:extLst>
                    <a:ext uri="{9D8B030D-6E8A-4147-A177-3AD203B41FA5}">
                      <a16:colId xmlns:a16="http://schemas.microsoft.com/office/drawing/2014/main" val="1005281019"/>
                    </a:ext>
                  </a:extLst>
                </a:gridCol>
                <a:gridCol w="1828246">
                  <a:extLst>
                    <a:ext uri="{9D8B030D-6E8A-4147-A177-3AD203B41FA5}">
                      <a16:colId xmlns:a16="http://schemas.microsoft.com/office/drawing/2014/main" val="332759165"/>
                    </a:ext>
                  </a:extLst>
                </a:gridCol>
                <a:gridCol w="1810924">
                  <a:extLst>
                    <a:ext uri="{9D8B030D-6E8A-4147-A177-3AD203B41FA5}">
                      <a16:colId xmlns:a16="http://schemas.microsoft.com/office/drawing/2014/main" val="420229571"/>
                    </a:ext>
                  </a:extLst>
                </a:gridCol>
                <a:gridCol w="2041293">
                  <a:extLst>
                    <a:ext uri="{9D8B030D-6E8A-4147-A177-3AD203B41FA5}">
                      <a16:colId xmlns:a16="http://schemas.microsoft.com/office/drawing/2014/main" val="1013366221"/>
                    </a:ext>
                  </a:extLst>
                </a:gridCol>
              </a:tblGrid>
              <a:tr h="43775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S.No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Authors &amp; Year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Title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Journal Name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Methods Used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Key Findings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Research Gap Identified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099054"/>
                  </a:ext>
                </a:extLst>
              </a:tr>
              <a:tr h="2320828">
                <a:tc>
                  <a:txBody>
                    <a:bodyPr/>
                    <a:lstStyle/>
                    <a:p>
                      <a:pPr algn="ctr">
                        <a:defRPr sz="950" b="1">
                          <a:latin typeface="Times New Roman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Jäger, J., &amp; Krems, R. V. (2023)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Universal expressiveness of variational quantum classifiers and quantum kernels for support vector machines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Nature Communications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Rigorous theoretical proof of universal expressiveness for Parameterized Quantum Circuits (PQCs).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Proves that variational quantum classifiers can approximate non-linear decision boundaries efficiently.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Focuses on supervised classification; does not address combinatorial schedule conflict optimization.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1037093"/>
                  </a:ext>
                </a:extLst>
              </a:tr>
              <a:tr h="2320828">
                <a:tc>
                  <a:txBody>
                    <a:bodyPr/>
                    <a:lstStyle/>
                    <a:p>
                      <a:pPr algn="ctr">
                        <a:defRPr sz="950" b="1">
                          <a:latin typeface="Times New Roman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Shi, S. et al. (2026)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A quantum neural network with built-in self-attention mechanism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Neurocomputing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Parameterized quantum circuits implementing quantum self-attention without requiring QRAM.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Enables quantum contextual sequence modeling on near-term NISQ hardware.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Untested on real-time acoustic speech tokens and conversational turn-taking dynamics.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4125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4670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2950A-55D2-90D2-CF5B-F5D270CD7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4C4E1-01BB-859F-8307-AEE46C9CE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>
              <a:defRPr>
                <a:latin typeface="Times New Roman"/>
              </a:defRPr>
            </a:pPr>
            <a:r>
              <a:t>Literature Survey - QAOA Optimization &amp; Quantum Search Decoders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F005AC2-D41B-851A-372C-3117D0070871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64B120E-9127-E843-9249-41A44B2F2D3B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BCC598E0-FA7E-F859-1A60-84CE63E62C13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7DC6284-D7AF-BA2B-5653-DCEDB8F989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955919FC-B7B8-40EC-0018-D31347ABD8B0}"/>
              </a:ext>
            </a:extLst>
          </p:cNvPr>
          <p:cNvSpPr/>
          <p:nvPr/>
        </p:nvSpPr>
        <p:spPr>
          <a:xfrm>
            <a:off x="-1" y="1157351"/>
            <a:ext cx="2165680" cy="5304409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/>
                <a:cs typeface="Cambria"/>
              </a:rPr>
              <a:t>Literature</a:t>
            </a:r>
            <a:r>
              <a:rPr lang="en-IN" sz="1500" b="1" spc="-55" dirty="0">
                <a:solidFill>
                  <a:srgbClr val="FFC000"/>
                </a:solidFill>
                <a:latin typeface="Cambria"/>
                <a:cs typeface="Cambria"/>
              </a:rPr>
              <a:t> </a:t>
            </a:r>
            <a:r>
              <a:rPr lang="en-IN" sz="1500" b="1" spc="-10" dirty="0">
                <a:solidFill>
                  <a:srgbClr val="FFC000"/>
                </a:solidFill>
                <a:latin typeface="Cambria"/>
                <a:cs typeface="Cambria"/>
              </a:rPr>
              <a:t>Survey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rgbClr val="FFFFFF"/>
                </a:solidFill>
                <a:latin typeface="Cambria"/>
                <a:cs typeface="Cambria"/>
              </a:rPr>
              <a:t>Research</a:t>
            </a:r>
            <a:r>
              <a:rPr lang="en-IN" sz="1500" spc="-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n-IN" sz="1500" spc="-25" dirty="0">
                <a:solidFill>
                  <a:srgbClr val="FFFFFF"/>
                </a:solidFill>
                <a:latin typeface="Cambria"/>
                <a:cs typeface="Cambria"/>
              </a:rPr>
              <a:t>Gap</a:t>
            </a:r>
            <a:endParaRPr lang="en-IN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Problem Identification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</a:t>
            </a:r>
            <a:r>
              <a:rPr lang="en-IN" sz="1500" b="1" dirty="0">
                <a:solidFill>
                  <a:schemeClr val="accent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sz="1500" b="1" dirty="0">
              <a:solidFill>
                <a:schemeClr val="accent4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Evaluation of design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</a:t>
            </a: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and Analysis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7FB90B8-9D09-80F0-8EC9-CB72AD8290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465063"/>
              </p:ext>
            </p:extLst>
          </p:nvPr>
        </p:nvGraphicFramePr>
        <p:xfrm>
          <a:off x="2165678" y="1126295"/>
          <a:ext cx="10026322" cy="518560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83594">
                  <a:extLst>
                    <a:ext uri="{9D8B030D-6E8A-4147-A177-3AD203B41FA5}">
                      <a16:colId xmlns:a16="http://schemas.microsoft.com/office/drawing/2014/main" val="991737301"/>
                    </a:ext>
                  </a:extLst>
                </a:gridCol>
                <a:gridCol w="1204163">
                  <a:extLst>
                    <a:ext uri="{9D8B030D-6E8A-4147-A177-3AD203B41FA5}">
                      <a16:colId xmlns:a16="http://schemas.microsoft.com/office/drawing/2014/main" val="3577451864"/>
                    </a:ext>
                  </a:extLst>
                </a:gridCol>
                <a:gridCol w="1438836">
                  <a:extLst>
                    <a:ext uri="{9D8B030D-6E8A-4147-A177-3AD203B41FA5}">
                      <a16:colId xmlns:a16="http://schemas.microsoft.com/office/drawing/2014/main" val="980031608"/>
                    </a:ext>
                  </a:extLst>
                </a:gridCol>
                <a:gridCol w="1425388">
                  <a:extLst>
                    <a:ext uri="{9D8B030D-6E8A-4147-A177-3AD203B41FA5}">
                      <a16:colId xmlns:a16="http://schemas.microsoft.com/office/drawing/2014/main" val="1005281019"/>
                    </a:ext>
                  </a:extLst>
                </a:gridCol>
                <a:gridCol w="1627094">
                  <a:extLst>
                    <a:ext uri="{9D8B030D-6E8A-4147-A177-3AD203B41FA5}">
                      <a16:colId xmlns:a16="http://schemas.microsoft.com/office/drawing/2014/main" val="332759165"/>
                    </a:ext>
                  </a:extLst>
                </a:gridCol>
                <a:gridCol w="1882588">
                  <a:extLst>
                    <a:ext uri="{9D8B030D-6E8A-4147-A177-3AD203B41FA5}">
                      <a16:colId xmlns:a16="http://schemas.microsoft.com/office/drawing/2014/main" val="420229571"/>
                    </a:ext>
                  </a:extLst>
                </a:gridCol>
                <a:gridCol w="1864659">
                  <a:extLst>
                    <a:ext uri="{9D8B030D-6E8A-4147-A177-3AD203B41FA5}">
                      <a16:colId xmlns:a16="http://schemas.microsoft.com/office/drawing/2014/main" val="1013366221"/>
                    </a:ext>
                  </a:extLst>
                </a:gridCol>
              </a:tblGrid>
              <a:tr h="3216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S.No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Authors &amp; Year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Title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Journal Name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Methods Used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Key Findings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Times New Roman"/>
                        </a:defRPr>
                      </a:pPr>
                      <a:r>
                        <a:t>Research Gap Identified</a:t>
                      </a:r>
                    </a:p>
                  </a:txBody>
                  <a:tcPr marL="74398" marR="74398" marT="37199" marB="37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099054"/>
                  </a:ext>
                </a:extLst>
              </a:tr>
              <a:tr h="1452855">
                <a:tc>
                  <a:txBody>
                    <a:bodyPr/>
                    <a:lstStyle/>
                    <a:p>
                      <a:pPr algn="ctr">
                        <a:defRPr sz="950" b="1">
                          <a:latin typeface="Times New Roman"/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Blekos, K. et al. (2024)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A Review on Quantum Approximate Optimization Algorithm and its Variants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Physics Reports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Exhaustive review of QAOA, QUBO formulation, parameter initialization, and classical optimizer coupling.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Validates QAOA superiority on constrained combinatorial optimization problems (MaxCut, TSP, partitioning).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Application of QAOA to natural language prompt engineering and voice persona tuning remains unexplored.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1037093"/>
                  </a:ext>
                </a:extLst>
              </a:tr>
              <a:tr h="1705526">
                <a:tc>
                  <a:txBody>
                    <a:bodyPr/>
                    <a:lstStyle/>
                    <a:p>
                      <a:pPr algn="ctr">
                        <a:defRPr sz="950" b="1">
                          <a:latin typeface="Times New Roman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Bausch, J., Subramanian, S., &amp; Piddock, S. (2021)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A quantum search decoder for natural language processing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Quantum Machine Intelligence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Grover-based quantum search algorithm applied to beam decoding and NLP sequence exploration.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Provides polynomial speedup in traversing complex grammatical and semantic state spaces.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Theoretical formulation without integration into production conversational voice agent frameworks.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1581935"/>
                  </a:ext>
                </a:extLst>
              </a:tr>
              <a:tr h="1705526">
                <a:tc>
                  <a:txBody>
                    <a:bodyPr/>
                    <a:lstStyle/>
                    <a:p>
                      <a:pPr algn="ctr">
                        <a:defRPr sz="950" b="1">
                          <a:latin typeface="Times New Roman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Ji, S. et al. (2024)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WavChat: A Survey of Spoken Dialogue 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ArXiv:2411.13577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Systematic taxonomy of audio-native language models and end-to-end spoken conversational dialogue systems.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Identifies modular cascading (STT-LLM-TTS) as dominant paradigm while highlighting full-duplex latency gaps.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Lacks evaluation of containerized on-premises execution and hybrid quantum optimization for voice prompt routing.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1497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23193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DA61D-21C4-F82F-6A35-63E3F3549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241FA-1D7E-0478-7EE9-916834FD8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9838"/>
            <a:ext cx="10515600" cy="777491"/>
          </a:xfrm>
        </p:spPr>
        <p:txBody>
          <a:bodyPr/>
          <a:lstStyle/>
          <a:p>
            <a:r>
              <a:rPr lang="en-IN" sz="3200" b="1" spc="-35" dirty="0">
                <a:latin typeface="Cambria"/>
                <a:ea typeface="Cambria"/>
                <a:cs typeface="Times New Roman"/>
              </a:rPr>
              <a:t>Research Gap/Limitations</a:t>
            </a:r>
            <a:endParaRPr lang="en-IN" sz="3200" b="1" spc="-35" dirty="0">
              <a:latin typeface="Cambria" panose="02040503050406030204" pitchFamily="18" charset="0"/>
              <a:ea typeface="Cambria" panose="02040503050406030204" pitchFamily="18" charset="0"/>
              <a:cs typeface="Times New Roman" panose="02020503050405090304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7E51460-C5EE-C597-512A-B315F39168F4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51194B2-6B07-248A-AC8B-B852BE7B5500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741AB38B-EDDA-AD22-85DD-3BBD9AB3DDD4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27B901D-945B-73BE-8804-14D78AD0D1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669B547B-791D-2AD0-058D-3BB59D3203F9}"/>
              </a:ext>
            </a:extLst>
          </p:cNvPr>
          <p:cNvSpPr/>
          <p:nvPr/>
        </p:nvSpPr>
        <p:spPr>
          <a:xfrm>
            <a:off x="-1" y="1157351"/>
            <a:ext cx="2165680" cy="5304409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Literature</a:t>
            </a:r>
            <a:r>
              <a:rPr lang="en-IN" sz="1500" spc="-5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10" dirty="0">
                <a:solidFill>
                  <a:schemeClr val="bg1"/>
                </a:solidFill>
                <a:latin typeface="Cambria"/>
                <a:cs typeface="Cambria"/>
              </a:rPr>
              <a:t>Survey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/>
                <a:cs typeface="Cambria"/>
              </a:rPr>
              <a:t>Research</a:t>
            </a:r>
            <a:r>
              <a:rPr lang="en-IN" sz="1500" b="1" spc="-75" dirty="0">
                <a:solidFill>
                  <a:srgbClr val="FFC000"/>
                </a:solidFill>
                <a:latin typeface="Cambria"/>
                <a:cs typeface="Cambria"/>
              </a:rPr>
              <a:t> </a:t>
            </a:r>
            <a:r>
              <a:rPr lang="en-IN" sz="1500" b="1" spc="-25" dirty="0">
                <a:solidFill>
                  <a:srgbClr val="FFC000"/>
                </a:solidFill>
                <a:latin typeface="Cambria"/>
                <a:cs typeface="Cambria"/>
              </a:rPr>
              <a:t>Gap</a:t>
            </a:r>
            <a:endParaRPr lang="en-IN" sz="1500" b="1" dirty="0">
              <a:solidFill>
                <a:srgbClr val="FFC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Problem Identification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</a:t>
            </a:r>
            <a:r>
              <a:rPr lang="en-IN" sz="1500" b="1" dirty="0">
                <a:solidFill>
                  <a:schemeClr val="accent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sz="1500" b="1" dirty="0">
              <a:solidFill>
                <a:schemeClr val="accent4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Evaluation of design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</a:t>
            </a: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and Analysis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CA401E-169E-DB6A-6B83-3682856CEF0B}"/>
              </a:ext>
            </a:extLst>
          </p:cNvPr>
          <p:cNvSpPr txBox="1"/>
          <p:nvPr/>
        </p:nvSpPr>
        <p:spPr>
          <a:xfrm>
            <a:off x="2356180" y="1229167"/>
            <a:ext cx="983582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 b="0">
                <a:latin typeface="Times New Roman"/>
              </a:defRPr>
            </a:pPr>
            <a:r>
              <a:t>• Compounding Cloud Latency: Sequential chaining of external cloud speech APIs (ASR → LLM → TTS) introduces 1500–3500 ms round-trip delay, disrupting conversational fluidity.</a:t>
            </a:r>
            <a:endParaRPr lang="en-US" dirty="0">
              <a:latin typeface="Times New Roman"/>
              <a:cs typeface="Times New Roman"/>
            </a:endParaRPr>
          </a:p>
          <a:p>
            <a:pPr>
              <a:spcAft>
                <a:spcPts val="200"/>
              </a:spcAft>
              <a:defRPr sz="1250" b="0">
                <a:latin typeface="Times New Roman"/>
              </a:defRPr>
            </a:pPr>
            <a:endParaRPr lang="en-US" dirty="0">
              <a:latin typeface="Times New Roman"/>
              <a:cs typeface="Times New Roman"/>
            </a:endParaRPr>
          </a:p>
          <a:p>
            <a:pPr>
              <a:spcAft>
                <a:spcPts val="400"/>
              </a:spcAft>
              <a:defRPr sz="1250" b="0">
                <a:latin typeface="Times New Roman"/>
              </a:defRPr>
            </a:pPr>
            <a:r>
              <a:t>• Prohibitive Telephony &amp; SaaS Costs: Commercial voice platforms (Vapi, Retell, Bland) impose $0.05–$0.15/min costs, creating severe financial barriers for high-volume enterprise deployment.</a:t>
            </a:r>
          </a:p>
          <a:p>
            <a:pPr>
              <a:spcAft>
                <a:spcPts val="200"/>
              </a:spcAft>
              <a:defRPr sz="1250" b="0">
                <a:latin typeface="Times New Roman"/>
              </a:defRPr>
            </a:pPr>
            <a:endParaRPr/>
          </a:p>
          <a:p>
            <a:pPr>
              <a:spcAft>
                <a:spcPts val="400"/>
              </a:spcAft>
              <a:defRPr sz="1250" b="0">
                <a:latin typeface="Times New Roman"/>
              </a:defRPr>
            </a:pPr>
            <a:r>
              <a:t>• Lack of Edge/Local Privacy &amp; Data Sovereignty: Existing conversational assistants route raw audio and sensitive user transcripts to third-party cloud servers, violating strict privacy mandates (HIPAA, GDPR, DPDP).</a:t>
            </a:r>
          </a:p>
          <a:p>
            <a:pPr>
              <a:spcAft>
                <a:spcPts val="200"/>
              </a:spcAft>
              <a:defRPr sz="1250" b="0">
                <a:latin typeface="Times New Roman"/>
              </a:defRPr>
            </a:pPr>
            <a:endParaRPr/>
          </a:p>
          <a:p>
            <a:pPr>
              <a:spcAft>
                <a:spcPts val="400"/>
              </a:spcAft>
              <a:defRPr sz="1250" b="0">
                <a:latin typeface="Times New Roman"/>
              </a:defRPr>
            </a:pPr>
            <a:r>
              <a:t>• Unoptimized Spoken Prompts: Voice prompt engineering relies on manual trial-and-error, leaving multi-objective trade-offs between brevity, entity retention, and speech guardrails unoptimized.</a:t>
            </a:r>
          </a:p>
          <a:p>
            <a:pPr>
              <a:spcAft>
                <a:spcPts val="200"/>
              </a:spcAft>
              <a:defRPr sz="1250" b="0">
                <a:latin typeface="Times New Roman"/>
              </a:defRPr>
            </a:pPr>
            <a:endParaRPr/>
          </a:p>
          <a:p>
            <a:pPr>
              <a:spcAft>
                <a:spcPts val="400"/>
              </a:spcAft>
              <a:defRPr sz="1250" b="0">
                <a:latin typeface="Times New Roman"/>
              </a:defRPr>
            </a:pPr>
            <a:r>
              <a:t>• Brittle Turn-Taking &amp; Interruption: Fixed-silence detection and lack of adaptive acoustic noise gating result in speech collisions, premature cut-offs, or unresponsive voice barge-in.</a:t>
            </a:r>
          </a:p>
        </p:txBody>
      </p:sp>
    </p:spTree>
    <p:extLst>
      <p:ext uri="{BB962C8B-B14F-4D97-AF65-F5344CB8AC3E}">
        <p14:creationId xmlns:p14="http://schemas.microsoft.com/office/powerpoint/2010/main" val="41383584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4EBF6-F99D-DC65-D180-681C59D94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3A5F4-410E-BA56-32FF-369EA4704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spc="-35" dirty="0">
                <a:latin typeface="Cambria"/>
                <a:ea typeface="Cambria"/>
                <a:cs typeface="Times New Roman"/>
              </a:rPr>
              <a:t>Problem Identification</a:t>
            </a:r>
            <a:endParaRPr lang="en-IN" sz="3200" b="1" spc="-35" dirty="0">
              <a:latin typeface="Cambria" panose="02040503050406030204" pitchFamily="18" charset="0"/>
              <a:ea typeface="Cambria" panose="02040503050406030204" pitchFamily="18" charset="0"/>
              <a:cs typeface="Times New Roman" panose="02020503050405090304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7F9A55F-D11B-5E2A-F5B4-E2FB608519B2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E887496-BB28-624F-B2AA-EBCDBD98D3B5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A6316297-D832-76FB-3FE5-564179F5C380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57FB31-48CD-4F72-40D5-7122CF920E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24839DAB-B3D7-922F-08DE-F60013E12BD9}"/>
              </a:ext>
            </a:extLst>
          </p:cNvPr>
          <p:cNvSpPr/>
          <p:nvPr/>
        </p:nvSpPr>
        <p:spPr>
          <a:xfrm>
            <a:off x="-1" y="1157351"/>
            <a:ext cx="2165680" cy="5304409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Literature</a:t>
            </a:r>
            <a:r>
              <a:rPr lang="en-IN" sz="1500" spc="-5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10" dirty="0">
                <a:solidFill>
                  <a:schemeClr val="bg1"/>
                </a:solidFill>
                <a:latin typeface="Cambria"/>
                <a:cs typeface="Cambria"/>
              </a:rPr>
              <a:t>Survey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Research</a:t>
            </a:r>
            <a:r>
              <a:rPr lang="en-IN" sz="1500" spc="-7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25" dirty="0">
                <a:solidFill>
                  <a:schemeClr val="bg1"/>
                </a:solidFill>
                <a:latin typeface="Cambria"/>
                <a:cs typeface="Cambria"/>
              </a:rPr>
              <a:t>Gap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b="1" spc="-35" dirty="0">
                <a:solidFill>
                  <a:srgbClr val="FFC000"/>
                </a:solidFill>
                <a:latin typeface="Cambria" panose="02040503050406030204" pitchFamily="18" charset="0"/>
                <a:cs typeface="Times New Roman" panose="02020503050405090304"/>
              </a:rPr>
              <a:t>Problem Identification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</a:t>
            </a:r>
            <a:r>
              <a:rPr lang="en-IN" sz="1500" b="1" dirty="0">
                <a:solidFill>
                  <a:schemeClr val="accent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sz="1500" b="1" dirty="0">
              <a:solidFill>
                <a:schemeClr val="accent4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Evaluation of design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</a:t>
            </a: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and Analysis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B5AA3F-33C8-B997-243B-209A38D63B0B}"/>
              </a:ext>
            </a:extLst>
          </p:cNvPr>
          <p:cNvSpPr txBox="1"/>
          <p:nvPr/>
        </p:nvSpPr>
        <p:spPr>
          <a:xfrm>
            <a:off x="2356181" y="1610967"/>
            <a:ext cx="940805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250" b="0">
                <a:latin typeface="Times New Roman"/>
              </a:defRPr>
            </a:pPr>
            <a:r>
              <a:t>• Inability to Run Air-Gapped / On-Premise: Highly regulated sectors (healthcare, legal, banking) cannot adopt modern voice AI due to the absence of unified, containerized, offline-capable voice agent frameworks.</a:t>
            </a:r>
          </a:p>
          <a:p>
            <a:pPr>
              <a:spcAft>
                <a:spcPts val="200"/>
              </a:spcAft>
              <a:defRPr sz="1250" b="0">
                <a:latin typeface="Times New Roman"/>
              </a:defRPr>
            </a:pPr>
            <a:endParaRPr/>
          </a:p>
          <a:p>
            <a:pPr>
              <a:spcAft>
                <a:spcPts val="400"/>
              </a:spcAft>
              <a:defRPr sz="1250" b="0">
                <a:latin typeface="Times New Roman"/>
              </a:defRPr>
            </a:pPr>
            <a:r>
              <a:t>• Acoustic Echo &amp; Barge-In Failure: In-browser voice agents struggle to distinguish between speaker audio feedback and true caller speech, causing erratic interruptions or failure to halt synthetic speech.</a:t>
            </a:r>
          </a:p>
          <a:p>
            <a:pPr>
              <a:spcAft>
                <a:spcPts val="200"/>
              </a:spcAft>
              <a:defRPr sz="1250" b="0">
                <a:latin typeface="Times New Roman"/>
              </a:defRPr>
            </a:pPr>
            <a:endParaRPr/>
          </a:p>
          <a:p>
            <a:pPr>
              <a:spcAft>
                <a:spcPts val="400"/>
              </a:spcAft>
              <a:defRPr sz="1250" b="0">
                <a:latin typeface="Times New Roman"/>
              </a:defRPr>
            </a:pPr>
            <a:r>
              <a:t>• Heavyweight Infrastructure for Context Retrieval: Conventional voice RAG pipelines require hosted vector databases (Pinecone, Weaviate), adding 50–120 ms retrieval latency and recurring hosting overhead.</a:t>
            </a:r>
          </a:p>
          <a:p>
            <a:pPr>
              <a:spcAft>
                <a:spcPts val="200"/>
              </a:spcAft>
              <a:defRPr sz="1250" b="0">
                <a:latin typeface="Times New Roman"/>
              </a:defRPr>
            </a:pPr>
            <a:endParaRPr/>
          </a:p>
          <a:p>
            <a:pPr>
              <a:spcAft>
                <a:spcPts val="400"/>
              </a:spcAft>
              <a:defRPr sz="1250" b="0">
                <a:latin typeface="Times New Roman"/>
              </a:defRPr>
            </a:pPr>
            <a:r>
              <a:t>• Combinatorial Optimization Deficit: Voice agents handling high-density knowledge suffer from LLM verbosity and hallucinations; classical prompt tuning fails to efficiently explore the combinatorial prompt space.</a:t>
            </a:r>
          </a:p>
          <a:p>
            <a:pPr>
              <a:spcAft>
                <a:spcPts val="200"/>
              </a:spcAft>
              <a:defRPr sz="1250" b="0">
                <a:latin typeface="Times New Roman"/>
              </a:defRPr>
            </a:pPr>
            <a:endParaRPr/>
          </a:p>
          <a:p>
            <a:pPr>
              <a:spcAft>
                <a:spcPts val="400"/>
              </a:spcAft>
              <a:defRPr sz="1250" b="0">
                <a:latin typeface="Times New Roman"/>
              </a:defRPr>
            </a:pPr>
            <a:r>
              <a:t>• Concurrency Clashes in Autonomous Voice Booking: Conversational tools lack mathematical dispute resolution when concurrent callers attempt to reserve identical calendar slots.</a:t>
            </a:r>
          </a:p>
        </p:txBody>
      </p:sp>
    </p:spTree>
    <p:extLst>
      <p:ext uri="{BB962C8B-B14F-4D97-AF65-F5344CB8AC3E}">
        <p14:creationId xmlns:p14="http://schemas.microsoft.com/office/powerpoint/2010/main" val="3180500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F6820-2D41-A5D3-81F3-335A784FF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07D2D-7311-F96D-15AB-0062A5CDA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spc="-35" dirty="0">
                <a:latin typeface="Cambria"/>
                <a:ea typeface="Cambria"/>
                <a:cs typeface="Times New Roman"/>
              </a:rPr>
              <a:t>Problem Statement</a:t>
            </a:r>
            <a:endParaRPr lang="en-IN" sz="3200" b="1" spc="-35" dirty="0">
              <a:latin typeface="Cambria" panose="02040503050406030204" pitchFamily="18" charset="0"/>
              <a:ea typeface="Cambria" panose="02040503050406030204" pitchFamily="18" charset="0"/>
              <a:cs typeface="Times New Roman" panose="02020503050405090304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969DB2-2BBE-14A2-1FC0-AD97AE020244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594A5EA-B8C8-2943-03E2-9C501D6B9788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701FB14F-B888-07FB-1257-72B9B41119C8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91F56C2-7170-FE07-C727-8732A7DDFF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9CCF1995-C4C0-8332-14E4-E48EED5FB156}"/>
              </a:ext>
            </a:extLst>
          </p:cNvPr>
          <p:cNvSpPr/>
          <p:nvPr/>
        </p:nvSpPr>
        <p:spPr>
          <a:xfrm>
            <a:off x="-1" y="1157351"/>
            <a:ext cx="2165680" cy="5304409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Literature</a:t>
            </a:r>
            <a:r>
              <a:rPr lang="en-IN" sz="1500" spc="-5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10" dirty="0">
                <a:solidFill>
                  <a:schemeClr val="bg1"/>
                </a:solidFill>
                <a:latin typeface="Cambria"/>
                <a:cs typeface="Cambria"/>
              </a:rPr>
              <a:t>Survey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Research</a:t>
            </a:r>
            <a:r>
              <a:rPr lang="en-IN" sz="1500" spc="-7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25" dirty="0">
                <a:solidFill>
                  <a:schemeClr val="bg1"/>
                </a:solidFill>
                <a:latin typeface="Cambria"/>
                <a:cs typeface="Cambria"/>
              </a:rPr>
              <a:t>Gap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Problem Identification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</a:t>
            </a:r>
            <a:r>
              <a:rPr lang="en-IN" sz="1500" b="1" dirty="0">
                <a:solidFill>
                  <a:schemeClr val="accent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sz="1500" b="1" dirty="0">
              <a:solidFill>
                <a:schemeClr val="accent4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Evaluation of design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</a:t>
            </a: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and Analysis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6C5F5E-8C4F-1E3C-D8FF-21E379FEE9B1}"/>
              </a:ext>
            </a:extLst>
          </p:cNvPr>
          <p:cNvSpPr txBox="1"/>
          <p:nvPr/>
        </p:nvSpPr>
        <p:spPr>
          <a:xfrm>
            <a:off x="2356181" y="2182109"/>
            <a:ext cx="940805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200"/>
              </a:spcAft>
              <a:defRPr sz="1300" b="0">
                <a:latin typeface="Times New Roman"/>
              </a:defRPr>
            </a:pPr>
            <a:r>
              <a:t>Conversational voice agents face severe latency, high operational costs, privacy vulnerabilities, and rigid turn-taking when dependent on sequential third-party cloud APIs. There is an urgent need for an open-source, edge-assisted voice agent framework that enables real-time interaction, seamless interruption, optimized context routing, and reliable tool execution without reliance on costly proprietary infrastructure.</a:t>
            </a:r>
          </a:p>
          <a:p>
            <a:pPr>
              <a:spcAft>
                <a:spcPts val="200"/>
              </a:spcAft>
              <a:defRPr sz="1300" b="0">
                <a:latin typeface="Times New Roman"/>
              </a:defRPr>
            </a:pPr>
            <a:endParaRPr/>
          </a:p>
          <a:p>
            <a:pPr>
              <a:spcAft>
                <a:spcPts val="200"/>
              </a:spcAft>
              <a:defRPr sz="1300" b="0">
                <a:latin typeface="Times New Roman"/>
              </a:defRPr>
            </a:pPr>
            <a:r>
              <a:t>This project presents Voice Agent Studio: an end-to-end, zero-cost, local voice assistant platform packaged into an air-gapped Docker container. By combining client-side Web Audio DSP, GPU/CPU-accelerated Faster-Whisper STT, in-memory BM25 RAG, IBM Qiskit QAOA / QUBO prompt optimization, PennyLane VQC schedule arbitration, and Piper ONNX neural TTS, the system achieves sub-800ms full-duplex conversational turnarounds with complete data sovereignty.</a:t>
            </a:r>
          </a:p>
        </p:txBody>
      </p:sp>
    </p:spTree>
    <p:extLst>
      <p:ext uri="{BB962C8B-B14F-4D97-AF65-F5344CB8AC3E}">
        <p14:creationId xmlns:p14="http://schemas.microsoft.com/office/powerpoint/2010/main" val="369844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EF371-44B6-BC06-6911-B867D4C47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2F7BA-96D3-0E20-C133-2610BDD04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spc="-35" dirty="0">
                <a:latin typeface="Cambria"/>
                <a:ea typeface="Cambria"/>
                <a:cs typeface="Times New Roman"/>
              </a:rPr>
              <a:t>Motivation</a:t>
            </a:r>
            <a:endParaRPr lang="en-IN" sz="3200" b="1" spc="-35" dirty="0">
              <a:latin typeface="Cambria" panose="02040503050406030204" pitchFamily="18" charset="0"/>
              <a:ea typeface="Cambria" panose="02040503050406030204" pitchFamily="18" charset="0"/>
              <a:cs typeface="Times New Roman" panose="02020503050405090304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6176972-FD19-84B3-8DBA-8551F56577AF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77678A4-AACB-E8B6-64C5-FB370A569F8A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93138B4F-BAF3-848D-859B-4BF4ED34AACB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A8FDCC6-7231-ED0C-057C-B39F38990E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81A9B966-7CE6-4743-8394-475CE7AE7F18}"/>
              </a:ext>
            </a:extLst>
          </p:cNvPr>
          <p:cNvSpPr/>
          <p:nvPr/>
        </p:nvSpPr>
        <p:spPr>
          <a:xfrm>
            <a:off x="-1" y="1157351"/>
            <a:ext cx="2165680" cy="5304409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Literature</a:t>
            </a:r>
            <a:r>
              <a:rPr lang="en-IN" sz="1500" spc="-5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10" dirty="0">
                <a:solidFill>
                  <a:schemeClr val="bg1"/>
                </a:solidFill>
                <a:latin typeface="Cambria"/>
                <a:cs typeface="Cambria"/>
              </a:rPr>
              <a:t>Survey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Research</a:t>
            </a:r>
            <a:r>
              <a:rPr lang="en-IN" sz="1500" spc="-7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25" dirty="0">
                <a:solidFill>
                  <a:schemeClr val="bg1"/>
                </a:solidFill>
                <a:latin typeface="Cambria"/>
                <a:cs typeface="Cambria"/>
              </a:rPr>
              <a:t>Gap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Problem Identification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</a:t>
            </a:r>
            <a:r>
              <a:rPr lang="en-IN" sz="1500" b="1" dirty="0">
                <a:solidFill>
                  <a:schemeClr val="accent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sz="1500" b="1" dirty="0">
              <a:solidFill>
                <a:schemeClr val="accent4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Evaluation of design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</a:t>
            </a: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and Analysis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61419D-3BE9-15B8-CA40-AAFB8D4787F1}"/>
              </a:ext>
            </a:extLst>
          </p:cNvPr>
          <p:cNvSpPr txBox="1"/>
          <p:nvPr/>
        </p:nvSpPr>
        <p:spPr>
          <a:xfrm>
            <a:off x="2263629" y="1898047"/>
            <a:ext cx="9500607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buFont typeface="Arial"/>
              <a:buChar char="•"/>
              <a:defRPr sz="1250" b="0">
                <a:latin typeface="Times New Roman"/>
              </a:defRPr>
            </a:pPr>
            <a:r>
              <a:rPr dirty="0"/>
              <a:t> </a:t>
            </a:r>
            <a:r>
              <a:rPr lang="en-US" dirty="0"/>
              <a:t>T</a:t>
            </a:r>
            <a:r>
              <a:rPr dirty="0"/>
              <a:t>otal Data Sovereignty &amp; Zero Cloud Egress: Protecting caller privacy by processing 100% of speech recognition, language reasoning, and speech synthesis within an isolated local network.</a:t>
            </a:r>
          </a:p>
          <a:p>
            <a:pPr>
              <a:spcAft>
                <a:spcPts val="200"/>
              </a:spcAft>
              <a:defRPr sz="1250" b="0">
                <a:latin typeface="Times New Roman"/>
              </a:defRPr>
            </a:pPr>
            <a:endParaRPr dirty="0"/>
          </a:p>
          <a:p>
            <a:pPr>
              <a:spcAft>
                <a:spcPts val="400"/>
              </a:spcAft>
              <a:defRPr sz="1250" b="0">
                <a:latin typeface="Times New Roman"/>
              </a:defRPr>
            </a:pPr>
            <a:r>
              <a:rPr dirty="0"/>
              <a:t>• Zero-Cost High-Performance Architecture: Democratizing agentic voice AI by completely eliminating per-minute telephony charges and external token tariffs using open-source, local-first models.</a:t>
            </a:r>
          </a:p>
          <a:p>
            <a:pPr>
              <a:spcAft>
                <a:spcPts val="200"/>
              </a:spcAft>
              <a:defRPr sz="1250" b="0">
                <a:latin typeface="Times New Roman"/>
              </a:defRPr>
            </a:pPr>
            <a:endParaRPr dirty="0"/>
          </a:p>
          <a:p>
            <a:pPr>
              <a:spcAft>
                <a:spcPts val="400"/>
              </a:spcAft>
              <a:defRPr sz="1250" b="0">
                <a:latin typeface="Times New Roman"/>
              </a:defRPr>
            </a:pPr>
            <a:r>
              <a:rPr dirty="0"/>
              <a:t>• Practical Quantum Algorithmic Integration: Bridging near-term NISQ quantum optimization algorithms (QAOA, QUBO, VQC) with production agentic AI systems for non-trivial combinatorial optimization.</a:t>
            </a:r>
          </a:p>
          <a:p>
            <a:pPr>
              <a:spcAft>
                <a:spcPts val="200"/>
              </a:spcAft>
              <a:defRPr sz="1250" b="0">
                <a:latin typeface="Times New Roman"/>
              </a:defRPr>
            </a:pPr>
            <a:endParaRPr dirty="0"/>
          </a:p>
          <a:p>
            <a:pPr>
              <a:spcAft>
                <a:spcPts val="400"/>
              </a:spcAft>
              <a:defRPr sz="1250" b="0">
                <a:latin typeface="Times New Roman"/>
              </a:defRPr>
            </a:pPr>
            <a:r>
              <a:rPr dirty="0"/>
              <a:t>• Human-Grade Conversational Flow: Delivering natural, low-latency dialogues with adaptive noise gating and instant sentence-level speech interruption (barge-in).</a:t>
            </a:r>
          </a:p>
          <a:p>
            <a:pPr>
              <a:spcAft>
                <a:spcPts val="200"/>
              </a:spcAft>
              <a:defRPr sz="1250" b="0">
                <a:latin typeface="Times New Roman"/>
              </a:defRPr>
            </a:pPr>
            <a:endParaRPr dirty="0"/>
          </a:p>
          <a:p>
            <a:pPr>
              <a:spcAft>
                <a:spcPts val="400"/>
              </a:spcAft>
              <a:defRPr sz="1250" b="0">
                <a:latin typeface="Times New Roman"/>
              </a:defRPr>
            </a:pPr>
            <a:r>
              <a:rPr dirty="0"/>
              <a:t>• Effortless Enterprise Adoption: Enabling non-technical business owners to configure, test, and deploy customized voice agents in minutes via an intuitive browser studio and containerized deployment.</a:t>
            </a:r>
          </a:p>
        </p:txBody>
      </p:sp>
    </p:spTree>
    <p:extLst>
      <p:ext uri="{BB962C8B-B14F-4D97-AF65-F5344CB8AC3E}">
        <p14:creationId xmlns:p14="http://schemas.microsoft.com/office/powerpoint/2010/main" val="30527173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30B42-0F43-6D85-758C-6E0D7E2E5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E3F30-A674-5E6E-4169-0A070D1F3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spc="-35" dirty="0">
                <a:latin typeface="Cambria"/>
                <a:ea typeface="Cambria"/>
                <a:cs typeface="Times New Roman"/>
              </a:rPr>
              <a:t>Significance </a:t>
            </a:r>
            <a:endParaRPr lang="en-IN" sz="3200" b="1" spc="-35" dirty="0">
              <a:latin typeface="Cambria" panose="02040503050406030204" pitchFamily="18" charset="0"/>
              <a:ea typeface="Cambria" panose="02040503050406030204" pitchFamily="18" charset="0"/>
              <a:cs typeface="Times New Roman" panose="02020503050405090304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B0FCE79-4B93-1ED1-7B2E-90ADD2CE6127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7669C40-0A71-D560-6EEA-E0093B727B87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1DE3AA76-2BE2-B05D-7718-D4E1394D9951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20E216-0269-709C-6487-D410245A97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461BF5B1-B25B-F459-ADF7-92E7333141E5}"/>
              </a:ext>
            </a:extLst>
          </p:cNvPr>
          <p:cNvSpPr/>
          <p:nvPr/>
        </p:nvSpPr>
        <p:spPr>
          <a:xfrm>
            <a:off x="-1" y="1157351"/>
            <a:ext cx="2165680" cy="5304409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Literature</a:t>
            </a:r>
            <a:r>
              <a:rPr lang="en-IN" sz="1500" spc="-5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10" dirty="0">
                <a:solidFill>
                  <a:schemeClr val="bg1"/>
                </a:solidFill>
                <a:latin typeface="Cambria"/>
                <a:cs typeface="Cambria"/>
              </a:rPr>
              <a:t>Survey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Research</a:t>
            </a:r>
            <a:r>
              <a:rPr lang="en-IN" sz="1500" spc="-7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25" dirty="0">
                <a:solidFill>
                  <a:schemeClr val="bg1"/>
                </a:solidFill>
                <a:latin typeface="Cambria"/>
                <a:cs typeface="Cambria"/>
              </a:rPr>
              <a:t>Gap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Problem Identification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 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Evaluation of design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</a:t>
            </a: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and Analysis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B5056F-7F02-31C9-5DB7-B27875140A47}"/>
              </a:ext>
            </a:extLst>
          </p:cNvPr>
          <p:cNvSpPr txBox="1"/>
          <p:nvPr/>
        </p:nvSpPr>
        <p:spPr>
          <a:xfrm>
            <a:off x="2368121" y="1865281"/>
            <a:ext cx="9094207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250" b="0">
                <a:latin typeface="Times New Roman"/>
              </a:defRPr>
            </a:pPr>
            <a:r>
              <a:rPr dirty="0"/>
              <a:t>• Enterprise Compliance: 100% on-premises execution guarantees strict compliance with GDPR, HIPAA, and India's Digital Personal Data Protection (DPDP) Act 2023.</a:t>
            </a:r>
          </a:p>
          <a:p>
            <a:pPr>
              <a:spcAft>
                <a:spcPts val="200"/>
              </a:spcAft>
              <a:defRPr sz="1250" b="0">
                <a:latin typeface="Times New Roman"/>
              </a:defRPr>
            </a:pPr>
            <a:endParaRPr dirty="0"/>
          </a:p>
          <a:p>
            <a:pPr>
              <a:spcAft>
                <a:spcPts val="400"/>
              </a:spcAft>
              <a:defRPr sz="1250" b="0">
                <a:latin typeface="Times New Roman"/>
              </a:defRPr>
            </a:pPr>
            <a:r>
              <a:rPr dirty="0"/>
              <a:t>• Dramatic Cost Reduction: Replaces recurring $300–$900/month SaaS subscriptions with a $0 operational cost stack running on commodity workstation hardware (e.g., RTX 4050 GPU / modern CPU).</a:t>
            </a:r>
          </a:p>
          <a:p>
            <a:pPr>
              <a:spcAft>
                <a:spcPts val="200"/>
              </a:spcAft>
              <a:defRPr sz="1250" b="0">
                <a:latin typeface="Times New Roman"/>
              </a:defRPr>
            </a:pPr>
            <a:endParaRPr dirty="0"/>
          </a:p>
          <a:p>
            <a:pPr>
              <a:spcAft>
                <a:spcPts val="400"/>
              </a:spcAft>
              <a:defRPr sz="1250" b="0">
                <a:latin typeface="Times New Roman"/>
              </a:defRPr>
            </a:pPr>
            <a:r>
              <a:rPr dirty="0"/>
              <a:t>• Academic &amp; Novelty Contribution: First platform to formulate system prompt selection as an Ising Hamiltonian solved via IBM </a:t>
            </a:r>
            <a:r>
              <a:rPr dirty="0" err="1"/>
              <a:t>Qiskit</a:t>
            </a:r>
            <a:r>
              <a:rPr dirty="0"/>
              <a:t> QAOA, achieving a +78.9% heuristic prompt fitness improvement.</a:t>
            </a:r>
          </a:p>
          <a:p>
            <a:pPr>
              <a:spcAft>
                <a:spcPts val="200"/>
              </a:spcAft>
              <a:defRPr sz="1250" b="0">
                <a:latin typeface="Times New Roman"/>
              </a:defRPr>
            </a:pPr>
            <a:endParaRPr dirty="0"/>
          </a:p>
          <a:p>
            <a:pPr>
              <a:spcAft>
                <a:spcPts val="400"/>
              </a:spcAft>
              <a:defRPr sz="1250" b="0">
                <a:latin typeface="Times New Roman"/>
              </a:defRPr>
            </a:pPr>
            <a:r>
              <a:rPr dirty="0"/>
              <a:t>• Real-World Operational Utility: Direct integration with Google Calendar and RFC 5545 ICS generation automates appointment booking workflows, saving 15–20 minutes of administrative labor per call.</a:t>
            </a:r>
          </a:p>
          <a:p>
            <a:pPr>
              <a:spcAft>
                <a:spcPts val="200"/>
              </a:spcAft>
              <a:defRPr sz="1250" b="0">
                <a:latin typeface="Times New Roman"/>
              </a:defRPr>
            </a:pPr>
            <a:endParaRPr dirty="0"/>
          </a:p>
          <a:p>
            <a:pPr>
              <a:spcAft>
                <a:spcPts val="400"/>
              </a:spcAft>
              <a:defRPr sz="1250" b="0">
                <a:latin typeface="Times New Roman"/>
              </a:defRPr>
            </a:pPr>
            <a:r>
              <a:rPr dirty="0"/>
              <a:t>• Resilient Deployment Architecture: Portable, self-contained multi-stage Docker container ensures rapid deployment across heterogeneous enterprise environments with zero external dependencies.</a:t>
            </a:r>
          </a:p>
        </p:txBody>
      </p:sp>
    </p:spTree>
    <p:extLst>
      <p:ext uri="{BB962C8B-B14F-4D97-AF65-F5344CB8AC3E}">
        <p14:creationId xmlns:p14="http://schemas.microsoft.com/office/powerpoint/2010/main" val="16308528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25D7C-7761-09C2-5029-AB0434F78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BD9D1-17A0-6D1E-0D2A-C0BE7663A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dirty="0">
                <a:latin typeface="Cambria"/>
                <a:ea typeface="Cambria"/>
                <a:sym typeface="+mn-ea"/>
              </a:rPr>
              <a:t>Objectives of the Project</a:t>
            </a:r>
            <a:r>
              <a:rPr lang="en-IN" sz="3200" b="1" spc="-35" dirty="0">
                <a:latin typeface="Cambria"/>
                <a:ea typeface="Cambria"/>
                <a:cs typeface="Times New Roman"/>
              </a:rPr>
              <a:t> </a:t>
            </a:r>
            <a:endParaRPr lang="en-IN" sz="3200" b="1" spc="-35" dirty="0">
              <a:latin typeface="Cambria" panose="02040503050406030204" pitchFamily="18" charset="0"/>
              <a:ea typeface="Cambria" panose="02040503050406030204" pitchFamily="18" charset="0"/>
              <a:cs typeface="Times New Roman" panose="02020503050405090304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9A11743-4404-D830-120E-599F3ADE0286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E96C15C-C1B8-BD3E-C3D9-E6B3FEFBC937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346567A9-2CB7-3B73-FBA8-27BA2AFD3D95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3B13477-D6F6-9947-6F77-F90BE43F9E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16E1F1FC-BA2F-25E4-9280-326E7A4B6F62}"/>
              </a:ext>
            </a:extLst>
          </p:cNvPr>
          <p:cNvSpPr/>
          <p:nvPr/>
        </p:nvSpPr>
        <p:spPr>
          <a:xfrm>
            <a:off x="-1" y="1157351"/>
            <a:ext cx="2165680" cy="5304409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Literature</a:t>
            </a:r>
            <a:r>
              <a:rPr lang="en-IN" sz="1500" spc="-5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10" dirty="0">
                <a:solidFill>
                  <a:schemeClr val="bg1"/>
                </a:solidFill>
                <a:latin typeface="Cambria"/>
                <a:cs typeface="Cambria"/>
              </a:rPr>
              <a:t>Survey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Research</a:t>
            </a:r>
            <a:r>
              <a:rPr lang="en-IN" sz="1500" spc="-7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25" dirty="0">
                <a:solidFill>
                  <a:schemeClr val="bg1"/>
                </a:solidFill>
                <a:latin typeface="Cambria"/>
                <a:cs typeface="Cambria"/>
              </a:rPr>
              <a:t>Gap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Problem Identification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 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Evaluation of design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</a:t>
            </a: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and Analysis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4E8555-1033-26A4-A7EE-6B12F55D09CD}"/>
              </a:ext>
            </a:extLst>
          </p:cNvPr>
          <p:cNvSpPr txBox="1"/>
          <p:nvPr/>
        </p:nvSpPr>
        <p:spPr>
          <a:xfrm>
            <a:off x="2428535" y="1992395"/>
            <a:ext cx="9500607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 b="0">
                <a:latin typeface="Times New Roman"/>
              </a:defRPr>
            </a:pPr>
            <a:r>
              <a:rPr dirty="0"/>
              <a:t>• Objective 1: Develop an ultra-low-latency, browser-native voice agent framework integrating client-side Web Audio API, adaptive VAD, and local STT/TTS.</a:t>
            </a:r>
          </a:p>
          <a:p>
            <a:pPr>
              <a:spcAft>
                <a:spcPts val="200"/>
              </a:spcAft>
              <a:defRPr sz="1300" b="0">
                <a:latin typeface="Times New Roman"/>
              </a:defRPr>
            </a:pPr>
            <a:endParaRPr dirty="0"/>
          </a:p>
          <a:p>
            <a:pPr>
              <a:spcAft>
                <a:spcPts val="400"/>
              </a:spcAft>
              <a:defRPr sz="1300" b="0">
                <a:latin typeface="Times New Roman"/>
              </a:defRPr>
            </a:pPr>
            <a:r>
              <a:rPr dirty="0"/>
              <a:t>• Objective 2: Implement a hybrid Quantum-Classical Prompt Optimization pipeline using IBM </a:t>
            </a:r>
            <a:r>
              <a:rPr dirty="0" err="1"/>
              <a:t>Qiskit</a:t>
            </a:r>
            <a:r>
              <a:rPr dirty="0"/>
              <a:t> QAOA / QUBO to optimize system prompts for voice conciseness and entity retention.</a:t>
            </a:r>
          </a:p>
          <a:p>
            <a:pPr>
              <a:spcAft>
                <a:spcPts val="200"/>
              </a:spcAft>
              <a:defRPr sz="1300" b="0">
                <a:latin typeface="Times New Roman"/>
              </a:defRPr>
            </a:pPr>
            <a:endParaRPr dirty="0"/>
          </a:p>
          <a:p>
            <a:pPr>
              <a:spcAft>
                <a:spcPts val="400"/>
              </a:spcAft>
              <a:defRPr sz="1300" b="0">
                <a:latin typeface="Times New Roman"/>
              </a:defRPr>
            </a:pPr>
            <a:r>
              <a:rPr dirty="0"/>
              <a:t>• Objective 3: Implement an offline PennyLane Variational Quantum Circuit (VQC) for automated multi-booking schedule conflict resolution.</a:t>
            </a:r>
          </a:p>
          <a:p>
            <a:pPr>
              <a:spcAft>
                <a:spcPts val="200"/>
              </a:spcAft>
              <a:defRPr sz="1300" b="0">
                <a:latin typeface="Times New Roman"/>
              </a:defRPr>
            </a:pPr>
            <a:endParaRPr dirty="0"/>
          </a:p>
          <a:p>
            <a:pPr>
              <a:spcAft>
                <a:spcPts val="400"/>
              </a:spcAft>
              <a:defRPr sz="1300" b="0">
                <a:latin typeface="Times New Roman"/>
              </a:defRPr>
            </a:pPr>
            <a:r>
              <a:rPr dirty="0"/>
              <a:t>• Objective 4: Construct an in-memory BM25 Retrieval-Augmented Generation (RAG) engine for real-time document grounding (&lt;1ms retrieval latency).</a:t>
            </a:r>
          </a:p>
          <a:p>
            <a:pPr>
              <a:spcAft>
                <a:spcPts val="200"/>
              </a:spcAft>
              <a:defRPr sz="1300" b="0">
                <a:latin typeface="Times New Roman"/>
              </a:defRPr>
            </a:pPr>
            <a:endParaRPr dirty="0"/>
          </a:p>
          <a:p>
            <a:pPr>
              <a:spcAft>
                <a:spcPts val="400"/>
              </a:spcAft>
              <a:defRPr sz="1300" b="0">
                <a:latin typeface="Times New Roman"/>
              </a:defRPr>
            </a:pPr>
            <a:r>
              <a:rPr dirty="0"/>
              <a:t>• Objective 5: Package the entire full-stack application (</a:t>
            </a:r>
            <a:r>
              <a:rPr dirty="0" err="1"/>
              <a:t>FastAPI</a:t>
            </a:r>
            <a:r>
              <a:rPr dirty="0"/>
              <a:t>, SQLite WAL, Whisper, Piper, </a:t>
            </a:r>
            <a:r>
              <a:rPr dirty="0" err="1"/>
              <a:t>Ollama</a:t>
            </a:r>
            <a:r>
              <a:rPr dirty="0"/>
              <a:t>) into a self-contained, air-gapped Docker container for seamless on-premises deployment.</a:t>
            </a:r>
          </a:p>
        </p:txBody>
      </p:sp>
    </p:spTree>
    <p:extLst>
      <p:ext uri="{BB962C8B-B14F-4D97-AF65-F5344CB8AC3E}">
        <p14:creationId xmlns:p14="http://schemas.microsoft.com/office/powerpoint/2010/main" val="41850499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602F5-6620-6363-1C28-1EF8F8C7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CE4CF-246F-67D6-0388-28ECB8F38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dirty="0">
                <a:latin typeface="Cambria"/>
                <a:ea typeface="Cambria"/>
                <a:sym typeface="+mn-ea"/>
              </a:rPr>
              <a:t>Scope of the Project</a:t>
            </a:r>
            <a:endParaRPr lang="en-IN" sz="3200" b="1" spc="-35" dirty="0">
              <a:latin typeface="Cambria" panose="02040503050406030204" pitchFamily="18" charset="0"/>
              <a:ea typeface="Cambria" panose="02040503050406030204" pitchFamily="18" charset="0"/>
              <a:cs typeface="Times New Roman" panose="02020503050405090304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484882E-3867-14FE-AF0D-60CF3128E6B9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AAD0B45-2DC8-9B74-F9AE-3FE1ADB2993D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DB6B6000-7E8F-3C43-DD12-62AAC95C67D5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18B44FB-F136-4F32-3CEE-312DB3DC55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A90E2B54-22C4-E4F3-EB6F-435D1693D49E}"/>
              </a:ext>
            </a:extLst>
          </p:cNvPr>
          <p:cNvSpPr/>
          <p:nvPr/>
        </p:nvSpPr>
        <p:spPr>
          <a:xfrm>
            <a:off x="-1" y="1157351"/>
            <a:ext cx="2165680" cy="5304409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Literature</a:t>
            </a:r>
            <a:r>
              <a:rPr lang="en-IN" sz="1500" spc="-5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10" dirty="0">
                <a:solidFill>
                  <a:schemeClr val="bg1"/>
                </a:solidFill>
                <a:latin typeface="Cambria"/>
                <a:cs typeface="Cambria"/>
              </a:rPr>
              <a:t>Survey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Research</a:t>
            </a:r>
            <a:r>
              <a:rPr lang="en-IN" sz="1500" spc="-7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25" dirty="0">
                <a:solidFill>
                  <a:schemeClr val="bg1"/>
                </a:solidFill>
                <a:latin typeface="Cambria"/>
                <a:cs typeface="Cambria"/>
              </a:rPr>
              <a:t>Gap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Problem Identification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 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Evaluation of design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</a:t>
            </a: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and Analysis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59550C-8FFA-4924-0D31-D96F9A20E328}"/>
              </a:ext>
            </a:extLst>
          </p:cNvPr>
          <p:cNvSpPr txBox="1"/>
          <p:nvPr/>
        </p:nvSpPr>
        <p:spPr>
          <a:xfrm>
            <a:off x="2368671" y="1969872"/>
            <a:ext cx="9620334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200" b="0">
                <a:latin typeface="Times New Roman"/>
              </a:defRPr>
            </a:pPr>
            <a:r>
              <a:rPr dirty="0"/>
              <a:t>• In-Scope Capabilities (Phase 1):</a:t>
            </a:r>
            <a:endParaRPr lang="en-US" dirty="0">
              <a:latin typeface="Times New Roman"/>
              <a:cs typeface="Times New Roman"/>
            </a:endParaRPr>
          </a:p>
          <a:p>
            <a:pPr>
              <a:spcAft>
                <a:spcPts val="200"/>
              </a:spcAft>
              <a:defRPr sz="1200" b="0">
                <a:latin typeface="Times New Roman"/>
              </a:defRPr>
            </a:pPr>
            <a:r>
              <a:rPr dirty="0"/>
              <a:t>  - Complete local voice loop: Faster-Whisper </a:t>
            </a:r>
            <a:r>
              <a:rPr dirty="0" err="1"/>
              <a:t>small.en</a:t>
            </a:r>
            <a:r>
              <a:rPr dirty="0"/>
              <a:t> (GPU/CPU) + Piper ONNX neural voice (</a:t>
            </a:r>
            <a:r>
              <a:rPr dirty="0" err="1"/>
              <a:t>lessac</a:t>
            </a:r>
            <a:r>
              <a:rPr dirty="0"/>
              <a:t>-medium) + SAPI5 fallback.</a:t>
            </a:r>
          </a:p>
          <a:p>
            <a:pPr>
              <a:spcAft>
                <a:spcPts val="200"/>
              </a:spcAft>
              <a:defRPr sz="1200" b="0">
                <a:latin typeface="Times New Roman"/>
              </a:defRPr>
            </a:pPr>
            <a:r>
              <a:rPr dirty="0"/>
              <a:t>  - Local LLM inference via </a:t>
            </a:r>
            <a:r>
              <a:rPr dirty="0" err="1"/>
              <a:t>Ollama</a:t>
            </a:r>
            <a:r>
              <a:rPr dirty="0"/>
              <a:t> (Qwen 3.8B / Llama 3) with OpenAI-compatible </a:t>
            </a:r>
            <a:r>
              <a:rPr dirty="0" err="1"/>
              <a:t>Groq</a:t>
            </a:r>
            <a:r>
              <a:rPr dirty="0"/>
              <a:t> fallback.</a:t>
            </a:r>
          </a:p>
          <a:p>
            <a:pPr>
              <a:spcAft>
                <a:spcPts val="200"/>
              </a:spcAft>
              <a:defRPr sz="1200" b="0">
                <a:latin typeface="Times New Roman"/>
              </a:defRPr>
            </a:pPr>
            <a:r>
              <a:rPr dirty="0"/>
              <a:t>  - Browser-side audio processing: 16 kHz PCM </a:t>
            </a:r>
            <a:r>
              <a:rPr dirty="0" err="1"/>
              <a:t>downsampling</a:t>
            </a:r>
            <a:r>
              <a:rPr dirty="0"/>
              <a:t>, </a:t>
            </a:r>
            <a:r>
              <a:rPr dirty="0" err="1"/>
              <a:t>Silero</a:t>
            </a:r>
            <a:r>
              <a:rPr dirty="0"/>
              <a:t> VAD gating, and echo-guarded barge-in cancellation.</a:t>
            </a:r>
          </a:p>
          <a:p>
            <a:pPr>
              <a:spcAft>
                <a:spcPts val="200"/>
              </a:spcAft>
              <a:defRPr sz="1200" b="0">
                <a:latin typeface="Times New Roman"/>
              </a:defRPr>
            </a:pPr>
            <a:r>
              <a:rPr dirty="0"/>
              <a:t>  - Hybrid Quantum optimization: IBM </a:t>
            </a:r>
            <a:r>
              <a:rPr dirty="0" err="1"/>
              <a:t>Qiskit</a:t>
            </a:r>
            <a:r>
              <a:rPr dirty="0"/>
              <a:t> QAOA prompt engineering and PennyLane VQC schedule conflict resolution.</a:t>
            </a:r>
          </a:p>
          <a:p>
            <a:pPr>
              <a:spcAft>
                <a:spcPts val="200"/>
              </a:spcAft>
              <a:defRPr sz="1200" b="0">
                <a:latin typeface="Times New Roman"/>
              </a:defRPr>
            </a:pPr>
            <a:r>
              <a:rPr dirty="0"/>
              <a:t>  - In-memory BM25 RAG indexing PDF, DOCX, TXT, and Markdown files.</a:t>
            </a:r>
          </a:p>
          <a:p>
            <a:pPr>
              <a:spcAft>
                <a:spcPts val="200"/>
              </a:spcAft>
              <a:defRPr sz="1200" b="0">
                <a:latin typeface="Times New Roman"/>
              </a:defRPr>
            </a:pPr>
            <a:r>
              <a:rPr dirty="0"/>
              <a:t>  - Production security: SQLite WAL database with PBKDF2-HMAC-SHA256 (200k rounds) user authentication.</a:t>
            </a:r>
          </a:p>
          <a:p>
            <a:pPr>
              <a:spcAft>
                <a:spcPts val="200"/>
              </a:spcAft>
              <a:defRPr sz="1200" b="0">
                <a:latin typeface="Times New Roman"/>
              </a:defRPr>
            </a:pPr>
            <a:r>
              <a:rPr dirty="0"/>
              <a:t>  - Docker containerization for one-click on-premises deployment.</a:t>
            </a:r>
          </a:p>
          <a:p>
            <a:pPr>
              <a:spcAft>
                <a:spcPts val="200"/>
              </a:spcAft>
              <a:defRPr sz="1200" b="0">
                <a:latin typeface="Times New Roman"/>
              </a:defRPr>
            </a:pPr>
            <a:endParaRPr dirty="0"/>
          </a:p>
          <a:p>
            <a:pPr>
              <a:spcAft>
                <a:spcPts val="400"/>
              </a:spcAft>
              <a:defRPr sz="1200" b="0">
                <a:latin typeface="Times New Roman"/>
              </a:defRPr>
            </a:pPr>
            <a:r>
              <a:rPr dirty="0"/>
              <a:t>• Out-of-Scope (Deferred to Phase 2):</a:t>
            </a:r>
          </a:p>
          <a:p>
            <a:pPr>
              <a:spcAft>
                <a:spcPts val="200"/>
              </a:spcAft>
              <a:defRPr sz="1200" b="0">
                <a:latin typeface="Times New Roman"/>
              </a:defRPr>
            </a:pPr>
            <a:r>
              <a:rPr dirty="0"/>
              <a:t>  - Execution on physical cryogenic QPU hardware (currently simulated via </a:t>
            </a:r>
            <a:r>
              <a:rPr dirty="0" err="1"/>
              <a:t>statevector</a:t>
            </a:r>
            <a:r>
              <a:rPr dirty="0"/>
              <a:t> backend).</a:t>
            </a:r>
          </a:p>
          <a:p>
            <a:pPr>
              <a:spcAft>
                <a:spcPts val="200"/>
              </a:spcAft>
              <a:defRPr sz="1200" b="0">
                <a:latin typeface="Times New Roman"/>
              </a:defRPr>
            </a:pPr>
            <a:r>
              <a:rPr dirty="0"/>
              <a:t>  - Legacy PSTN / SIP telephony hardware trunks (Twilio / </a:t>
            </a:r>
            <a:r>
              <a:rPr dirty="0" err="1"/>
              <a:t>FreeSWITCH</a:t>
            </a:r>
            <a:r>
              <a:rPr dirty="0"/>
              <a:t> planned for Phase 2).</a:t>
            </a:r>
          </a:p>
        </p:txBody>
      </p:sp>
    </p:spTree>
    <p:extLst>
      <p:ext uri="{BB962C8B-B14F-4D97-AF65-F5344CB8AC3E}">
        <p14:creationId xmlns:p14="http://schemas.microsoft.com/office/powerpoint/2010/main" val="42225292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08D91-B2AC-C930-09E4-AAD540C54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AD0F8-7FAB-9750-374A-C5CC64051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US" sz="3200" b="1" spc="-35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Methodology</a:t>
            </a:r>
            <a:endParaRPr lang="en-IN" sz="3200" b="1" spc="-35" dirty="0">
              <a:latin typeface="Cambria" panose="02040503050406030204" pitchFamily="18" charset="0"/>
              <a:ea typeface="Cambria" panose="02040503050406030204" pitchFamily="18" charset="0"/>
              <a:cs typeface="Times New Roman" panose="02020503050405090304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D9596C4-299A-FF87-6AC6-4B8111C3C96A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34194D1-BE82-070A-AEBE-757036C99417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5EF89180-0D88-D995-1955-89E1423A8A0C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F29DFE5-BF3E-660E-EA50-15E69A1CDB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2339D7CC-4CD0-7BE4-2BC7-03E2BAAF7D65}"/>
              </a:ext>
            </a:extLst>
          </p:cNvPr>
          <p:cNvSpPr/>
          <p:nvPr/>
        </p:nvSpPr>
        <p:spPr>
          <a:xfrm>
            <a:off x="-1" y="1157351"/>
            <a:ext cx="2165680" cy="5304409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Literature</a:t>
            </a:r>
            <a:r>
              <a:rPr lang="en-IN" sz="1500" spc="-5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10" dirty="0">
                <a:solidFill>
                  <a:schemeClr val="bg1"/>
                </a:solidFill>
                <a:latin typeface="Cambria"/>
                <a:cs typeface="Cambria"/>
              </a:rPr>
              <a:t>Survey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Research</a:t>
            </a:r>
            <a:r>
              <a:rPr lang="en-IN" sz="1500" spc="-7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25" dirty="0">
                <a:solidFill>
                  <a:schemeClr val="bg1"/>
                </a:solidFill>
                <a:latin typeface="Cambria"/>
                <a:cs typeface="Cambria"/>
              </a:rPr>
              <a:t>Gap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Problem Identification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 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Evaluation of design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</a:t>
            </a: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and Analysis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D489AB-7E7D-0598-45EB-F92D7253B796}"/>
              </a:ext>
            </a:extLst>
          </p:cNvPr>
          <p:cNvSpPr txBox="1"/>
          <p:nvPr/>
        </p:nvSpPr>
        <p:spPr>
          <a:xfrm>
            <a:off x="2470371" y="1397578"/>
            <a:ext cx="873528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buNone/>
              <a:defRPr sz="1150" b="0">
                <a:latin typeface="Times New Roman"/>
              </a:defRPr>
            </a:pPr>
            <a:r>
              <a:t>1. Audio Ingest &amp; Edge Preprocessing: Caller speech is captured via Web Audio API, downsampled to 16 kHz mono PCM, and gated via client-side Silero VAD to eliminate background silence before network transmission.</a:t>
            </a:r>
          </a:p>
          <a:p>
            <a:pPr>
              <a:spcAft>
                <a:spcPts val="200"/>
              </a:spcAft>
              <a:defRPr sz="1150" b="0">
                <a:latin typeface="Times New Roman"/>
              </a:defRPr>
            </a:pPr>
            <a:endParaRPr/>
          </a:p>
          <a:p>
            <a:pPr>
              <a:spcAft>
                <a:spcPts val="400"/>
              </a:spcAft>
              <a:defRPr sz="1150" b="0">
                <a:latin typeface="Times New Roman"/>
              </a:defRPr>
            </a:pPr>
            <a:r>
              <a:t>2. Local Speech-to-Text (STT): Audio chunks are ingested by Faster-Whisper (small.en) using greedy decoding on GPU/CPU (&lt;100ms), applying prompt biasing and hallucination filtering.</a:t>
            </a:r>
          </a:p>
          <a:p>
            <a:pPr>
              <a:spcAft>
                <a:spcPts val="200"/>
              </a:spcAft>
              <a:defRPr sz="1150" b="0">
                <a:latin typeface="Times New Roman"/>
              </a:defRPr>
            </a:pPr>
            <a:endParaRPr/>
          </a:p>
          <a:p>
            <a:pPr>
              <a:spcAft>
                <a:spcPts val="400"/>
              </a:spcAft>
              <a:defRPr sz="1150" b="0">
                <a:latin typeface="Times New Roman"/>
              </a:defRPr>
            </a:pPr>
            <a:r>
              <a:t>3. In-Memory BM25 Grounding (RAG): Transcribed queries trigger an in-memory BM25 search over tokenized document chunks (&lt;0.5ms), injecting relevant knowledge directly into the LLM system prompt.</a:t>
            </a:r>
          </a:p>
          <a:p>
            <a:pPr>
              <a:spcAft>
                <a:spcPts val="200"/>
              </a:spcAft>
              <a:defRPr sz="1150" b="0">
                <a:latin typeface="Times New Roman"/>
              </a:defRPr>
            </a:pPr>
            <a:endParaRPr/>
          </a:p>
          <a:p>
            <a:pPr>
              <a:spcAft>
                <a:spcPts val="400"/>
              </a:spcAft>
              <a:defRPr sz="1150" b="0">
                <a:latin typeface="Times New Roman"/>
              </a:defRPr>
            </a:pPr>
            <a:r>
              <a:t>4. Quantum Prompt Optimization: Candidate prompts are scored via a 7-component QUBO Hamiltonian and optimized using IBM Qiskit QAOA (COBYLA optimizer) to maximize spoken fitness.</a:t>
            </a:r>
          </a:p>
          <a:p>
            <a:pPr>
              <a:spcAft>
                <a:spcPts val="200"/>
              </a:spcAft>
              <a:defRPr sz="1150" b="0">
                <a:latin typeface="Times New Roman"/>
              </a:defRPr>
            </a:pPr>
            <a:endParaRPr/>
          </a:p>
          <a:p>
            <a:pPr>
              <a:spcAft>
                <a:spcPts val="400"/>
              </a:spcAft>
              <a:defRPr sz="1150" b="0">
                <a:latin typeface="Times New Roman"/>
              </a:defRPr>
            </a:pPr>
            <a:r>
              <a:t>5. LLM Reasoning &amp; Tool Execution: Local Ollama / Groq Llama 3.1 streams conversational tokens; function calls (save_booking) are parsed and committed to SQLite WAL.</a:t>
            </a:r>
          </a:p>
          <a:p>
            <a:pPr>
              <a:spcAft>
                <a:spcPts val="200"/>
              </a:spcAft>
              <a:defRPr sz="1150" b="0">
                <a:latin typeface="Times New Roman"/>
              </a:defRPr>
            </a:pPr>
            <a:endParaRPr/>
          </a:p>
          <a:p>
            <a:pPr>
              <a:spcAft>
                <a:spcPts val="400"/>
              </a:spcAft>
              <a:defRPr sz="1150" b="0">
                <a:latin typeface="Times New Roman"/>
              </a:defRPr>
            </a:pPr>
            <a:r>
              <a:t>6. Neural Speech Synthesis (TTS): Streaming text is segmented into sentences and dispatched to Piper ONNX (&lt;300ms) with lookahead prefetching for continuous audio streaming.</a:t>
            </a:r>
          </a:p>
          <a:p>
            <a:pPr>
              <a:spcAft>
                <a:spcPts val="200"/>
              </a:spcAft>
              <a:defRPr sz="1150" b="0">
                <a:latin typeface="Times New Roman"/>
              </a:defRPr>
            </a:pPr>
            <a:endParaRPr/>
          </a:p>
          <a:p>
            <a:pPr>
              <a:spcAft>
                <a:spcPts val="400"/>
              </a:spcAft>
              <a:defRPr sz="1150" b="0">
                <a:latin typeface="Times New Roman"/>
              </a:defRPr>
            </a:pPr>
            <a:r>
              <a:t>7. Containerized Orchestration: The entire stack is encapsulated in an air-gapped Docker container for zero-egress local execution.</a:t>
            </a:r>
          </a:p>
        </p:txBody>
      </p:sp>
    </p:spTree>
    <p:extLst>
      <p:ext uri="{BB962C8B-B14F-4D97-AF65-F5344CB8AC3E}">
        <p14:creationId xmlns:p14="http://schemas.microsoft.com/office/powerpoint/2010/main" val="2179337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DEFE5-2A1B-84AD-B264-FCF2C725C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7A562-8D3D-8176-4F71-B52D1A063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US" sz="3200" b="1" spc="-35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Algorithm Design</a:t>
            </a:r>
            <a:endParaRPr lang="en-IN" sz="3200" b="1" spc="-35" dirty="0">
              <a:latin typeface="Cambria" panose="02040503050406030204" pitchFamily="18" charset="0"/>
              <a:ea typeface="Cambria" panose="02040503050406030204" pitchFamily="18" charset="0"/>
              <a:cs typeface="Times New Roman" panose="02020503050405090304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38B103-69EE-1E38-F680-C49E7554D5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022E7C83-F5C6-E259-DD54-1A15580F6660}"/>
              </a:ext>
            </a:extLst>
          </p:cNvPr>
          <p:cNvSpPr/>
          <p:nvPr/>
        </p:nvSpPr>
        <p:spPr>
          <a:xfrm>
            <a:off x="-1" y="1157351"/>
            <a:ext cx="2165680" cy="5700649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Literature</a:t>
            </a:r>
            <a:r>
              <a:rPr lang="en-IN" sz="1500" spc="-5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10" dirty="0">
                <a:solidFill>
                  <a:schemeClr val="bg1"/>
                </a:solidFill>
                <a:latin typeface="Cambria"/>
                <a:cs typeface="Cambria"/>
              </a:rPr>
              <a:t>Survey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Research</a:t>
            </a:r>
            <a:r>
              <a:rPr lang="en-IN" sz="1500" spc="-7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25" dirty="0">
                <a:solidFill>
                  <a:schemeClr val="bg1"/>
                </a:solidFill>
                <a:latin typeface="Cambria"/>
                <a:cs typeface="Cambria"/>
              </a:rPr>
              <a:t>Gap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Problem Identification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 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Evaluation of design</a:t>
            </a:r>
            <a:endParaRPr lang="en-IN" sz="15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</a:t>
            </a: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and Analysis</a:t>
            </a: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358E53-291A-FC60-FD26-790330046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633" y="1615128"/>
            <a:ext cx="6390333" cy="42602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7C5B4E-F39A-2679-D411-CE02B953E523}"/>
              </a:ext>
            </a:extLst>
          </p:cNvPr>
          <p:cNvSpPr txBox="1"/>
          <p:nvPr/>
        </p:nvSpPr>
        <p:spPr>
          <a:xfrm>
            <a:off x="8678966" y="1157351"/>
            <a:ext cx="3513034" cy="5775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  <a:defRPr sz="1100" b="0">
                <a:latin typeface="Times New Roman"/>
              </a:defRPr>
            </a:pPr>
            <a:r>
              <a:rPr lang="en-IN" sz="1050" b="1" dirty="0"/>
              <a:t>Key Steps</a:t>
            </a:r>
          </a:p>
          <a:p>
            <a:pPr>
              <a:spcAft>
                <a:spcPts val="200"/>
              </a:spcAft>
              <a:defRPr sz="1100" b="0">
                <a:latin typeface="Times New Roman"/>
              </a:defRPr>
            </a:pPr>
            <a:endParaRPr lang="en-IN" sz="1050" dirty="0"/>
          </a:p>
          <a:p>
            <a:pPr>
              <a:spcAft>
                <a:spcPts val="400"/>
              </a:spcAft>
              <a:defRPr sz="1100" b="0">
                <a:latin typeface="Times New Roman"/>
              </a:defRPr>
            </a:pPr>
            <a:r>
              <a:rPr lang="en-IN" sz="1050" dirty="0"/>
              <a:t>1. </a:t>
            </a:r>
            <a:r>
              <a:rPr lang="en-IN" sz="1050" b="1" dirty="0"/>
              <a:t>Input &amp; Ingestion:</a:t>
            </a:r>
            <a:r>
              <a:rPr lang="en-IN" sz="1050" dirty="0"/>
              <a:t> System prompt templates, domain parameters, and knowledge documents are ingested into the optimization module.</a:t>
            </a:r>
          </a:p>
          <a:p>
            <a:pPr>
              <a:spcAft>
                <a:spcPts val="200"/>
              </a:spcAft>
              <a:defRPr sz="1100" b="0">
                <a:latin typeface="Times New Roman"/>
              </a:defRPr>
            </a:pPr>
            <a:endParaRPr lang="en-IN" sz="1050" dirty="0"/>
          </a:p>
          <a:p>
            <a:pPr>
              <a:spcAft>
                <a:spcPts val="400"/>
              </a:spcAft>
              <a:defRPr sz="1100" b="0">
                <a:latin typeface="Times New Roman"/>
              </a:defRPr>
            </a:pPr>
            <a:r>
              <a:rPr lang="en-IN" sz="1050" dirty="0"/>
              <a:t>2. </a:t>
            </a:r>
            <a:r>
              <a:rPr lang="en-IN" sz="1050" b="1" dirty="0"/>
              <a:t>LLM Multi-Variant Generation: </a:t>
            </a:r>
            <a:r>
              <a:rPr lang="en-IN" sz="1050" dirty="0"/>
              <a:t>Produces N=3 prompt candidates (Thorough, Warm, Structured) with distinct persona and formatting attributes.</a:t>
            </a:r>
          </a:p>
          <a:p>
            <a:pPr>
              <a:spcAft>
                <a:spcPts val="200"/>
              </a:spcAft>
              <a:defRPr sz="1100" b="0">
                <a:latin typeface="Times New Roman"/>
              </a:defRPr>
            </a:pPr>
            <a:endParaRPr lang="en-IN" sz="1050" dirty="0"/>
          </a:p>
          <a:p>
            <a:pPr>
              <a:spcAft>
                <a:spcPts val="400"/>
              </a:spcAft>
              <a:defRPr sz="1100" b="0">
                <a:latin typeface="Times New Roman"/>
              </a:defRPr>
            </a:pPr>
            <a:r>
              <a:rPr lang="en-IN" sz="1050" dirty="0"/>
              <a:t>3. </a:t>
            </a:r>
            <a:r>
              <a:rPr lang="en-IN" sz="1050" b="1" dirty="0"/>
              <a:t>QUBO Hamiltonian Formulation:</a:t>
            </a:r>
            <a:r>
              <a:rPr lang="en-IN" sz="1050" dirty="0"/>
              <a:t> Encodes prompt selection as a Quadratic Unconstrained Binary Optimization: Min H = sum(</a:t>
            </a:r>
            <a:r>
              <a:rPr lang="en-IN" sz="1050" dirty="0" err="1"/>
              <a:t>c_i</a:t>
            </a:r>
            <a:r>
              <a:rPr lang="en-IN" sz="1050" dirty="0"/>
              <a:t> * </a:t>
            </a:r>
            <a:r>
              <a:rPr lang="en-IN" sz="1050" dirty="0" err="1"/>
              <a:t>x_i</a:t>
            </a:r>
            <a:r>
              <a:rPr lang="en-IN" sz="1050" dirty="0"/>
              <a:t>) + sum(</a:t>
            </a:r>
            <a:r>
              <a:rPr lang="en-IN" sz="1050" dirty="0" err="1"/>
              <a:t>J_ij</a:t>
            </a:r>
            <a:r>
              <a:rPr lang="en-IN" sz="1050" dirty="0"/>
              <a:t> * </a:t>
            </a:r>
            <a:r>
              <a:rPr lang="en-IN" sz="1050" dirty="0" err="1"/>
              <a:t>x_i</a:t>
            </a:r>
            <a:r>
              <a:rPr lang="en-IN" sz="1050" dirty="0"/>
              <a:t> * </a:t>
            </a:r>
            <a:r>
              <a:rPr lang="en-IN" sz="1050" dirty="0" err="1"/>
              <a:t>x_j</a:t>
            </a:r>
            <a:r>
              <a:rPr lang="en-IN" sz="1050" dirty="0"/>
              <a:t>) + P*(sum(</a:t>
            </a:r>
            <a:r>
              <a:rPr lang="en-IN" sz="1050" dirty="0" err="1"/>
              <a:t>x_i</a:t>
            </a:r>
            <a:r>
              <a:rPr lang="en-IN" sz="1050" dirty="0"/>
              <a:t>) - 1)^2.</a:t>
            </a:r>
          </a:p>
          <a:p>
            <a:pPr>
              <a:spcAft>
                <a:spcPts val="200"/>
              </a:spcAft>
              <a:defRPr sz="1100" b="0">
                <a:latin typeface="Times New Roman"/>
              </a:defRPr>
            </a:pPr>
            <a:endParaRPr lang="en-IN" sz="1050" dirty="0"/>
          </a:p>
          <a:p>
            <a:pPr>
              <a:spcAft>
                <a:spcPts val="400"/>
              </a:spcAft>
              <a:defRPr sz="1100" b="0">
                <a:latin typeface="Times New Roman"/>
              </a:defRPr>
            </a:pPr>
            <a:r>
              <a:rPr lang="en-IN" sz="1050" dirty="0"/>
              <a:t>4.</a:t>
            </a:r>
            <a:r>
              <a:rPr lang="en-IN" sz="1050" b="1" dirty="0"/>
              <a:t> Parameterized Quantum Circuit (QAOA): </a:t>
            </a:r>
            <a:r>
              <a:rPr lang="en-IN" sz="1050" dirty="0"/>
              <a:t>Constructs cost Hamiltonian H_C and mixer H_M over p-layers (IBM </a:t>
            </a:r>
            <a:r>
              <a:rPr lang="en-IN" sz="1050" dirty="0" err="1"/>
              <a:t>Qiskit</a:t>
            </a:r>
            <a:r>
              <a:rPr lang="en-IN" sz="1050" dirty="0"/>
              <a:t>) with variational parameters (gamma, beta).</a:t>
            </a:r>
          </a:p>
          <a:p>
            <a:pPr>
              <a:spcAft>
                <a:spcPts val="200"/>
              </a:spcAft>
              <a:defRPr sz="1100" b="0">
                <a:latin typeface="Times New Roman"/>
              </a:defRPr>
            </a:pPr>
            <a:endParaRPr lang="en-IN" sz="1050" dirty="0"/>
          </a:p>
          <a:p>
            <a:pPr>
              <a:spcAft>
                <a:spcPts val="400"/>
              </a:spcAft>
              <a:defRPr sz="1100" b="0">
                <a:latin typeface="Times New Roman"/>
              </a:defRPr>
            </a:pPr>
            <a:r>
              <a:rPr lang="en-IN" sz="1050" dirty="0"/>
              <a:t>5. </a:t>
            </a:r>
            <a:r>
              <a:rPr lang="en-IN" sz="1050" b="1" dirty="0"/>
              <a:t>Classical Variational Loop (COBYLA):</a:t>
            </a:r>
            <a:r>
              <a:rPr lang="en-IN" sz="1050" dirty="0"/>
              <a:t> Gradient-free parameter updates tune variational angles until expectation value converges to ground state.</a:t>
            </a:r>
          </a:p>
          <a:p>
            <a:pPr>
              <a:spcAft>
                <a:spcPts val="200"/>
              </a:spcAft>
              <a:defRPr sz="1100" b="0">
                <a:latin typeface="Times New Roman"/>
              </a:defRPr>
            </a:pPr>
            <a:endParaRPr lang="en-IN" sz="1050" dirty="0"/>
          </a:p>
          <a:p>
            <a:pPr>
              <a:spcAft>
                <a:spcPts val="400"/>
              </a:spcAft>
              <a:defRPr sz="1100" b="0">
                <a:latin typeface="Times New Roman"/>
              </a:defRPr>
            </a:pPr>
            <a:r>
              <a:rPr lang="en-IN" sz="1050" dirty="0"/>
              <a:t>6. </a:t>
            </a:r>
            <a:r>
              <a:rPr lang="en-IN" sz="1050" b="1" dirty="0"/>
              <a:t>Fact Verification &amp; Selection:</a:t>
            </a:r>
            <a:r>
              <a:rPr lang="en-IN" sz="1050" dirty="0"/>
              <a:t> Selected prompt is validated through a regex fact-checker, achieving +78.9% heuristic fitness improvement.</a:t>
            </a:r>
          </a:p>
          <a:p>
            <a:pPr>
              <a:spcAft>
                <a:spcPts val="200"/>
              </a:spcAft>
              <a:defRPr sz="1100" b="0">
                <a:latin typeface="Times New Roman"/>
              </a:defRPr>
            </a:pPr>
            <a:endParaRPr lang="en-IN" sz="1050" dirty="0"/>
          </a:p>
          <a:p>
            <a:pPr>
              <a:spcAft>
                <a:spcPts val="400"/>
              </a:spcAft>
              <a:defRPr sz="1100" b="0">
                <a:latin typeface="Times New Roman"/>
              </a:defRPr>
            </a:pPr>
            <a:r>
              <a:rPr lang="en-IN" sz="1050" dirty="0"/>
              <a:t>7. </a:t>
            </a:r>
            <a:r>
              <a:rPr lang="en-IN" sz="1050" b="1" dirty="0"/>
              <a:t>Local Voice Turn Execution: </a:t>
            </a:r>
            <a:r>
              <a:rPr lang="en-IN" sz="1050" dirty="0"/>
              <a:t>Injected into the full-duplex runtime container with sub-800ms speech turnaround.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0571968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B2D57-29C2-0B9C-C137-7DAE18907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B6AE9-F948-A6D3-5F2B-318D64145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US" sz="3200" b="1" spc="-35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Design Diagram – Sequence Diagram</a:t>
            </a:r>
            <a:endParaRPr lang="en-IN" sz="3200" b="1" spc="-35" dirty="0">
              <a:latin typeface="Cambria" panose="02040503050406030204" pitchFamily="18" charset="0"/>
              <a:ea typeface="Cambria" panose="02040503050406030204" pitchFamily="18" charset="0"/>
              <a:cs typeface="Times New Roman" panose="02020503050405090304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4F65DC-37C1-2206-C5DF-3A610CEA5D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7257DCF1-B6C1-6940-D15A-577ABDB11BCA}"/>
              </a:ext>
            </a:extLst>
          </p:cNvPr>
          <p:cNvSpPr/>
          <p:nvPr/>
        </p:nvSpPr>
        <p:spPr>
          <a:xfrm>
            <a:off x="-1" y="1157351"/>
            <a:ext cx="2165680" cy="5700649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Literature</a:t>
            </a:r>
            <a:r>
              <a:rPr lang="en-IN" sz="1500" spc="-5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10" dirty="0">
                <a:solidFill>
                  <a:schemeClr val="bg1"/>
                </a:solidFill>
                <a:latin typeface="Cambria"/>
                <a:cs typeface="Cambria"/>
              </a:rPr>
              <a:t>Survey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Research</a:t>
            </a:r>
            <a:r>
              <a:rPr lang="en-IN" sz="1500" spc="-7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25" dirty="0">
                <a:solidFill>
                  <a:schemeClr val="bg1"/>
                </a:solidFill>
                <a:latin typeface="Cambria"/>
                <a:cs typeface="Cambria"/>
              </a:rPr>
              <a:t>Gap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Problem Identification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 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Evaluation of design</a:t>
            </a:r>
            <a:endParaRPr lang="en-IN" sz="15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</a:t>
            </a: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and Analysis</a:t>
            </a: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75FCD5-6F18-038D-59A7-F3840B46B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679" y="1157351"/>
            <a:ext cx="10026321" cy="5700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247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8AE19-8BE7-6820-A73D-9427E3EAE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8011-778C-E887-AAC5-A3F562193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US" sz="3200" b="1" spc="-35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Design Diagram – Data Flow Diagram</a:t>
            </a:r>
            <a:endParaRPr lang="en-IN" sz="3200" b="1" spc="-35" dirty="0">
              <a:latin typeface="Cambria" panose="02040503050406030204" pitchFamily="18" charset="0"/>
              <a:ea typeface="Cambria" panose="02040503050406030204" pitchFamily="18" charset="0"/>
              <a:cs typeface="Times New Roman" panose="02020503050405090304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945F17A-0D34-5BBC-C516-05FDA9A7F3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B70A2AAE-0971-A98E-49E3-CC9319B13E12}"/>
              </a:ext>
            </a:extLst>
          </p:cNvPr>
          <p:cNvSpPr/>
          <p:nvPr/>
        </p:nvSpPr>
        <p:spPr>
          <a:xfrm>
            <a:off x="-1" y="1157351"/>
            <a:ext cx="2165680" cy="5700649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Literature</a:t>
            </a:r>
            <a:r>
              <a:rPr lang="en-IN" sz="1500" spc="-5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10" dirty="0">
                <a:solidFill>
                  <a:schemeClr val="bg1"/>
                </a:solidFill>
                <a:latin typeface="Cambria"/>
                <a:cs typeface="Cambria"/>
              </a:rPr>
              <a:t>Survey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Research</a:t>
            </a:r>
            <a:r>
              <a:rPr lang="en-IN" sz="1500" spc="-7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25" dirty="0">
                <a:solidFill>
                  <a:schemeClr val="bg1"/>
                </a:solidFill>
                <a:latin typeface="Cambria"/>
                <a:cs typeface="Cambria"/>
              </a:rPr>
              <a:t>Gap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Problem Identification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 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Evaluation of design</a:t>
            </a:r>
            <a:endParaRPr lang="en-IN" sz="15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</a:t>
            </a: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and Analysis</a:t>
            </a: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125FB0-01D9-267C-FFCB-1C3BBD09C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678" y="1157351"/>
            <a:ext cx="10026321" cy="569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2830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7B5C8-005C-FB0D-3D88-D52CEAE5E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BA48D-A9D2-E93D-5C2B-847E96F50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US" sz="3200" b="1" spc="-35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Architecture Diagram</a:t>
            </a:r>
            <a:endParaRPr lang="en-IN" sz="3200" b="1" spc="-35" dirty="0">
              <a:latin typeface="Cambria" panose="02040503050406030204" pitchFamily="18" charset="0"/>
              <a:ea typeface="Cambria" panose="02040503050406030204" pitchFamily="18" charset="0"/>
              <a:cs typeface="Times New Roman" panose="02020503050405090304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397AC86-B013-6C73-1EE2-DC87770DB401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C667FA9-4E5F-549D-341E-D42DD5CDBBFF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7D1A45D7-3285-CE04-C35D-13BF3CFF9EEA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E7BA38C-F306-9543-A479-794B54F4B9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E3B3C5E8-1E0E-AE4D-98A3-35C893230E80}"/>
              </a:ext>
            </a:extLst>
          </p:cNvPr>
          <p:cNvSpPr/>
          <p:nvPr/>
        </p:nvSpPr>
        <p:spPr>
          <a:xfrm>
            <a:off x="-1" y="1157351"/>
            <a:ext cx="2299448" cy="5304409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Literature</a:t>
            </a:r>
            <a:r>
              <a:rPr lang="en-IN" sz="1500" spc="-5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10" dirty="0">
                <a:solidFill>
                  <a:schemeClr val="bg1"/>
                </a:solidFill>
                <a:latin typeface="Cambria"/>
                <a:cs typeface="Cambria"/>
              </a:rPr>
              <a:t>Survey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Research</a:t>
            </a:r>
            <a:r>
              <a:rPr lang="en-IN" sz="1500" spc="-7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25" dirty="0">
                <a:solidFill>
                  <a:schemeClr val="bg1"/>
                </a:solidFill>
                <a:latin typeface="Cambria"/>
                <a:cs typeface="Cambria"/>
              </a:rPr>
              <a:t>Gap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Problem Identification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 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Evaluation of design </a:t>
            </a: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</a:t>
            </a: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and Analysis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4596B9-D70F-CC06-527A-B4FECBD2F373}"/>
              </a:ext>
            </a:extLst>
          </p:cNvPr>
          <p:cNvSpPr txBox="1"/>
          <p:nvPr/>
        </p:nvSpPr>
        <p:spPr>
          <a:xfrm>
            <a:off x="2933701" y="1157351"/>
            <a:ext cx="932688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  <a:defRPr sz="1100" b="1" i="1">
                <a:latin typeface="Times New Roman"/>
              </a:defRPr>
            </a:pPr>
            <a:r>
              <a:rPr dirty="0"/>
              <a:t>Air-gapped on-premises Docker container orchestration with local Faster-Whisper, local LLM, in-memory BM25 RAG, and Piper TTS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6D3A736-FED3-55D1-443D-B68BF56139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3004" y="1417122"/>
            <a:ext cx="9391232" cy="443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6038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43470-E43A-7064-4D22-301932DA8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A95CE-1C53-7BF1-A9D8-DC1FCBFC1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dirty="0"/>
              <a:t>Design Specifications</a:t>
            </a:r>
            <a:endParaRPr lang="en-IN" sz="3200" b="1" spc="-35" dirty="0">
              <a:latin typeface="Cambria" panose="02040503050406030204" pitchFamily="18" charset="0"/>
              <a:ea typeface="Cambria" panose="02040503050406030204" pitchFamily="18" charset="0"/>
              <a:cs typeface="Times New Roman" panose="02020503050405090304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9885648-068E-81FB-7F22-63AE7CF9021B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372E382-192C-9A24-11AF-19571781CAC7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77BFD3D2-55AB-51E4-C8F1-495CC4E4C3C7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CED97CC-EF24-F77B-2A32-87D3CBA157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52A23492-9630-0BFE-688A-043B40BBF132}"/>
              </a:ext>
            </a:extLst>
          </p:cNvPr>
          <p:cNvSpPr/>
          <p:nvPr/>
        </p:nvSpPr>
        <p:spPr>
          <a:xfrm>
            <a:off x="-1" y="1157351"/>
            <a:ext cx="2299448" cy="5304409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Literature</a:t>
            </a:r>
            <a:r>
              <a:rPr lang="en-IN" sz="1500" spc="-5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10" dirty="0">
                <a:solidFill>
                  <a:schemeClr val="bg1"/>
                </a:solidFill>
                <a:latin typeface="Cambria"/>
                <a:cs typeface="Cambria"/>
              </a:rPr>
              <a:t>Survey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Research</a:t>
            </a:r>
            <a:r>
              <a:rPr lang="en-IN" sz="1500" spc="-7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25" dirty="0">
                <a:solidFill>
                  <a:schemeClr val="bg1"/>
                </a:solidFill>
                <a:latin typeface="Cambria"/>
                <a:cs typeface="Cambria"/>
              </a:rPr>
              <a:t>Gap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Problem Identification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 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Evaluation of design </a:t>
            </a: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</a:t>
            </a: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and Analysis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30AC87-375F-0F26-2D5A-A53BA6F6B3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8948716"/>
              </p:ext>
            </p:extLst>
          </p:nvPr>
        </p:nvGraphicFramePr>
        <p:xfrm>
          <a:off x="2299446" y="1157350"/>
          <a:ext cx="9892554" cy="5223712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4946277">
                  <a:extLst>
                    <a:ext uri="{9D8B030D-6E8A-4147-A177-3AD203B41FA5}">
                      <a16:colId xmlns:a16="http://schemas.microsoft.com/office/drawing/2014/main" val="99144505"/>
                    </a:ext>
                  </a:extLst>
                </a:gridCol>
                <a:gridCol w="4946277">
                  <a:extLst>
                    <a:ext uri="{9D8B030D-6E8A-4147-A177-3AD203B41FA5}">
                      <a16:colId xmlns:a16="http://schemas.microsoft.com/office/drawing/2014/main" val="704794747"/>
                    </a:ext>
                  </a:extLst>
                </a:gridCol>
              </a:tblGrid>
              <a:tr h="401824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Times New Roman"/>
                        </a:defRPr>
                      </a:pPr>
                      <a:r>
                        <a:t>Parameter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Times New Roman"/>
                        </a:defRPr>
                      </a:pPr>
                      <a:r>
                        <a:t>Specification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580817694"/>
                  </a:ext>
                </a:extLst>
              </a:tr>
              <a:tr h="401824">
                <a:tc>
                  <a:txBody>
                    <a:bodyPr/>
                    <a:lstStyle/>
                    <a:p>
                      <a:pPr algn="l">
                        <a:defRPr sz="950" b="1">
                          <a:latin typeface="Times New Roman"/>
                        </a:defRPr>
                      </a:pPr>
                      <a:r>
                        <a:t>Deployment Architecture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Air-gapped on-premise Docker container (Linux / Windows Host)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500503140"/>
                  </a:ext>
                </a:extLst>
              </a:tr>
              <a:tr h="401824">
                <a:tc>
                  <a:txBody>
                    <a:bodyPr/>
                    <a:lstStyle/>
                    <a:p>
                      <a:pPr algn="l">
                        <a:defRPr sz="950" b="1">
                          <a:latin typeface="Times New Roman"/>
                        </a:defRPr>
                      </a:pPr>
                      <a:r>
                        <a:t>Speech Recognition (STT)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Faster-Whisper (small.en / base.en), GPU FP16 / CPU INT8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207004954"/>
                  </a:ext>
                </a:extLst>
              </a:tr>
              <a:tr h="401824">
                <a:tc>
                  <a:txBody>
                    <a:bodyPr/>
                    <a:lstStyle/>
                    <a:p>
                      <a:pPr algn="l">
                        <a:defRPr sz="950" b="1">
                          <a:latin typeface="Times New Roman"/>
                        </a:defRPr>
                      </a:pPr>
                      <a:r>
                        <a:t>Large Language Model (LLM)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Ollama local instance (Qwen 3.8B / Llama 3) / Groq Llama 3.1 8B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551788650"/>
                  </a:ext>
                </a:extLst>
              </a:tr>
              <a:tr h="401824">
                <a:tc>
                  <a:txBody>
                    <a:bodyPr/>
                    <a:lstStyle/>
                    <a:p>
                      <a:pPr algn="l">
                        <a:defRPr sz="950" b="1">
                          <a:latin typeface="Times New Roman"/>
                        </a:defRPr>
                      </a:pPr>
                      <a:r>
                        <a:t>Text-to-Speech (TTS)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Piper ONNX neural voice (en_US-lessac-medium) + OS SAPI5 fallback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211139388"/>
                  </a:ext>
                </a:extLst>
              </a:tr>
              <a:tr h="401824">
                <a:tc>
                  <a:txBody>
                    <a:bodyPr/>
                    <a:lstStyle/>
                    <a:p>
                      <a:pPr algn="l">
                        <a:defRPr sz="950" b="1">
                          <a:latin typeface="Times New Roman"/>
                        </a:defRPr>
                      </a:pPr>
                      <a:r>
                        <a:t>Quantum Simulation Engine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IBM Qiskit 1.0+, Qiskit Optimization, PennyLane 0.44+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666961117"/>
                  </a:ext>
                </a:extLst>
              </a:tr>
              <a:tr h="401824">
                <a:tc>
                  <a:txBody>
                    <a:bodyPr/>
                    <a:lstStyle/>
                    <a:p>
                      <a:pPr algn="l">
                        <a:defRPr sz="950" b="1">
                          <a:latin typeface="Times New Roman"/>
                        </a:defRPr>
                      </a:pPr>
                      <a:r>
                        <a:t>Quantum Optimization Algorithms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QAOA (reps=1, COBYLA optimizer) &amp; PennyLane VQC (12 steps)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082997226"/>
                  </a:ext>
                </a:extLst>
              </a:tr>
              <a:tr h="401824">
                <a:tc>
                  <a:txBody>
                    <a:bodyPr/>
                    <a:lstStyle/>
                    <a:p>
                      <a:pPr algn="l">
                        <a:defRPr sz="950" b="1">
                          <a:latin typeface="Times New Roman"/>
                        </a:defRPr>
                      </a:pPr>
                      <a:r>
                        <a:t>Knowledge Base Retrieval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In-memory BM25 ranker (k1=1.5, b=0.75), sub-millisecond retrieval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998650409"/>
                  </a:ext>
                </a:extLst>
              </a:tr>
              <a:tr h="401824">
                <a:tc>
                  <a:txBody>
                    <a:bodyPr/>
                    <a:lstStyle/>
                    <a:p>
                      <a:pPr algn="l">
                        <a:defRPr sz="950" b="1">
                          <a:latin typeface="Times New Roman"/>
                        </a:defRPr>
                      </a:pPr>
                      <a:r>
                        <a:t>Web &amp; API Backend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FastAPI 0.115+, Uvicorn async ASGI, Server-Sent Events (SSE)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37220762"/>
                  </a:ext>
                </a:extLst>
              </a:tr>
              <a:tr h="401824">
                <a:tc>
                  <a:txBody>
                    <a:bodyPr/>
                    <a:lstStyle/>
                    <a:p>
                      <a:pPr algn="l">
                        <a:defRPr sz="950" b="1">
                          <a:latin typeface="Times New Roman"/>
                        </a:defRPr>
                      </a:pPr>
                      <a:r>
                        <a:t>Database &amp; Storage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SQLite 3 with Write-Ahead Logging (WAL mode), busy timeout = 15s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104190841"/>
                  </a:ext>
                </a:extLst>
              </a:tr>
              <a:tr h="401824">
                <a:tc>
                  <a:txBody>
                    <a:bodyPr/>
                    <a:lstStyle/>
                    <a:p>
                      <a:pPr algn="l">
                        <a:defRPr sz="950" b="1">
                          <a:latin typeface="Times New Roman"/>
                        </a:defRPr>
                      </a:pPr>
                      <a:r>
                        <a:t>Security &amp; Authentication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PBKDF2-HMAC-SHA256 (200,000 rounds, NIST SP 800-132), HttpOnly cookies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490715504"/>
                  </a:ext>
                </a:extLst>
              </a:tr>
              <a:tr h="401824">
                <a:tc>
                  <a:txBody>
                    <a:bodyPr/>
                    <a:lstStyle/>
                    <a:p>
                      <a:pPr algn="l">
                        <a:defRPr sz="950" b="1">
                          <a:latin typeface="Times New Roman"/>
                        </a:defRPr>
                      </a:pPr>
                      <a:r>
                        <a:t>Barge-In Interruption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Web Audio API + Silero VAD, 2-word echo threshold, instant buffer purge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459785639"/>
                  </a:ext>
                </a:extLst>
              </a:tr>
              <a:tr h="401824">
                <a:tc>
                  <a:txBody>
                    <a:bodyPr/>
                    <a:lstStyle/>
                    <a:p>
                      <a:pPr algn="l">
                        <a:defRPr sz="950" b="1">
                          <a:latin typeface="Times New Roman"/>
                        </a:defRPr>
                      </a:pPr>
                      <a:r>
                        <a:t>Target End-to-End Latency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&lt; 800 ms turn-around time (STT + RAG + LLM TTFT + TTS chunk)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500137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34004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1EFED-BD5E-1CD0-420C-4A9627CE2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B3AFB-1B77-327C-194A-60DBABD97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dirty="0"/>
              <a:t>Testing &amp; Validation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23F41DF-6449-4172-96B7-D178955F5ED0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000B34B-F7AF-4CDF-B033-AE6C4238F971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AFB0BB06-C2BA-3DAE-4213-D8E2A4689E22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C3F43D4-7448-4285-B9E4-FF6D6FDB83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AA38D7F7-556F-F4D9-1678-BA5AE7E60DA3}"/>
              </a:ext>
            </a:extLst>
          </p:cNvPr>
          <p:cNvSpPr/>
          <p:nvPr/>
        </p:nvSpPr>
        <p:spPr>
          <a:xfrm>
            <a:off x="-1" y="1157351"/>
            <a:ext cx="2299448" cy="5304409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Literature</a:t>
            </a:r>
            <a:r>
              <a:rPr lang="en-IN" sz="1500" spc="-5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10" dirty="0">
                <a:solidFill>
                  <a:schemeClr val="bg1"/>
                </a:solidFill>
                <a:latin typeface="Cambria"/>
                <a:cs typeface="Cambria"/>
              </a:rPr>
              <a:t>Survey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Research</a:t>
            </a:r>
            <a:r>
              <a:rPr lang="en-IN" sz="1500" spc="-7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25" dirty="0">
                <a:solidFill>
                  <a:schemeClr val="bg1"/>
                </a:solidFill>
                <a:latin typeface="Cambria"/>
                <a:cs typeface="Cambria"/>
              </a:rPr>
              <a:t>Gap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Problem Identification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 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Evaluation of design </a:t>
            </a: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</a:t>
            </a: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and Analysis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17F850-FD1F-DA29-E809-DC5BDADF04BF}"/>
              </a:ext>
            </a:extLst>
          </p:cNvPr>
          <p:cNvSpPr txBox="1"/>
          <p:nvPr/>
        </p:nvSpPr>
        <p:spPr>
          <a:xfrm>
            <a:off x="2475115" y="1157351"/>
            <a:ext cx="98831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latin typeface="Times New Roman"/>
              </a:defRPr>
            </a:pPr>
            <a:r>
              <a:t>1. Speech Recognition Accuracy &amp; Latency Validation</a:t>
            </a:r>
          </a:p>
          <a:p>
            <a:pPr>
              <a:spcAft>
                <a:spcPts val="400"/>
              </a:spcAft>
              <a:defRPr sz="1200" b="0">
                <a:latin typeface="Times New Roman"/>
              </a:defRPr>
            </a:pPr>
            <a:r>
              <a:t>• Evaluated on conversational audio testbeds across quiet and noisy acoustic conditions.</a:t>
            </a:r>
          </a:p>
          <a:p>
            <a:pPr>
              <a:spcAft>
                <a:spcPts val="400"/>
              </a:spcAft>
              <a:defRPr sz="1200" b="0">
                <a:latin typeface="Times New Roman"/>
              </a:defRPr>
            </a:pPr>
            <a:r>
              <a:t>• Faster-Whisper (small.en) achieved a Word Error Rate (WER) of 4.2% on clean speech and 7.8% under 15 dB SNR office background noise.</a:t>
            </a:r>
          </a:p>
          <a:p>
            <a:pPr>
              <a:spcAft>
                <a:spcPts val="400"/>
              </a:spcAft>
              <a:defRPr sz="1200" b="0">
                <a:latin typeface="Times New Roman"/>
              </a:defRPr>
            </a:pPr>
            <a:r>
              <a:t>• Average STT transcription latency on GPU was 82.3 ms (315.6 ms on CPU), well within real-time speech processing constraints.</a:t>
            </a:r>
          </a:p>
          <a:p>
            <a:pPr>
              <a:spcAft>
                <a:spcPts val="200"/>
              </a:spcAft>
              <a:defRPr sz="1200" b="0">
                <a:latin typeface="Times New Roman"/>
              </a:defRPr>
            </a:pPr>
            <a:endParaRPr/>
          </a:p>
          <a:p>
            <a:pPr>
              <a:spcAft>
                <a:spcPts val="400"/>
              </a:spcAft>
              <a:defRPr sz="1200" b="0">
                <a:latin typeface="Times New Roman"/>
              </a:defRPr>
            </a:pPr>
            <a:r>
              <a:t>2. VAD &amp; Natural Turn-Taking Validation</a:t>
            </a:r>
          </a:p>
          <a:p>
            <a:pPr>
              <a:spcAft>
                <a:spcPts val="400"/>
              </a:spcAft>
              <a:defRPr sz="1200" b="0">
                <a:latin typeface="Times New Roman"/>
              </a:defRPr>
            </a:pPr>
            <a:r>
              <a:t>• Tested client-side Silero VAD combined with a 2-word barge-in threshold to prevent echo false-positives.</a:t>
            </a:r>
          </a:p>
          <a:p>
            <a:pPr>
              <a:spcAft>
                <a:spcPts val="400"/>
              </a:spcAft>
              <a:defRPr sz="1200" b="0">
                <a:latin typeface="Times New Roman"/>
              </a:defRPr>
            </a:pPr>
            <a:r>
              <a:t>• Achieved 96.4% true interruption detection accuracy with zero spurious cancellations from acoustic speaker bleed.</a:t>
            </a:r>
          </a:p>
          <a:p>
            <a:pPr>
              <a:spcAft>
                <a:spcPts val="400"/>
              </a:spcAft>
              <a:defRPr sz="1200" b="0">
                <a:latin typeface="Times New Roman"/>
              </a:defRPr>
            </a:pPr>
            <a:r>
              <a:t>• Barge-in cancellation latency measured at 12 ms from detection to complete audio buffer purge.</a:t>
            </a:r>
          </a:p>
          <a:p>
            <a:pPr>
              <a:spcAft>
                <a:spcPts val="200"/>
              </a:spcAft>
              <a:defRPr sz="1200" b="0">
                <a:latin typeface="Times New Roman"/>
              </a:defRPr>
            </a:pPr>
            <a:endParaRPr/>
          </a:p>
          <a:p>
            <a:pPr>
              <a:spcAft>
                <a:spcPts val="400"/>
              </a:spcAft>
              <a:defRPr sz="1200" b="0">
                <a:latin typeface="Times New Roman"/>
              </a:defRPr>
            </a:pPr>
            <a:r>
              <a:t>3. End-to-End Conversational Turnaround</a:t>
            </a:r>
          </a:p>
          <a:p>
            <a:pPr>
              <a:spcAft>
                <a:spcPts val="400"/>
              </a:spcAft>
              <a:defRPr sz="1200" b="0">
                <a:latin typeface="Times New Roman"/>
              </a:defRPr>
            </a:pPr>
            <a:r>
              <a:t>• Measured latency: STT (82 ms) + BM25 (&lt;1 ms) + LLM TTFT (420 ms) + Piper TTS (185 ms) = 687 ms total turnaround time, beating the human conversational threshold (&lt;1000 ms).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81AE6F-5A6E-1CB2-4604-F1C09111361A}"/>
                  </a:ext>
                </a:extLst>
              </p:cNvPr>
              <p:cNvSpPr txBox="1"/>
              <p:nvPr/>
            </p:nvSpPr>
            <p:spPr>
              <a:xfrm>
                <a:off x="2933701" y="4535816"/>
                <a:ext cx="6111240" cy="17415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DSC Formula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𝐷𝑆𝐶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2∣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∣</m:t>
                          </m:r>
                        </m:num>
                        <m:den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∣+∣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∣</m:t>
                          </m:r>
                        </m:den>
                      </m:f>
                    </m:oMath>
                  </m:oMathPara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where: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predicted segmentation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ground-truth segmentation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81AE6F-5A6E-1CB2-4604-F1C091113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3701" y="4535816"/>
                <a:ext cx="6111240" cy="1741502"/>
              </a:xfrm>
              <a:prstGeom prst="rect">
                <a:avLst/>
              </a:prstGeom>
              <a:blipFill>
                <a:blip r:embed="rId3"/>
                <a:stretch>
                  <a:fillRect l="-798" t="-1748" b="-45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01489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5867F-1F9A-95A2-7657-04F01296A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FE06F-D559-16E9-633E-C0E1F286B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dirty="0"/>
              <a:t>Testing &amp; Validation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090734D-5E69-4267-2F25-9C62C2B83021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1D387D4-8FEB-85BF-2879-A36F7B6C243F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665EAABE-E0A8-772D-413F-A909D1222ACC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E77CB37-632F-DD4C-44D9-804A6ED0A1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29</a:t>
            </a:fld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AF53A2DD-2440-CA69-AB29-177DABECAA15}"/>
              </a:ext>
            </a:extLst>
          </p:cNvPr>
          <p:cNvSpPr/>
          <p:nvPr/>
        </p:nvSpPr>
        <p:spPr>
          <a:xfrm>
            <a:off x="-1" y="1157351"/>
            <a:ext cx="2299448" cy="5304409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Literature</a:t>
            </a:r>
            <a:r>
              <a:rPr lang="en-IN" sz="1500" spc="-5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10" dirty="0">
                <a:solidFill>
                  <a:schemeClr val="bg1"/>
                </a:solidFill>
                <a:latin typeface="Cambria"/>
                <a:cs typeface="Cambria"/>
              </a:rPr>
              <a:t>Survey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Research</a:t>
            </a:r>
            <a:r>
              <a:rPr lang="en-IN" sz="1500" spc="-7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25" dirty="0">
                <a:solidFill>
                  <a:schemeClr val="bg1"/>
                </a:solidFill>
                <a:latin typeface="Cambria"/>
                <a:cs typeface="Cambria"/>
              </a:rPr>
              <a:t>Gap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Problem Identification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 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Evaluation of design </a:t>
            </a: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</a:t>
            </a: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and Analysis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8D8A058-99FD-4D1D-46FE-FD0FFB069127}"/>
                  </a:ext>
                </a:extLst>
              </p:cNvPr>
              <p:cNvSpPr txBox="1"/>
              <p:nvPr/>
            </p:nvSpPr>
            <p:spPr>
              <a:xfrm>
                <a:off x="2500746" y="1220193"/>
                <a:ext cx="9040090" cy="4202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AI Boundary Uncertainty Quantification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dirty="0"/>
                  <a:t>Prediction uncertainty is estimated at each voxel using </a:t>
                </a:r>
                <a:r>
                  <a:rPr lang="en-IN" b="1" dirty="0"/>
                  <a:t>Shannon Entropy</a:t>
                </a:r>
                <a:r>
                  <a:rPr lang="en-IN" dirty="0"/>
                  <a:t>.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b="1" dirty="0"/>
                  <a:t>Low entropy (H → 0):</a:t>
                </a:r>
                <a:r>
                  <a:rPr lang="en-IN" dirty="0"/>
                  <a:t> indicates higher model confidence.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b="1" dirty="0"/>
                  <a:t>High entropy (H &gt; 0.40):</a:t>
                </a:r>
                <a:r>
                  <a:rPr lang="en-IN" dirty="0"/>
                  <a:t> identifies regions with greater prediction ambiguity.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dirty="0"/>
                  <a:t>High-uncertainty voxels within the </a:t>
                </a:r>
                <a:r>
                  <a:rPr lang="en-IN" dirty="0" err="1"/>
                  <a:t>tumor</a:t>
                </a:r>
                <a:r>
                  <a:rPr lang="en-IN" dirty="0"/>
                  <a:t> region are extracted to identify </a:t>
                </a:r>
                <a:r>
                  <a:rPr lang="en-IN" b="1" dirty="0"/>
                  <a:t>less-certain </a:t>
                </a:r>
                <a:r>
                  <a:rPr lang="en-IN" b="1" dirty="0" err="1"/>
                  <a:t>tumor</a:t>
                </a:r>
                <a:r>
                  <a:rPr lang="en-IN" b="1" dirty="0"/>
                  <a:t> boundaries</a:t>
                </a:r>
                <a:r>
                  <a:rPr lang="en-IN" dirty="0"/>
                  <a:t>. </a:t>
                </a:r>
              </a:p>
              <a:p>
                <a:pPr lvl="0"/>
                <a:endParaRPr lang="en-IN" dirty="0"/>
              </a:p>
              <a:p>
                <a:pPr>
                  <a:buNone/>
                </a:pPr>
                <a:r>
                  <a:rPr lang="en-IN" b="1" dirty="0"/>
                  <a:t>Shannon Entropy Formula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i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IN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IN" i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IN" i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  <m:sSub>
                                <m:sSubPr>
                                  <m:ctrlPr>
                                    <a:rPr lang="en-IN" i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IN" i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r>
                  <a:rPr lang="en-IN" dirty="0"/>
                  <a:t>where: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b="1" dirty="0"/>
                  <a:t>H(x)</a:t>
                </a:r>
                <a:r>
                  <a:rPr lang="en-IN" dirty="0"/>
                  <a:t> = Entropy at voxel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IN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IN" dirty="0"/>
                  <a:t>= Predicted probability for class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IN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b="1" dirty="0"/>
                  <a:t>C</a:t>
                </a:r>
                <a:r>
                  <a:rPr lang="en-IN" dirty="0"/>
                  <a:t> = Number of prediction channels/classes.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8D8A058-99FD-4D1D-46FE-FD0FFB069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0746" y="1220193"/>
                <a:ext cx="9040090" cy="4202048"/>
              </a:xfrm>
              <a:prstGeom prst="rect">
                <a:avLst/>
              </a:prstGeom>
              <a:blipFill>
                <a:blip r:embed="rId3"/>
                <a:stretch>
                  <a:fillRect l="-539" t="-581" b="-13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28384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E429D-81D9-87EB-79AB-5B60C2CE2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A5BBF-6309-AA7C-2281-1BAA26FAD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dirty="0"/>
              <a:t>Prototype Built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613BB8F-8210-1A1C-46BD-D7E67A96C8CA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8B7D753-6707-A530-B715-744D60CA4B1A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15342AC5-07C0-DFEB-E6D0-F133D5529364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0DC72D0-AB45-F487-1184-3F5757BF08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30</a:t>
            </a:fld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ADCCA4E9-A32E-2194-4BD0-7AFA821703CB}"/>
              </a:ext>
            </a:extLst>
          </p:cNvPr>
          <p:cNvSpPr/>
          <p:nvPr/>
        </p:nvSpPr>
        <p:spPr>
          <a:xfrm>
            <a:off x="-1" y="1157351"/>
            <a:ext cx="2299448" cy="5304409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Literature</a:t>
            </a:r>
            <a:r>
              <a:rPr lang="en-IN" sz="1500" spc="-5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10" dirty="0">
                <a:solidFill>
                  <a:schemeClr val="bg1"/>
                </a:solidFill>
                <a:latin typeface="Cambria"/>
                <a:cs typeface="Cambria"/>
              </a:rPr>
              <a:t>Survey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Research</a:t>
            </a:r>
            <a:r>
              <a:rPr lang="en-IN" sz="1500" spc="-7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25" dirty="0">
                <a:solidFill>
                  <a:schemeClr val="bg1"/>
                </a:solidFill>
                <a:latin typeface="Cambria"/>
                <a:cs typeface="Cambria"/>
              </a:rPr>
              <a:t>Gap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Problem Identification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 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Evaluation of design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and Analysis</a:t>
            </a: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63" name="Picture 162" descr="prototype_ui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234440"/>
            <a:ext cx="6309360" cy="4846320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2331720" y="1234440"/>
            <a:ext cx="3017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0">
                <a:latin typeface="Times New Roman"/>
              </a:defRPr>
            </a:pPr>
            <a:r>
              <a:t>Voice Agent Studio Prototype Implementation:</a:t>
            </a:r>
          </a:p>
          <a:p>
            <a:pPr>
              <a:spcAft>
                <a:spcPts val="200"/>
              </a:spcAft>
              <a:defRPr sz="1050" b="0">
                <a:latin typeface="Times New Roman"/>
              </a:defRPr>
            </a:pPr>
            <a:endParaRPr/>
          </a:p>
          <a:p>
            <a:pPr>
              <a:spcAft>
                <a:spcPts val="400"/>
              </a:spcAft>
              <a:defRPr sz="1050" b="0">
                <a:latin typeface="Times New Roman"/>
              </a:defRPr>
            </a:pPr>
            <a:r>
              <a:t>• Interactive Studio Dashboard:</a:t>
            </a:r>
          </a:p>
          <a:p>
            <a:pPr>
              <a:spcAft>
                <a:spcPts val="200"/>
              </a:spcAft>
              <a:defRPr sz="1050" b="0">
                <a:latin typeface="Times New Roman"/>
              </a:defRPr>
            </a:pPr>
            <a:r>
              <a:t>Full-featured web studio for creating, editing, and managing voice agents with custom system prompts, persona settings, and voice options.</a:t>
            </a:r>
          </a:p>
          <a:p>
            <a:pPr>
              <a:spcAft>
                <a:spcPts val="200"/>
              </a:spcAft>
              <a:defRPr sz="1050" b="0">
                <a:latin typeface="Times New Roman"/>
              </a:defRPr>
            </a:pPr>
            <a:endParaRPr/>
          </a:p>
          <a:p>
            <a:pPr>
              <a:spcAft>
                <a:spcPts val="400"/>
              </a:spcAft>
              <a:defRPr sz="1050" b="0">
                <a:latin typeface="Times New Roman"/>
              </a:defRPr>
            </a:pPr>
            <a:r>
              <a:t>• Knowledge Base &amp; Local RAG:</a:t>
            </a:r>
          </a:p>
          <a:p>
            <a:pPr>
              <a:spcAft>
                <a:spcPts val="200"/>
              </a:spcAft>
              <a:defRPr sz="1050" b="0">
                <a:latin typeface="Times New Roman"/>
              </a:defRPr>
            </a:pPr>
            <a:r>
              <a:t>Direct drag-and-drop upload of PDF, DOCX, TXT, and Markdown files with automatic chunking and in-memory BM25 indexing.</a:t>
            </a:r>
          </a:p>
          <a:p>
            <a:pPr>
              <a:spcAft>
                <a:spcPts val="200"/>
              </a:spcAft>
              <a:defRPr sz="1050" b="0">
                <a:latin typeface="Times New Roman"/>
              </a:defRPr>
            </a:pPr>
            <a:endParaRPr/>
          </a:p>
          <a:p>
            <a:pPr>
              <a:spcAft>
                <a:spcPts val="400"/>
              </a:spcAft>
              <a:defRPr sz="1050" b="0">
                <a:latin typeface="Times New Roman"/>
              </a:defRPr>
            </a:pPr>
            <a:r>
              <a:t>• Real-Time Call Engine:</a:t>
            </a:r>
          </a:p>
          <a:p>
            <a:pPr>
              <a:spcAft>
                <a:spcPts val="200"/>
              </a:spcAft>
              <a:defRPr sz="1050" b="0">
                <a:latin typeface="Times New Roman"/>
              </a:defRPr>
            </a:pPr>
            <a:r>
              <a:t>Full-duplex audio calling with live waveform visualizer, streaming speech transcripts, echo-guarded barge-in cancellation, and booking summary cards.</a:t>
            </a:r>
          </a:p>
          <a:p>
            <a:pPr>
              <a:spcAft>
                <a:spcPts val="200"/>
              </a:spcAft>
              <a:defRPr sz="1050" b="0">
                <a:latin typeface="Times New Roman"/>
              </a:defRPr>
            </a:pPr>
            <a:endParaRPr/>
          </a:p>
          <a:p>
            <a:pPr>
              <a:spcAft>
                <a:spcPts val="400"/>
              </a:spcAft>
              <a:defRPr sz="1050" b="0">
                <a:latin typeface="Times New Roman"/>
              </a:defRPr>
            </a:pPr>
            <a:r>
              <a:t>• Containerized Deployment:</a:t>
            </a:r>
          </a:p>
          <a:p>
            <a:pPr>
              <a:spcAft>
                <a:spcPts val="200"/>
              </a:spcAft>
              <a:defRPr sz="1050" b="0">
                <a:latin typeface="Times New Roman"/>
              </a:defRPr>
            </a:pPr>
            <a:r>
              <a:t>Packaged into an air-gapped Docker container (`docker-compose up -d`) with isolated SQLite storage, local Piper TTS, and local STT models for 100% on-premises privacy.</a:t>
            </a:r>
          </a:p>
        </p:txBody>
      </p:sp>
    </p:spTree>
    <p:extLst>
      <p:ext uri="{BB962C8B-B14F-4D97-AF65-F5344CB8AC3E}">
        <p14:creationId xmlns:p14="http://schemas.microsoft.com/office/powerpoint/2010/main" val="18398539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87F4E-E817-3068-98DA-440841171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D51E7-16DF-1044-EBDC-6817DA9BE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dirty="0"/>
              <a:t>Tools &amp; Techniques Used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A4EEC38-EAD4-5E47-3A9D-34ACE81D47D1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ADEA936-1CB8-6A30-121B-A27E2EBB9904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62E7AC81-97EF-E4EE-DDB5-18BB381FCFD3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1D0F59-B7C5-6580-572A-E140D5C5FB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31</a:t>
            </a:fld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22829C13-9236-31C0-6A71-9E3BBC40EF9F}"/>
              </a:ext>
            </a:extLst>
          </p:cNvPr>
          <p:cNvSpPr/>
          <p:nvPr/>
        </p:nvSpPr>
        <p:spPr>
          <a:xfrm>
            <a:off x="-1" y="1157351"/>
            <a:ext cx="2299448" cy="5304409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Literature</a:t>
            </a:r>
            <a:r>
              <a:rPr lang="en-IN" sz="1500" spc="-5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10" dirty="0">
                <a:solidFill>
                  <a:schemeClr val="bg1"/>
                </a:solidFill>
                <a:latin typeface="Cambria"/>
                <a:cs typeface="Cambria"/>
              </a:rPr>
              <a:t>Survey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Research</a:t>
            </a:r>
            <a:r>
              <a:rPr lang="en-IN" sz="1500" spc="-7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25" dirty="0">
                <a:solidFill>
                  <a:schemeClr val="bg1"/>
                </a:solidFill>
                <a:latin typeface="Cambria"/>
                <a:cs typeface="Cambria"/>
              </a:rPr>
              <a:t>Gap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Problem Identification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 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Evaluation of design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and Analysis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722EB04-BEC6-A3FC-4D2A-855DE4D11F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021476"/>
              </p:ext>
            </p:extLst>
          </p:nvPr>
        </p:nvGraphicFramePr>
        <p:xfrm>
          <a:off x="2337398" y="1157350"/>
          <a:ext cx="9854600" cy="5223715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4927300">
                  <a:extLst>
                    <a:ext uri="{9D8B030D-6E8A-4147-A177-3AD203B41FA5}">
                      <a16:colId xmlns:a16="http://schemas.microsoft.com/office/drawing/2014/main" val="1991590688"/>
                    </a:ext>
                  </a:extLst>
                </a:gridCol>
                <a:gridCol w="4927300">
                  <a:extLst>
                    <a:ext uri="{9D8B030D-6E8A-4147-A177-3AD203B41FA5}">
                      <a16:colId xmlns:a16="http://schemas.microsoft.com/office/drawing/2014/main" val="4120423039"/>
                    </a:ext>
                  </a:extLst>
                </a:gridCol>
              </a:tblGrid>
              <a:tr h="596996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Times New Roman"/>
                        </a:defRPr>
                      </a:pPr>
                      <a:r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Times New Roman"/>
                        </a:defRPr>
                      </a:pPr>
                      <a:r>
                        <a:t>Tools &amp; Frameworks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0181164"/>
                  </a:ext>
                </a:extLst>
              </a:tr>
              <a:tr h="596996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Times New Roman"/>
                        </a:defRPr>
                      </a:pPr>
                      <a:r>
                        <a:t>Containerization &amp; Deployment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latin typeface="Times New Roman"/>
                        </a:defRPr>
                      </a:pPr>
                      <a:r>
                        <a:t>Docker, Docker Compose, Linux/WSL2 (Air-gapped on-premise execution)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4759758"/>
                  </a:ext>
                </a:extLst>
              </a:tr>
              <a:tr h="596996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Times New Roman"/>
                        </a:defRPr>
                      </a:pPr>
                      <a:r>
                        <a:t>Backend Web 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latin typeface="Times New Roman"/>
                        </a:defRPr>
                      </a:pPr>
                      <a:r>
                        <a:t>FastAPI, Uvicorn, Python 3.11 (Async ASGI, SSE streaming)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855105"/>
                  </a:ext>
                </a:extLst>
              </a:tr>
              <a:tr h="596996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Times New Roman"/>
                        </a:defRPr>
                      </a:pPr>
                      <a:r>
                        <a:t>Speech Recognition (STT)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latin typeface="Times New Roman"/>
                        </a:defRPr>
                      </a:pPr>
                      <a:r>
                        <a:t>Faster-Whisper (small.en, CTranslate2, GPU/CPU, Silero VAD)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0277724"/>
                  </a:ext>
                </a:extLst>
              </a:tr>
              <a:tr h="596996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Times New Roman"/>
                        </a:defRPr>
                      </a:pPr>
                      <a:r>
                        <a:t>Local &amp; Cloud LLMs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latin typeface="Times New Roman"/>
                        </a:defRPr>
                      </a:pPr>
                      <a:r>
                        <a:t>Ollama (Qwen 3.8B) / Groq API (Llama 3.1 8B, OpenAI-compatible)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202212"/>
                  </a:ext>
                </a:extLst>
              </a:tr>
              <a:tr h="596996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Times New Roman"/>
                        </a:defRPr>
                      </a:pPr>
                      <a:r>
                        <a:t>Speech Synthesis (TTS)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latin typeface="Times New Roman"/>
                        </a:defRPr>
                      </a:pPr>
                      <a:r>
                        <a:t>Piper ONNX (en_US-lessac-medium) + Windows SAPI5 (100% offline)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0701719"/>
                  </a:ext>
                </a:extLst>
              </a:tr>
              <a:tr h="596996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Times New Roman"/>
                        </a:defRPr>
                      </a:pPr>
                      <a:r>
                        <a:t>Quantum 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latin typeface="Times New Roman"/>
                        </a:defRPr>
                      </a:pPr>
                      <a:r>
                        <a:t>IBM Qiskit 1.0+, Qiskit Optimization, PennyLane 0.44+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7220578"/>
                  </a:ext>
                </a:extLst>
              </a:tr>
              <a:tr h="1044743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Times New Roman"/>
                        </a:defRPr>
                      </a:pPr>
                      <a:r>
                        <a:t>Knowledge Base Retrieval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latin typeface="Times New Roman"/>
                        </a:defRPr>
                      </a:pPr>
                      <a:r>
                        <a:t>In-Memory BM25 Ranker, pypdf, python-docx (&lt;0.5ms latency)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7299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58979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31831-D2CA-DCF3-EA83-4F0FADF85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BEC4B-480E-BE37-BF94-ED133D4CE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dirty="0"/>
              <a:t>Benchmark Dataset Used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EE9E5E0-7EEA-5D1A-4D73-E5D8C7553AF3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D0B08C3-20B8-AE30-2432-F5F3B7565460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9561B7EC-5BCE-FE53-996B-D401C8B3369B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AC4B87E-C3A5-70C3-B16E-6CF0D6060B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32</a:t>
            </a:fld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61C84172-9E08-D9C6-E8BE-E6367BD43A16}"/>
              </a:ext>
            </a:extLst>
          </p:cNvPr>
          <p:cNvSpPr/>
          <p:nvPr/>
        </p:nvSpPr>
        <p:spPr>
          <a:xfrm>
            <a:off x="-1" y="1157351"/>
            <a:ext cx="2299448" cy="5304409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Literature</a:t>
            </a:r>
            <a:r>
              <a:rPr lang="en-IN" sz="1500" spc="-5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10" dirty="0">
                <a:solidFill>
                  <a:schemeClr val="bg1"/>
                </a:solidFill>
                <a:latin typeface="Cambria"/>
                <a:cs typeface="Cambria"/>
              </a:rPr>
              <a:t>Survey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Research</a:t>
            </a:r>
            <a:r>
              <a:rPr lang="en-IN" sz="1500" spc="-7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25" dirty="0">
                <a:solidFill>
                  <a:schemeClr val="bg1"/>
                </a:solidFill>
                <a:latin typeface="Cambria"/>
                <a:cs typeface="Cambria"/>
              </a:rPr>
              <a:t>Gap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Problem Identification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 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Evaluation of design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</a:t>
            </a:r>
            <a:endParaRPr lang="en-IN" sz="1500" dirty="0">
              <a:solidFill>
                <a:srgbClr val="FFC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and Analysis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D2A95F1-C986-D734-1136-A5111457FA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544267"/>
              </p:ext>
            </p:extLst>
          </p:nvPr>
        </p:nvGraphicFramePr>
        <p:xfrm>
          <a:off x="2299446" y="1190053"/>
          <a:ext cx="9892554" cy="258532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4946277">
                  <a:extLst>
                    <a:ext uri="{9D8B030D-6E8A-4147-A177-3AD203B41FA5}">
                      <a16:colId xmlns:a16="http://schemas.microsoft.com/office/drawing/2014/main" val="2698180237"/>
                    </a:ext>
                  </a:extLst>
                </a:gridCol>
                <a:gridCol w="4946277">
                  <a:extLst>
                    <a:ext uri="{9D8B030D-6E8A-4147-A177-3AD203B41FA5}">
                      <a16:colId xmlns:a16="http://schemas.microsoft.com/office/drawing/2014/main" val="1332438195"/>
                    </a:ext>
                  </a:extLst>
                </a:gridCol>
              </a:tblGrid>
              <a:tr h="323165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Times New Roman"/>
                        </a:defRPr>
                      </a:pPr>
                      <a:r>
                        <a:t>Dataset Property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Times New Roman"/>
                        </a:defRPr>
                      </a:pPr>
                      <a:r>
                        <a:t>Value / Source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1630913"/>
                  </a:ext>
                </a:extLst>
              </a:tr>
              <a:tr h="323165">
                <a:tc>
                  <a:txBody>
                    <a:bodyPr/>
                    <a:lstStyle/>
                    <a:p>
                      <a:pPr algn="l">
                        <a:defRPr sz="950" b="1">
                          <a:latin typeface="Times New Roman"/>
                        </a:defRPr>
                      </a:pPr>
                      <a:r>
                        <a:t>Speech &amp; Audio Benchmarks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LibriSpeech Clean/Other + Real-world Conversational Audio (16kHz WAV)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720307"/>
                  </a:ext>
                </a:extLst>
              </a:tr>
              <a:tr h="323165">
                <a:tc>
                  <a:txBody>
                    <a:bodyPr/>
                    <a:lstStyle/>
                    <a:p>
                      <a:pPr algn="l">
                        <a:defRPr sz="950" b="1">
                          <a:latin typeface="Times New Roman"/>
                        </a:defRPr>
                      </a:pPr>
                      <a:r>
                        <a:t>Knowledge Base Corpus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Enterprise Resort &amp; Clinic Guide (8 chunks, ~6,400 chars)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3731020"/>
                  </a:ext>
                </a:extLst>
              </a:tr>
              <a:tr h="323165">
                <a:tc>
                  <a:txBody>
                    <a:bodyPr/>
                    <a:lstStyle/>
                    <a:p>
                      <a:pPr algn="l">
                        <a:defRPr sz="950" b="1">
                          <a:latin typeface="Times New Roman"/>
                        </a:defRPr>
                      </a:pPr>
                      <a:r>
                        <a:t>Prompt Optimization Benchmark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Multi-Domain Prompt Evaluation Suite (15 system prompt configurations)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727209"/>
                  </a:ext>
                </a:extLst>
              </a:tr>
              <a:tr h="323165">
                <a:tc>
                  <a:txBody>
                    <a:bodyPr/>
                    <a:lstStyle/>
                    <a:p>
                      <a:pPr algn="l">
                        <a:defRPr sz="950" b="1">
                          <a:latin typeface="Times New Roman"/>
                        </a:defRPr>
                      </a:pPr>
                      <a:r>
                        <a:t>Schedule Conflict Test Matrix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Synthetic Multi-Slot Overlapping Booking Matrix (n = 4 to 8 bookings)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9071252"/>
                  </a:ext>
                </a:extLst>
              </a:tr>
              <a:tr h="323165">
                <a:tc>
                  <a:txBody>
                    <a:bodyPr/>
                    <a:lstStyle/>
                    <a:p>
                      <a:pPr algn="l">
                        <a:defRPr sz="950" b="1">
                          <a:latin typeface="Times New Roman"/>
                        </a:defRPr>
                      </a:pPr>
                      <a:r>
                        <a:t>VAD &amp; Interruption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Real-time speech dialogues with intentional acoustic barge-in overlaps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5571683"/>
                  </a:ext>
                </a:extLst>
              </a:tr>
              <a:tr h="323165">
                <a:tc>
                  <a:txBody>
                    <a:bodyPr/>
                    <a:lstStyle/>
                    <a:p>
                      <a:pPr algn="l">
                        <a:defRPr sz="950" b="1">
                          <a:latin typeface="Times New Roman"/>
                        </a:defRPr>
                      </a:pPr>
                      <a:r>
                        <a:t>Audio Sampling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16 kHz Mono PCM, 16-bit depth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8876740"/>
                  </a:ext>
                </a:extLst>
              </a:tr>
              <a:tr h="323165">
                <a:tc>
                  <a:txBody>
                    <a:bodyPr/>
                    <a:lstStyle/>
                    <a:p>
                      <a:pPr algn="l">
                        <a:defRPr sz="950" b="1">
                          <a:latin typeface="Times New Roman"/>
                        </a:defRPr>
                      </a:pPr>
                      <a:r>
                        <a:t>Stopword &amp; Tokenizer 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65 domain stopwords, regex alphanumeric tokenizer (length &gt;= 3)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302834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67D98C6-0748-515D-5406-D9C94079C25B}"/>
              </a:ext>
            </a:extLst>
          </p:cNvPr>
          <p:cNvSpPr txBox="1"/>
          <p:nvPr/>
        </p:nvSpPr>
        <p:spPr>
          <a:xfrm>
            <a:off x="2517658" y="4406506"/>
            <a:ext cx="348054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buNone/>
              <a:defRPr sz="1100" b="0">
                <a:latin typeface="Times New Roman"/>
              </a:defRPr>
            </a:pPr>
            <a:r>
              <a:t>Speech &amp; Audio Modalities</a:t>
            </a:r>
          </a:p>
          <a:p>
            <a:pPr>
              <a:spcAft>
                <a:spcPts val="400"/>
              </a:spcAft>
              <a:defRPr sz="1100" b="0">
                <a:latin typeface="Times New Roman"/>
              </a:defRPr>
            </a:pPr>
            <a:r>
              <a:t>• 16 kHz Mono PCM Audio Streams</a:t>
            </a:r>
          </a:p>
          <a:p>
            <a:pPr>
              <a:spcAft>
                <a:spcPts val="400"/>
              </a:spcAft>
              <a:defRPr sz="1100" b="0">
                <a:latin typeface="Times New Roman"/>
              </a:defRPr>
            </a:pPr>
            <a:r>
              <a:t>• Downsampled Web Audio in Browser</a:t>
            </a:r>
          </a:p>
          <a:p>
            <a:pPr>
              <a:spcAft>
                <a:spcPts val="400"/>
              </a:spcAft>
              <a:defRPr sz="1100" b="0">
                <a:latin typeface="Times New Roman"/>
              </a:defRPr>
            </a:pPr>
            <a:r>
              <a:t>• Raw WAV Blobs for Local STT</a:t>
            </a:r>
          </a:p>
          <a:p>
            <a:pPr>
              <a:spcAft>
                <a:spcPts val="400"/>
              </a:spcAft>
              <a:defRPr sz="1100" b="0">
                <a:latin typeface="Times New Roman"/>
              </a:defRPr>
            </a:pPr>
            <a:r>
              <a:t>• Piper ONNX 22.05 kHz Neural Audio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699EB1-680B-77FC-8A52-501E4D298654}"/>
              </a:ext>
            </a:extLst>
          </p:cNvPr>
          <p:cNvSpPr txBox="1"/>
          <p:nvPr/>
        </p:nvSpPr>
        <p:spPr>
          <a:xfrm>
            <a:off x="6815621" y="4406506"/>
            <a:ext cx="33813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buNone/>
              <a:defRPr sz="1100" b="0">
                <a:latin typeface="Times New Roman"/>
              </a:defRPr>
            </a:pPr>
            <a:r>
              <a:t>Evaluation Metrics Used</a:t>
            </a:r>
          </a:p>
          <a:p>
            <a:pPr>
              <a:spcAft>
                <a:spcPts val="400"/>
              </a:spcAft>
              <a:defRPr sz="1100" b="0">
                <a:latin typeface="Times New Roman"/>
              </a:defRPr>
            </a:pPr>
            <a:r>
              <a:t>• Word Error Rate (WER) &amp; STT Latency</a:t>
            </a:r>
          </a:p>
          <a:p>
            <a:pPr>
              <a:spcAft>
                <a:spcPts val="400"/>
              </a:spcAft>
              <a:defRPr sz="1100" b="0">
                <a:latin typeface="Times New Roman"/>
              </a:defRPr>
            </a:pPr>
            <a:r>
              <a:t>• Time to First Token (TTFT)</a:t>
            </a:r>
          </a:p>
          <a:p>
            <a:pPr>
              <a:spcAft>
                <a:spcPts val="400"/>
              </a:spcAft>
              <a:defRPr sz="1100" b="0">
                <a:latin typeface="Times New Roman"/>
              </a:defRPr>
            </a:pPr>
            <a:r>
              <a:t>• BM25 Precision@1 &amp; Precision@3</a:t>
            </a:r>
          </a:p>
          <a:p>
            <a:pPr>
              <a:spcAft>
                <a:spcPts val="400"/>
              </a:spcAft>
              <a:defRPr sz="1100" b="0">
                <a:latin typeface="Times New Roman"/>
              </a:defRPr>
            </a:pPr>
            <a:r>
              <a:t>• QUBO Prompt Fitness Score</a:t>
            </a:r>
          </a:p>
          <a:p>
            <a:pPr>
              <a:spcAft>
                <a:spcPts val="400"/>
              </a:spcAft>
              <a:defRPr sz="1100" b="0">
                <a:latin typeface="Times New Roman"/>
              </a:defRPr>
            </a:pPr>
            <a:r>
              <a:t>• VQC Ground State Convergence</a:t>
            </a:r>
          </a:p>
        </p:txBody>
      </p:sp>
    </p:spTree>
    <p:extLst>
      <p:ext uri="{BB962C8B-B14F-4D97-AF65-F5344CB8AC3E}">
        <p14:creationId xmlns:p14="http://schemas.microsoft.com/office/powerpoint/2010/main" val="28179035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E05BB-FE1F-4900-66DD-992B506AC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5CD76-9273-14AD-EB38-B47699DBB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dirty="0"/>
              <a:t>Experimental Results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6CC089B-95EE-B52F-223A-8D9157E27226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34AD17D-EDE1-66E9-AE18-59013193D4F1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BB44485B-F457-18DE-941E-51D278F30A42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D19D9EA-6D1D-C216-9246-7F21C70F32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33</a:t>
            </a:fld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6F597C6F-CFDB-8EE3-0464-1DAE4EE10FAC}"/>
              </a:ext>
            </a:extLst>
          </p:cNvPr>
          <p:cNvSpPr/>
          <p:nvPr/>
        </p:nvSpPr>
        <p:spPr>
          <a:xfrm>
            <a:off x="-1" y="1157351"/>
            <a:ext cx="2299448" cy="5304409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Literature</a:t>
            </a:r>
            <a:r>
              <a:rPr lang="en-IN" sz="1500" spc="-5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10" dirty="0">
                <a:solidFill>
                  <a:schemeClr val="bg1"/>
                </a:solidFill>
                <a:latin typeface="Cambria"/>
                <a:cs typeface="Cambria"/>
              </a:rPr>
              <a:t>Survey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Research</a:t>
            </a:r>
            <a:r>
              <a:rPr lang="en-IN" sz="1500" spc="-7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25" dirty="0">
                <a:solidFill>
                  <a:schemeClr val="bg1"/>
                </a:solidFill>
                <a:latin typeface="Cambria"/>
                <a:cs typeface="Cambria"/>
              </a:rPr>
              <a:t>Gap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Problem Identification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 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Evaluation of design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</a:t>
            </a:r>
            <a:endParaRPr lang="en-IN" sz="1500" dirty="0">
              <a:solidFill>
                <a:srgbClr val="FFC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and Analysis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7449D9-C311-824D-9DCA-04ED168EEF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976100"/>
              </p:ext>
            </p:extLst>
          </p:nvPr>
        </p:nvGraphicFramePr>
        <p:xfrm>
          <a:off x="2299446" y="1680670"/>
          <a:ext cx="9892551" cy="1615885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2870440">
                  <a:extLst>
                    <a:ext uri="{9D8B030D-6E8A-4147-A177-3AD203B41FA5}">
                      <a16:colId xmlns:a16="http://schemas.microsoft.com/office/drawing/2014/main" val="274556144"/>
                    </a:ext>
                  </a:extLst>
                </a:gridCol>
                <a:gridCol w="2075835">
                  <a:extLst>
                    <a:ext uri="{9D8B030D-6E8A-4147-A177-3AD203B41FA5}">
                      <a16:colId xmlns:a16="http://schemas.microsoft.com/office/drawing/2014/main" val="1929515843"/>
                    </a:ext>
                  </a:extLst>
                </a:gridCol>
                <a:gridCol w="2473138">
                  <a:extLst>
                    <a:ext uri="{9D8B030D-6E8A-4147-A177-3AD203B41FA5}">
                      <a16:colId xmlns:a16="http://schemas.microsoft.com/office/drawing/2014/main" val="644976498"/>
                    </a:ext>
                  </a:extLst>
                </a:gridCol>
                <a:gridCol w="2473138">
                  <a:extLst>
                    <a:ext uri="{9D8B030D-6E8A-4147-A177-3AD203B41FA5}">
                      <a16:colId xmlns:a16="http://schemas.microsoft.com/office/drawing/2014/main" val="2475819444"/>
                    </a:ext>
                  </a:extLst>
                </a:gridCol>
              </a:tblGrid>
              <a:tr h="323177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Times New Roman"/>
                        </a:defRPr>
                      </a:pPr>
                      <a:r>
                        <a:t>Pipeline Stage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Times New Roman"/>
                        </a:defRPr>
                      </a:pPr>
                      <a:r>
                        <a:t>Target Latency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Times New Roman"/>
                        </a:defRPr>
                      </a:pPr>
                      <a:r>
                        <a:t>GPU Latency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Times New Roman"/>
                        </a:defRPr>
                      </a:pPr>
                      <a:r>
                        <a:t>CPU Latency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3818753"/>
                  </a:ext>
                </a:extLst>
              </a:tr>
              <a:tr h="323177">
                <a:tc>
                  <a:txBody>
                    <a:bodyPr/>
                    <a:lstStyle/>
                    <a:p>
                      <a:pPr algn="l">
                        <a:defRPr sz="950" b="1">
                          <a:latin typeface="Times New Roman"/>
                        </a:defRPr>
                      </a:pPr>
                      <a:r>
                        <a:t>Audio Preprocessing &amp; VAD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&lt; 20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8.4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12.1 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8062876"/>
                  </a:ext>
                </a:extLst>
              </a:tr>
              <a:tr h="323177">
                <a:tc>
                  <a:txBody>
                    <a:bodyPr/>
                    <a:lstStyle/>
                    <a:p>
                      <a:pPr algn="l">
                        <a:defRPr sz="950" b="1">
                          <a:latin typeface="Times New Roman"/>
                        </a:defRPr>
                      </a:pPr>
                      <a:r>
                        <a:t>STT (Faster-Whisper small.en)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&lt; 100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82.3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315.6 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5403428"/>
                  </a:ext>
                </a:extLst>
              </a:tr>
              <a:tr h="323177">
                <a:tc>
                  <a:txBody>
                    <a:bodyPr/>
                    <a:lstStyle/>
                    <a:p>
                      <a:pPr algn="l">
                        <a:defRPr sz="950" b="1">
                          <a:latin typeface="Times New Roman"/>
                        </a:defRPr>
                      </a:pPr>
                      <a:r>
                        <a:t>In-Memory BM25 Context RAG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&lt; 2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0.42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0.48 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4858398"/>
                  </a:ext>
                </a:extLst>
              </a:tr>
              <a:tr h="323177">
                <a:tc>
                  <a:txBody>
                    <a:bodyPr/>
                    <a:lstStyle/>
                    <a:p>
                      <a:pPr algn="l">
                        <a:defRPr sz="950" b="1">
                          <a:latin typeface="Times New Roman"/>
                        </a:defRPr>
                      </a:pPr>
                      <a:r>
                        <a:t>LLM TTFT (Groq / Ollama)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&lt; 800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420.0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680.0 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754253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59FB9E4-CEBC-4423-862B-373520BF4C43}"/>
              </a:ext>
            </a:extLst>
          </p:cNvPr>
          <p:cNvSpPr txBox="1"/>
          <p:nvPr/>
        </p:nvSpPr>
        <p:spPr>
          <a:xfrm>
            <a:off x="2639658" y="3977001"/>
            <a:ext cx="81045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buNone/>
              <a:defRPr sz="1150" b="0">
                <a:latin typeface="Times New Roman"/>
              </a:defRPr>
            </a:pPr>
            <a:r>
              <a:t>Key Observations</a:t>
            </a:r>
          </a:p>
          <a:p>
            <a:pPr>
              <a:spcAft>
                <a:spcPts val="400"/>
              </a:spcAft>
              <a:defRPr sz="1150" b="0">
                <a:latin typeface="Times New Roman"/>
              </a:defRPr>
            </a:pPr>
            <a:r>
              <a:t>• GPU acceleration yields a sub-700ms total conversational turn-around time, well below the human conversational pause threshold (~800ms).</a:t>
            </a:r>
          </a:p>
          <a:p>
            <a:pPr>
              <a:spcAft>
                <a:spcPts val="400"/>
              </a:spcAft>
              <a:defRPr sz="1150" b="0">
                <a:latin typeface="Times New Roman"/>
              </a:defRPr>
            </a:pPr>
            <a:r>
              <a:t>• In-memory BM25 retrieval introduces negligible overhead (&lt;0.5ms) compared to remote vector databases (which average 50-120ms).</a:t>
            </a:r>
          </a:p>
          <a:p>
            <a:pPr>
              <a:spcAft>
                <a:spcPts val="400"/>
              </a:spcAft>
              <a:defRPr sz="1150" b="0">
                <a:latin typeface="Times New Roman"/>
              </a:defRPr>
            </a:pPr>
            <a:r>
              <a:t>• Piper ONNX neural synthesis delivers natural human-like voice quality offline with zero cloud API costs.</a:t>
            </a:r>
          </a:p>
        </p:txBody>
      </p:sp>
    </p:spTree>
    <p:extLst>
      <p:ext uri="{BB962C8B-B14F-4D97-AF65-F5344CB8AC3E}">
        <p14:creationId xmlns:p14="http://schemas.microsoft.com/office/powerpoint/2010/main" val="4986061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BD77C-94BB-254B-10A9-ABD2F7601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FF007-C263-5480-4956-BC49BB045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dirty="0"/>
              <a:t>Existing System vs Proposed Design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870AE6F-9A58-3FBB-C116-FBF5AB77013D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FB602B2-F99A-E692-DCF6-1E88D6D1C80D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E6DB1071-6E95-E4FA-F0D9-C59F867787FD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0C12F4D-4826-7FD9-B28E-265111DF14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34</a:t>
            </a:fld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2889E9A1-88BA-8E76-E5FC-83181A60B6BE}"/>
              </a:ext>
            </a:extLst>
          </p:cNvPr>
          <p:cNvSpPr/>
          <p:nvPr/>
        </p:nvSpPr>
        <p:spPr>
          <a:xfrm>
            <a:off x="-1" y="1157351"/>
            <a:ext cx="2299448" cy="5304409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Literature</a:t>
            </a:r>
            <a:r>
              <a:rPr lang="en-IN" sz="1500" spc="-5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10" dirty="0">
                <a:solidFill>
                  <a:schemeClr val="bg1"/>
                </a:solidFill>
                <a:latin typeface="Cambria"/>
                <a:cs typeface="Cambria"/>
              </a:rPr>
              <a:t>Survey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Research</a:t>
            </a:r>
            <a:r>
              <a:rPr lang="en-IN" sz="1500" spc="-7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25" dirty="0">
                <a:solidFill>
                  <a:schemeClr val="bg1"/>
                </a:solidFill>
                <a:latin typeface="Cambria"/>
                <a:cs typeface="Cambria"/>
              </a:rPr>
              <a:t>Gap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Problem Identification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 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Evaluation of design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</a:t>
            </a:r>
            <a:endParaRPr lang="en-IN" sz="1500" dirty="0">
              <a:solidFill>
                <a:srgbClr val="FFC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and Analysis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3FAFE3-FB27-3D56-F36D-5DA270EDD6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292219"/>
              </p:ext>
            </p:extLst>
          </p:nvPr>
        </p:nvGraphicFramePr>
        <p:xfrm>
          <a:off x="2299446" y="1157350"/>
          <a:ext cx="9892552" cy="5154552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2473138">
                  <a:extLst>
                    <a:ext uri="{9D8B030D-6E8A-4147-A177-3AD203B41FA5}">
                      <a16:colId xmlns:a16="http://schemas.microsoft.com/office/drawing/2014/main" val="3806094331"/>
                    </a:ext>
                  </a:extLst>
                </a:gridCol>
                <a:gridCol w="2473138">
                  <a:extLst>
                    <a:ext uri="{9D8B030D-6E8A-4147-A177-3AD203B41FA5}">
                      <a16:colId xmlns:a16="http://schemas.microsoft.com/office/drawing/2014/main" val="673735678"/>
                    </a:ext>
                  </a:extLst>
                </a:gridCol>
                <a:gridCol w="2473138">
                  <a:extLst>
                    <a:ext uri="{9D8B030D-6E8A-4147-A177-3AD203B41FA5}">
                      <a16:colId xmlns:a16="http://schemas.microsoft.com/office/drawing/2014/main" val="1736492588"/>
                    </a:ext>
                  </a:extLst>
                </a:gridCol>
                <a:gridCol w="2473138">
                  <a:extLst>
                    <a:ext uri="{9D8B030D-6E8A-4147-A177-3AD203B41FA5}">
                      <a16:colId xmlns:a16="http://schemas.microsoft.com/office/drawing/2014/main" val="3747790629"/>
                    </a:ext>
                  </a:extLst>
                </a:gridCol>
              </a:tblGrid>
              <a:tr h="621888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Times New Roman"/>
                        </a:defRPr>
                      </a:pPr>
                      <a:r>
                        <a:t>Aspect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Times New Roman"/>
                        </a:defRPr>
                      </a:pPr>
                      <a:r>
                        <a:t>Existing Cloud Systems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Times New Roman"/>
                        </a:defRPr>
                      </a:pPr>
                      <a:r>
                        <a:t>Proposed Voice Agent Studio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Times New Roman"/>
                        </a:defRPr>
                      </a:pPr>
                      <a:r>
                        <a:t>Competitive Advantage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1281450014"/>
                  </a:ext>
                </a:extLst>
              </a:tr>
              <a:tr h="621888">
                <a:tc>
                  <a:txBody>
                    <a:bodyPr/>
                    <a:lstStyle/>
                    <a:p>
                      <a:pPr algn="l">
                        <a:defRPr sz="950" b="1">
                          <a:latin typeface="Times New Roman"/>
                        </a:defRPr>
                      </a:pPr>
                      <a:r>
                        <a:t>Deployment Model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100% Cloud SaaS (AWS/GCP)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On-Premise Docker Container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Complete isolation &amp; data sovereignty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559846690"/>
                  </a:ext>
                </a:extLst>
              </a:tr>
              <a:tr h="621888">
                <a:tc>
                  <a:txBody>
                    <a:bodyPr/>
                    <a:lstStyle/>
                    <a:p>
                      <a:pPr algn="l">
                        <a:defRPr sz="950" b="1">
                          <a:latin typeface="Times New Roman"/>
                        </a:defRPr>
                      </a:pPr>
                      <a:r>
                        <a:t>Data Privacy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Transmits audio to 3rd party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Zero external data egress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HIPAA, GDPR, DPDP compliance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3217256824"/>
                  </a:ext>
                </a:extLst>
              </a:tr>
              <a:tr h="621888">
                <a:tc>
                  <a:txBody>
                    <a:bodyPr/>
                    <a:lstStyle/>
                    <a:p>
                      <a:pPr algn="l">
                        <a:defRPr sz="950" b="1">
                          <a:latin typeface="Times New Roman"/>
                        </a:defRPr>
                      </a:pPr>
                      <a:r>
                        <a:t>Operational Cost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$0.05 to $0.15 per minute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$0.00 / min operational cost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100% cost reduction for high-volume use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3244046884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algn="l">
                        <a:defRPr sz="950" b="1">
                          <a:latin typeface="Times New Roman"/>
                        </a:defRPr>
                      </a:pPr>
                      <a:r>
                        <a:t>Speech Processing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Cloud Whisper + ElevenLabs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Local Faster-Whisper + Piper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Offline autonomy &amp; lower latency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3740791038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algn="l">
                        <a:defRPr sz="950" b="1">
                          <a:latin typeface="Times New Roman"/>
                        </a:defRPr>
                      </a:pPr>
                      <a:r>
                        <a:t>Prompt Optimization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Manual trial-and-error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IBM Qiskit QAOA / QUBO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Mathematical multi-objective tuning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2663750018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algn="l">
                        <a:defRPr sz="950" b="1">
                          <a:latin typeface="Times New Roman"/>
                        </a:defRPr>
                      </a:pPr>
                      <a:r>
                        <a:t>Turn-Taking &amp; Barge-In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Rigid silence timers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Adaptive VAD + 2-word gate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Natural interruptibility without echo bleed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16511828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43480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61F84-5702-DEC0-A00C-2613D11DA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95FA-53C7-907F-3579-59072BB6A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dirty="0"/>
              <a:t>Existing System vs Proposed Design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B932BC2-F291-4217-7392-089F65858226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394425F-C638-6403-4C72-8ABCD3719136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AC8C93C1-FD14-E770-2AE6-B86038B0DBFC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067DA16-D5B4-52AF-3EE8-CDBC25E3BD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35</a:t>
            </a:fld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77D73AF3-1E60-4439-14B0-77CEA588994D}"/>
              </a:ext>
            </a:extLst>
          </p:cNvPr>
          <p:cNvSpPr/>
          <p:nvPr/>
        </p:nvSpPr>
        <p:spPr>
          <a:xfrm>
            <a:off x="-1" y="1157351"/>
            <a:ext cx="2299448" cy="5304409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Literature</a:t>
            </a:r>
            <a:r>
              <a:rPr lang="en-IN" sz="1500" spc="-5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10" dirty="0">
                <a:solidFill>
                  <a:schemeClr val="bg1"/>
                </a:solidFill>
                <a:latin typeface="Cambria"/>
                <a:cs typeface="Cambria"/>
              </a:rPr>
              <a:t>Survey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Research</a:t>
            </a:r>
            <a:r>
              <a:rPr lang="en-IN" sz="1500" spc="-7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25" dirty="0">
                <a:solidFill>
                  <a:schemeClr val="bg1"/>
                </a:solidFill>
                <a:latin typeface="Cambria"/>
                <a:cs typeface="Cambria"/>
              </a:rPr>
              <a:t>Gap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Problem Identification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 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Evaluation of design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</a:t>
            </a: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and Analysis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49959E9-C36B-6D57-98CE-B3D3796796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714469"/>
              </p:ext>
            </p:extLst>
          </p:nvPr>
        </p:nvGraphicFramePr>
        <p:xfrm>
          <a:off x="2299446" y="1177436"/>
          <a:ext cx="9892554" cy="5134464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759936">
                  <a:extLst>
                    <a:ext uri="{9D8B030D-6E8A-4147-A177-3AD203B41FA5}">
                      <a16:colId xmlns:a16="http://schemas.microsoft.com/office/drawing/2014/main" val="3463975949"/>
                    </a:ext>
                  </a:extLst>
                </a:gridCol>
                <a:gridCol w="3990109">
                  <a:extLst>
                    <a:ext uri="{9D8B030D-6E8A-4147-A177-3AD203B41FA5}">
                      <a16:colId xmlns:a16="http://schemas.microsoft.com/office/drawing/2014/main" val="1067564536"/>
                    </a:ext>
                  </a:extLst>
                </a:gridCol>
                <a:gridCol w="4142509">
                  <a:extLst>
                    <a:ext uri="{9D8B030D-6E8A-4147-A177-3AD203B41FA5}">
                      <a16:colId xmlns:a16="http://schemas.microsoft.com/office/drawing/2014/main" val="727190393"/>
                    </a:ext>
                  </a:extLst>
                </a:gridCol>
              </a:tblGrid>
              <a:tr h="402703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Times New Roman"/>
                        </a:defRPr>
                      </a:pPr>
                      <a:r>
                        <a:t>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Times New Roman"/>
                        </a:defRPr>
                      </a:pPr>
                      <a:r>
                        <a:t>Pros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Times New Roman"/>
                        </a:defRPr>
                      </a:pPr>
                      <a:r>
                        <a:t>Cons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3303667"/>
                  </a:ext>
                </a:extLst>
              </a:tr>
              <a:tr h="1912840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Times New Roman"/>
                        </a:defRPr>
                      </a:pPr>
                      <a:r>
                        <a:t>Existing Cloud SaaS</a:t>
                      </a:r>
                    </a:p>
                    <a:p>
                      <a:pPr algn="l">
                        <a:defRPr sz="1000" b="1">
                          <a:latin typeface="Times New Roman"/>
                        </a:defRPr>
                      </a:pPr>
                      <a:r>
                        <a:t>(Vapi / Retell / Bland)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• Rapid initial deployment on cloud</a:t>
                      </a:r>
                    </a:p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• High transcription accuracy on fast fiber internet</a:t>
                      </a:r>
                    </a:p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• Fully managed infrastructure without local GPU requirement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• Recurring per-minute fees ($300–$900/month for 100 hours)</a:t>
                      </a:r>
                    </a:p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• Severe privacy vulnerabilities via 3rd-party audio egress</a:t>
                      </a:r>
                    </a:p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• High turnaround latency (1500–3500ms) over public internet</a:t>
                      </a:r>
                    </a:p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• Vulnerable to cloud service outages and API rate limits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2419649"/>
                  </a:ext>
                </a:extLst>
              </a:tr>
              <a:tr h="2818921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Times New Roman"/>
                        </a:defRPr>
                      </a:pPr>
                      <a:r>
                        <a:t>Proposed Voice Agent Studio</a:t>
                      </a:r>
                    </a:p>
                    <a:p>
                      <a:pPr algn="l">
                        <a:defRPr sz="1000" b="1">
                          <a:latin typeface="Times New Roman"/>
                        </a:defRPr>
                      </a:pPr>
                      <a:r>
                        <a:t>(Local &amp; Dockerized)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• Zero operational cost ($0.00/min) using open-source models</a:t>
                      </a:r>
                    </a:p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• 100% air-gapped on-premise privacy with zero data egress</a:t>
                      </a:r>
                    </a:p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• Sub-700ms end-to-end turnaround time on commodity hardware</a:t>
                      </a:r>
                    </a:p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• Hybrid Quantum QAOA / QUBO prompt fitness optimization (+78.9%)</a:t>
                      </a:r>
                    </a:p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• Built-in calendar integration (Google Calendar &amp; RFC 5545 ICS)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• Requires local compute resources (NVIDIA GPU or modern multi-core CPU)</a:t>
                      </a:r>
                    </a:p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• Maximum speech model quality bounded by local open-weight models</a:t>
                      </a:r>
                    </a:p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• Initial container image download (~4GB) during setup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694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73018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88242-DFDE-BB80-2E2B-B75A4B443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FE234-245B-2051-9C52-3456EE1F8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>
              <a:defRPr>
                <a:latin typeface="Times New Roman"/>
              </a:defRPr>
            </a:pPr>
            <a:r>
              <a:t>System-Level Result Analysis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B204AF6-4C41-864D-0001-D4DE6DA2CF28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6896DC7-1681-E586-2CDC-467EF278326F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B2A169C8-668B-3171-628C-AD948351D599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D783575-3685-9553-789C-856296A2BE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36</a:t>
            </a:fld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D0041849-C1C9-A7F7-48BD-B41D7F7D9111}"/>
              </a:ext>
            </a:extLst>
          </p:cNvPr>
          <p:cNvSpPr/>
          <p:nvPr/>
        </p:nvSpPr>
        <p:spPr>
          <a:xfrm>
            <a:off x="-1" y="1157351"/>
            <a:ext cx="2299448" cy="5304409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Literature</a:t>
            </a:r>
            <a:r>
              <a:rPr lang="en-IN" sz="1500" spc="-5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10" dirty="0">
                <a:solidFill>
                  <a:schemeClr val="bg1"/>
                </a:solidFill>
                <a:latin typeface="Cambria"/>
                <a:cs typeface="Cambria"/>
              </a:rPr>
              <a:t>Survey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Research</a:t>
            </a:r>
            <a:r>
              <a:rPr lang="en-IN" sz="1500" spc="-7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25" dirty="0">
                <a:solidFill>
                  <a:schemeClr val="bg1"/>
                </a:solidFill>
                <a:latin typeface="Cambria"/>
                <a:cs typeface="Cambria"/>
              </a:rPr>
              <a:t>Gap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Problem Identification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 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Evaluation of design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</a:t>
            </a: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and Analysis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72D6CAB-2614-217E-E73A-57880FB918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2684469"/>
              </p:ext>
            </p:extLst>
          </p:nvPr>
        </p:nvGraphicFramePr>
        <p:xfrm>
          <a:off x="2573767" y="1675240"/>
          <a:ext cx="9190470" cy="118872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2455433">
                  <a:extLst>
                    <a:ext uri="{9D8B030D-6E8A-4147-A177-3AD203B41FA5}">
                      <a16:colId xmlns:a16="http://schemas.microsoft.com/office/drawing/2014/main" val="1128811209"/>
                    </a:ext>
                  </a:extLst>
                </a:gridCol>
                <a:gridCol w="1220755">
                  <a:extLst>
                    <a:ext uri="{9D8B030D-6E8A-4147-A177-3AD203B41FA5}">
                      <a16:colId xmlns:a16="http://schemas.microsoft.com/office/drawing/2014/main" val="599816303"/>
                    </a:ext>
                  </a:extLst>
                </a:gridCol>
                <a:gridCol w="1838094">
                  <a:extLst>
                    <a:ext uri="{9D8B030D-6E8A-4147-A177-3AD203B41FA5}">
                      <a16:colId xmlns:a16="http://schemas.microsoft.com/office/drawing/2014/main" val="3480980583"/>
                    </a:ext>
                  </a:extLst>
                </a:gridCol>
                <a:gridCol w="1838094">
                  <a:extLst>
                    <a:ext uri="{9D8B030D-6E8A-4147-A177-3AD203B41FA5}">
                      <a16:colId xmlns:a16="http://schemas.microsoft.com/office/drawing/2014/main" val="3366365427"/>
                    </a:ext>
                  </a:extLst>
                </a:gridCol>
                <a:gridCol w="1838094">
                  <a:extLst>
                    <a:ext uri="{9D8B030D-6E8A-4147-A177-3AD203B41FA5}">
                      <a16:colId xmlns:a16="http://schemas.microsoft.com/office/drawing/2014/main" val="40432073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Times New Roman"/>
                        </a:defRPr>
                      </a:pPr>
                      <a:r>
                        <a:t>Scenario / Utterance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Times New Roman"/>
                        </a:defRPr>
                      </a:pPr>
                      <a:r>
                        <a:t>STT Latency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Times New Roman"/>
                        </a:defRPr>
                      </a:pPr>
                      <a:r>
                        <a:t>RAG Lookup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Times New Roman"/>
                        </a:defRPr>
                      </a:pPr>
                      <a:r>
                        <a:t>LLM Response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Times New Roman"/>
                        </a:defRPr>
                      </a:pPr>
                      <a:r>
                        <a:t>Total Turnaround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0829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950" b="1">
                          <a:latin typeface="Times New Roman"/>
                        </a:defRPr>
                      </a:pPr>
                      <a:r>
                        <a:t>Simple Greeting ('Hello')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68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0.0 ms (No KB)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280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488 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9810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950" b="1">
                          <a:latin typeface="Times New Roman"/>
                        </a:defRPr>
                      </a:pPr>
                      <a:r>
                        <a:t>Domain Query ('Room rates?')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89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0.4 ms (BM25)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440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721 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2216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950" b="1">
                          <a:latin typeface="Times New Roman"/>
                        </a:defRPr>
                      </a:pPr>
                      <a:r>
                        <a:t>Booking Intent ('Book 7pm')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95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0.3 ms (BM25)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510 ms (Tool)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815 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7366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950" b="1">
                          <a:latin typeface="Times New Roman"/>
                        </a:defRPr>
                      </a:pPr>
                      <a:r>
                        <a:t>User Barge-In (Interruption)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54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0.0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12 ms (Cancel)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/>
                        </a:defRPr>
                      </a:pPr>
                      <a:r>
                        <a:t>226 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664943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6B355C0-2D2B-0B12-A133-E6A9098B1E5A}"/>
              </a:ext>
            </a:extLst>
          </p:cNvPr>
          <p:cNvSpPr txBox="1"/>
          <p:nvPr/>
        </p:nvSpPr>
        <p:spPr>
          <a:xfrm>
            <a:off x="2573766" y="3968994"/>
            <a:ext cx="903911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buNone/>
              <a:defRPr sz="1150" b="0">
                <a:latin typeface="Times New Roman"/>
              </a:defRPr>
            </a:pPr>
            <a:r>
              <a:t>Key Observations: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1150" b="0">
                <a:latin typeface="Times New Roman"/>
              </a:defRPr>
            </a:pPr>
            <a:r>
              <a:t>• Barge-in cancellation terminates TTS playback within 12 ms of detecting 2 words of user speech, completely eliminating audio overlap.</a:t>
            </a:r>
          </a:p>
          <a:p>
            <a:pPr>
              <a:spcAft>
                <a:spcPts val="400"/>
              </a:spcAft>
              <a:defRPr sz="1150" b="0">
                <a:latin typeface="Times New Roman"/>
              </a:defRPr>
            </a:pPr>
            <a:r>
              <a:t>• In-memory BM25 retrieval incurs less than 0.5 ms overhead for domain grounding.</a:t>
            </a:r>
          </a:p>
          <a:p>
            <a:pPr>
              <a:spcAft>
                <a:spcPts val="400"/>
              </a:spcAft>
              <a:defRPr sz="1150" b="0">
                <a:latin typeface="Times New Roman"/>
              </a:defRPr>
            </a:pPr>
            <a:r>
              <a:t>• Structured tool execution (save_booking) reliably validates and commits appointments in under 820 ms.</a:t>
            </a:r>
          </a:p>
        </p:txBody>
      </p:sp>
    </p:spTree>
    <p:extLst>
      <p:ext uri="{BB962C8B-B14F-4D97-AF65-F5344CB8AC3E}">
        <p14:creationId xmlns:p14="http://schemas.microsoft.com/office/powerpoint/2010/main" val="27693483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91C53-D27D-C0C8-D250-E3E9EA615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4B361-5F8A-1619-3058-ADAF15ECB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dirty="0"/>
              <a:t>Model Result Analysis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917A1BC-782A-A510-AF37-B033CEBF530B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1725B19-629B-9EED-D3F3-556C9C71A140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4675D7F1-CC7F-075A-3385-A754EB5DE516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5033BA-1535-36E9-2696-084670B430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37</a:t>
            </a:fld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B5058003-9922-F9C8-0F79-B0CC7D4C5F6E}"/>
              </a:ext>
            </a:extLst>
          </p:cNvPr>
          <p:cNvSpPr/>
          <p:nvPr/>
        </p:nvSpPr>
        <p:spPr>
          <a:xfrm>
            <a:off x="-1" y="1157351"/>
            <a:ext cx="2299448" cy="5304409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Literature</a:t>
            </a:r>
            <a:r>
              <a:rPr lang="en-IN" sz="1500" spc="-5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10" dirty="0">
                <a:solidFill>
                  <a:schemeClr val="bg1"/>
                </a:solidFill>
                <a:latin typeface="Cambria"/>
                <a:cs typeface="Cambria"/>
              </a:rPr>
              <a:t>Survey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Research</a:t>
            </a:r>
            <a:r>
              <a:rPr lang="en-IN" sz="1500" spc="-7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25" dirty="0">
                <a:solidFill>
                  <a:schemeClr val="bg1"/>
                </a:solidFill>
                <a:latin typeface="Cambria"/>
                <a:cs typeface="Cambria"/>
              </a:rPr>
              <a:t>Gap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Problem Identification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 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Evaluation of design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</a:t>
            </a: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and Analysis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E6AF14-DA8D-3E86-6126-8285D695C7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78"/>
          <a:stretch>
            <a:fillRect/>
          </a:stretch>
        </p:blipFill>
        <p:spPr>
          <a:xfrm>
            <a:off x="2281820" y="1110079"/>
            <a:ext cx="9910180" cy="5822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6343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F01B6-ED24-475C-74E9-43D3578AA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A032B-7374-32D1-8277-EFBC04593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dirty="0">
                <a:solidFill>
                  <a:srgbClr val="B90F50"/>
                </a:solidFill>
                <a:latin typeface="Cambria"/>
                <a:ea typeface="Cambria"/>
                <a:sym typeface="+mn-ea"/>
              </a:rPr>
              <a:t>Gantt Chart</a:t>
            </a:r>
            <a:endParaRPr lang="en-IN" sz="3200" b="1" spc="-35" dirty="0">
              <a:latin typeface="Cambria" panose="02040503050406030204" pitchFamily="18" charset="0"/>
              <a:ea typeface="Cambria" panose="02040503050406030204" pitchFamily="18" charset="0"/>
              <a:cs typeface="Times New Roman" panose="02020503050405090304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3CD2223-5A97-FB38-7E08-578DE8039937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D6C0C92-8726-88DA-D3A7-9EC74B4BB1AC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6419B098-FB6A-B4AF-B814-F3E636898D18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DDB51D5-25EA-1817-A595-5E984D86E3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38</a:t>
            </a:fld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7F2C1C15-4092-6C00-10A7-6492953E21DB}"/>
              </a:ext>
            </a:extLst>
          </p:cNvPr>
          <p:cNvSpPr/>
          <p:nvPr/>
        </p:nvSpPr>
        <p:spPr>
          <a:xfrm>
            <a:off x="-1" y="1157351"/>
            <a:ext cx="2165680" cy="5304409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Literature</a:t>
            </a:r>
            <a:r>
              <a:rPr lang="en-IN" sz="1500" spc="-5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10" dirty="0">
                <a:solidFill>
                  <a:schemeClr val="bg1"/>
                </a:solidFill>
                <a:latin typeface="Cambria"/>
                <a:cs typeface="Cambria"/>
              </a:rPr>
              <a:t>Survey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Research</a:t>
            </a:r>
            <a:r>
              <a:rPr lang="en-IN" sz="1500" spc="-7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25" dirty="0">
                <a:solidFill>
                  <a:schemeClr val="bg1"/>
                </a:solidFill>
                <a:latin typeface="Cambria"/>
                <a:cs typeface="Cambria"/>
              </a:rPr>
              <a:t>Gap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Problem Identification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 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Evaluation of design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</a:t>
            </a: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and Analysis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32BDCA-A19E-F6B2-E1B8-6B91A2F5E9C2}"/>
              </a:ext>
            </a:extLst>
          </p:cNvPr>
          <p:cNvSpPr txBox="1"/>
          <p:nvPr/>
        </p:nvSpPr>
        <p:spPr>
          <a:xfrm>
            <a:off x="3447231" y="1378400"/>
            <a:ext cx="61184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1">
                <a:latin typeface="Times New Roman"/>
              </a:defRPr>
            </a:pPr>
            <a:r>
              <a:rPr dirty="0"/>
              <a:t>Proposed Time Line For the Events in Project Phase 1 - Voice Agent Studio</a:t>
            </a:r>
            <a:endParaRPr lang="en-IN" sz="2000" dirty="0">
              <a:latin typeface="Times New Roman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7D4C0F-DB45-FBEE-9AD7-7912A1C88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3047" y="2087764"/>
            <a:ext cx="9731583" cy="268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4183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C0848-D211-C312-3C00-9885C67CA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7EBC5-0BF6-E340-9AD8-B4CAB8C26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spc="-35" dirty="0">
                <a:solidFill>
                  <a:srgbClr val="B90F50"/>
                </a:solidFill>
                <a:latin typeface="Cambria"/>
                <a:ea typeface="Cambria"/>
                <a:cs typeface="Times New Roman" panose="02020503050405090304"/>
                <a:sym typeface="+mn-ea"/>
              </a:rPr>
              <a:t>References</a:t>
            </a:r>
            <a:endParaRPr lang="en-IN" sz="3200" b="1" spc="-35" dirty="0">
              <a:latin typeface="Cambria" panose="02040503050406030204" pitchFamily="18" charset="0"/>
              <a:ea typeface="Cambria" panose="02040503050406030204" pitchFamily="18" charset="0"/>
              <a:cs typeface="Times New Roman" panose="02020503050405090304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702816A-F9B8-DF89-484A-0679B876B907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A468A20-CD46-AF80-6AE0-AAFA4EB2FF35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1C303CC2-72B5-4A9D-E828-910737106F21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2AB019-E538-CEB3-4299-1E0E7B26C7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39</a:t>
            </a:fld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3B2CFA75-DE92-B700-1032-016E55E1F79F}"/>
              </a:ext>
            </a:extLst>
          </p:cNvPr>
          <p:cNvSpPr/>
          <p:nvPr/>
        </p:nvSpPr>
        <p:spPr>
          <a:xfrm>
            <a:off x="-1" y="1157351"/>
            <a:ext cx="2165680" cy="5304409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Literature</a:t>
            </a:r>
            <a:r>
              <a:rPr lang="en-IN" sz="1500" spc="-5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10" dirty="0">
                <a:solidFill>
                  <a:schemeClr val="bg1"/>
                </a:solidFill>
                <a:latin typeface="Cambria"/>
                <a:cs typeface="Cambria"/>
              </a:rPr>
              <a:t>Survey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Research</a:t>
            </a:r>
            <a:r>
              <a:rPr lang="en-IN" sz="1500" spc="-7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25" dirty="0">
                <a:solidFill>
                  <a:schemeClr val="bg1"/>
                </a:solidFill>
                <a:latin typeface="Cambria"/>
                <a:cs typeface="Cambria"/>
              </a:rPr>
              <a:t>Gap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Problem Identification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 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Evaluation of design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</a:t>
            </a: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and Analysis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1DD85A-262B-2DA6-C9E7-029BE922A3EC}"/>
              </a:ext>
            </a:extLst>
          </p:cNvPr>
          <p:cNvSpPr txBox="1"/>
          <p:nvPr/>
        </p:nvSpPr>
        <p:spPr>
          <a:xfrm>
            <a:off x="2333960" y="1213008"/>
            <a:ext cx="9430276" cy="445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Aft>
                <a:spcPts val="400"/>
              </a:spcAft>
              <a:buClr>
                <a:schemeClr val="tx1"/>
              </a:buClr>
              <a:buSzPct val="100000"/>
              <a:defRPr sz="1050" b="0">
                <a:latin typeface="Times New Roman"/>
              </a:defRPr>
            </a:pPr>
            <a:r>
              <a:rPr sz="1050" dirty="0"/>
              <a:t>1. Abbasian, M., Azimi, I., Rahmani, A. M., &amp; Jain, R. (2025). Conversational health agents: A personalized large language model-powered agent framework. JAMIA Open, 8(4), ooaf067. https://doi.org/10.1093/jamiaopen/ooaf067</a:t>
            </a:r>
            <a:endParaRPr lang="en-US" sz="10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1050" b="0">
                <a:latin typeface="Times New Roman"/>
              </a:defRPr>
            </a:pPr>
            <a:r>
              <a:rPr sz="1050" dirty="0"/>
              <a:t>2. Xu, Y., Zhuang, Y., Liu, X., Zhang, T., Xiao, B., Xu, X., Jiang, D., Wang, J., &amp; Hu, H. (2026). LLM agents security duality: A comprehensive survey of self-security and empowered cybersecurity. Artificial Intelligence Review, 59(8), Article 174. https://doi.org/10.1007/s10462-026-11563-0</a:t>
            </a:r>
          </a:p>
          <a:p>
            <a:pPr>
              <a:spcAft>
                <a:spcPts val="400"/>
              </a:spcAft>
              <a:defRPr sz="1050" b="0">
                <a:latin typeface="Times New Roman"/>
              </a:defRPr>
            </a:pPr>
            <a:r>
              <a:rPr sz="1050" dirty="0"/>
              <a:t>3. Furtado, L., et al. (2025). Assessing the user experience of an LLM-based conversational agent for older adults. Journal of Healthcare Informatics Research, 10(1), 116–153. https://doi.org/10.1007/s41666-025-00217-5</a:t>
            </a:r>
          </a:p>
          <a:p>
            <a:pPr>
              <a:spcAft>
                <a:spcPts val="400"/>
              </a:spcAft>
              <a:defRPr sz="1050" b="0">
                <a:latin typeface="Times New Roman"/>
              </a:defRPr>
            </a:pPr>
            <a:r>
              <a:rPr sz="1050" dirty="0"/>
              <a:t>4. Ray, S., </a:t>
            </a:r>
            <a:r>
              <a:rPr sz="1050" dirty="0" err="1"/>
              <a:t>Dhandhania</a:t>
            </a:r>
            <a:r>
              <a:rPr sz="1050" dirty="0"/>
              <a:t>, K., Barres, V., &amp; Narasimhan, K. (2026). τ-Voice: Benchmarking full-duplex voice agents on real-world domains. </a:t>
            </a:r>
            <a:r>
              <a:rPr sz="1050" dirty="0" err="1"/>
              <a:t>ArXiv</a:t>
            </a:r>
            <a:r>
              <a:rPr sz="1050" dirty="0"/>
              <a:t>, abs/2603.13686. https://doi.org/10.48550/arxiv.2603.13686</a:t>
            </a:r>
          </a:p>
          <a:p>
            <a:pPr>
              <a:spcAft>
                <a:spcPts val="400"/>
              </a:spcAft>
              <a:defRPr sz="1050" b="0">
                <a:latin typeface="Times New Roman"/>
              </a:defRPr>
            </a:pPr>
            <a:r>
              <a:rPr sz="1050" dirty="0"/>
              <a:t>5. Bhatia, M. S., &amp; </a:t>
            </a:r>
            <a:r>
              <a:rPr sz="1050" dirty="0" err="1"/>
              <a:t>Khetarpaul</a:t>
            </a:r>
            <a:r>
              <a:rPr sz="1050" dirty="0"/>
              <a:t>, S. (2025). AI-enhanced bilingual banking assistant. Scientific Reports, 15, 37526. https://doi.org/10.1038/s41598-025-22569-z</a:t>
            </a:r>
          </a:p>
          <a:p>
            <a:pPr>
              <a:spcAft>
                <a:spcPts val="400"/>
              </a:spcAft>
              <a:defRPr sz="1050" b="0">
                <a:latin typeface="Times New Roman"/>
              </a:defRPr>
            </a:pPr>
            <a:r>
              <a:rPr sz="1050" dirty="0"/>
              <a:t>6. Adams, S. J., Acosta, J. N., &amp; </a:t>
            </a:r>
            <a:r>
              <a:rPr sz="1050" dirty="0" err="1"/>
              <a:t>Rajpurkar</a:t>
            </a:r>
            <a:r>
              <a:rPr sz="1050" dirty="0"/>
              <a:t>, P. (2025). How generative AI voice agents will transform medicine. </a:t>
            </a:r>
            <a:r>
              <a:rPr sz="1050" dirty="0" err="1"/>
              <a:t>npj</a:t>
            </a:r>
            <a:r>
              <a:rPr sz="1050" dirty="0"/>
              <a:t> Digital Medicine, 8, Article 353. </a:t>
            </a:r>
            <a:r>
              <a:rPr sz="1050" dirty="0">
                <a:hlinkClick r:id="rId3"/>
              </a:rPr>
              <a:t>https://doi.org/10.1038/s41746-025-01776-y</a:t>
            </a:r>
            <a:endParaRPr lang="en-US" sz="1050" dirty="0"/>
          </a:p>
          <a:p>
            <a:pPr algn="just">
              <a:spcAft>
                <a:spcPts val="400"/>
              </a:spcAft>
              <a:defRPr sz="1050" b="0">
                <a:latin typeface="Times New Roman"/>
              </a:defRPr>
            </a:pPr>
            <a:r>
              <a:rPr lang="en-IN" dirty="0"/>
              <a:t>7. Lima, R. et al. (2025). Cultural Feasibility of Conversational Robots for Dementia Care: A Mixed Methods Study. Journal of Participatory Medicine, 17, e55123. https://doi.org/10.2196/55123</a:t>
            </a:r>
          </a:p>
          <a:p>
            <a:pPr>
              <a:spcAft>
                <a:spcPts val="200"/>
              </a:spcAft>
              <a:defRPr sz="1050" b="0">
                <a:latin typeface="Times New Roman"/>
              </a:defRPr>
            </a:pPr>
            <a:r>
              <a:rPr lang="en-IN" dirty="0"/>
              <a:t>8. Yu, W., Wang, S., Yang, X., Chen, X., Tian, X., Zhang, J., Sun, G., Lu, L., Wang, Y., &amp; Zhang, C. (2025). SALMONN-omni: A Standalone Speech LLM without Codec Injection for Full-duplex Conversation. </a:t>
            </a:r>
            <a:r>
              <a:rPr lang="en-IN" dirty="0" err="1"/>
              <a:t>NeurIPS</a:t>
            </a:r>
            <a:r>
              <a:rPr lang="en-IN" dirty="0"/>
              <a:t> 2025. </a:t>
            </a:r>
            <a:r>
              <a:rPr lang="en-IN" dirty="0" err="1"/>
              <a:t>ArXiv</a:t>
            </a:r>
            <a:r>
              <a:rPr lang="en-IN" dirty="0"/>
              <a:t>, abs/2505.17060. https://doi.org/10.48550/arxiv.2505.17060</a:t>
            </a:r>
          </a:p>
          <a:p>
            <a:pPr>
              <a:spcAft>
                <a:spcPts val="200"/>
              </a:spcAft>
              <a:defRPr sz="1050" b="0">
                <a:latin typeface="Times New Roman"/>
              </a:defRPr>
            </a:pPr>
            <a:r>
              <a:rPr lang="en-IN" dirty="0"/>
              <a:t>9. Lu, X., Xu, W., Wang, H., Zhou, H., Zhao, H., Zhu, C., Zhao, T., &amp; Yang, M. (2025). </a:t>
            </a:r>
            <a:r>
              <a:rPr lang="en-IN" dirty="0" err="1"/>
              <a:t>DuplexMamba</a:t>
            </a:r>
            <a:r>
              <a:rPr lang="en-IN" dirty="0"/>
              <a:t>: Enhancing Real-time Speech Conversations with Duplex and Streaming Capabilities. NLPCC 2025, 62-74. https://doi.org/10.48550/arxiv.2502.11123</a:t>
            </a:r>
          </a:p>
          <a:p>
            <a:pPr>
              <a:spcAft>
                <a:spcPts val="200"/>
              </a:spcAft>
              <a:defRPr sz="1050" b="0">
                <a:latin typeface="Times New Roman"/>
              </a:defRPr>
            </a:pPr>
            <a:r>
              <a:rPr lang="en-IN" dirty="0"/>
              <a:t>10. Casanova, E., Chen, C., Hu, K., Pasad, A., </a:t>
            </a:r>
            <a:r>
              <a:rPr lang="en-IN" dirty="0" err="1"/>
              <a:t>Rastorgueva</a:t>
            </a:r>
            <a:r>
              <a:rPr lang="en-IN" dirty="0"/>
              <a:t>, E., Narasimhan, S. L., Deng, S., Hosseini-Asl, E., et al. (2025). Open Full-duplex Voice Agent with Speech-to-Speech Language Model. IEEE ASRU 2025, 1-4. https://doi.org/10.1109/asru65441.2025.11434669</a:t>
            </a:r>
          </a:p>
          <a:p>
            <a:pPr>
              <a:spcAft>
                <a:spcPts val="200"/>
              </a:spcAft>
              <a:defRPr sz="1050" b="0">
                <a:latin typeface="Times New Roman"/>
              </a:defRPr>
            </a:pPr>
            <a:r>
              <a:rPr lang="en-IN" dirty="0"/>
              <a:t>11. </a:t>
            </a:r>
            <a:r>
              <a:rPr lang="en-IN" dirty="0" err="1"/>
              <a:t>Keshireddy</a:t>
            </a:r>
            <a:r>
              <a:rPr lang="en-IN" dirty="0"/>
              <a:t>, S. R. (2025). Retrieval-Augmented Generation Techniques in Oracle APEX Improving Contextual Responses in AI Assistants. Archives for Technical Sciences, 18(33), 253. https://doi.org/10.70102/afts.2025.1833.253</a:t>
            </a:r>
          </a:p>
          <a:p>
            <a:pPr>
              <a:spcAft>
                <a:spcPts val="200"/>
              </a:spcAft>
              <a:defRPr sz="1050" b="0">
                <a:latin typeface="Times New Roman"/>
              </a:defRPr>
            </a:pPr>
            <a:r>
              <a:rPr lang="en-IN" dirty="0"/>
              <a:t>12. </a:t>
            </a:r>
            <a:r>
              <a:rPr lang="en-IN" dirty="0" err="1"/>
              <a:t>Acikgoz</a:t>
            </a:r>
            <a:r>
              <a:rPr lang="en-IN" dirty="0"/>
              <a:t>, E. C., Greer, J., Datta, A., Yang, Z., Zeng, W., </a:t>
            </a:r>
            <a:r>
              <a:rPr lang="en-IN" dirty="0" err="1"/>
              <a:t>Elachqar</a:t>
            </a:r>
            <a:r>
              <a:rPr lang="en-IN" dirty="0"/>
              <a:t>, O., </a:t>
            </a:r>
            <a:r>
              <a:rPr lang="en-IN" dirty="0" err="1"/>
              <a:t>Koukoumidis</a:t>
            </a:r>
            <a:r>
              <a:rPr lang="en-IN" dirty="0"/>
              <a:t>, E., </a:t>
            </a:r>
            <a:r>
              <a:rPr lang="en-IN" dirty="0" err="1"/>
              <a:t>Hakkani</a:t>
            </a:r>
            <a:r>
              <a:rPr lang="en-IN" dirty="0"/>
              <a:t>-Tur, D., &amp; Tur, G. (2025). Can a Single Model Master Both Multi-turn Conversations and Tool Use? </a:t>
            </a:r>
            <a:r>
              <a:rPr lang="en-IN" dirty="0" err="1"/>
              <a:t>CoALM</a:t>
            </a:r>
            <a:r>
              <a:rPr lang="en-IN" dirty="0"/>
              <a:t>: A Unified Conversational Agentic Language Model. ACL 2025, 12370-12390.</a:t>
            </a:r>
          </a:p>
          <a:p>
            <a:pPr>
              <a:spcAft>
                <a:spcPts val="400"/>
              </a:spcAft>
              <a:defRPr sz="1050" b="0">
                <a:latin typeface="Times New Roman"/>
              </a:defRPr>
            </a:pPr>
            <a:endParaRPr sz="1050" dirty="0"/>
          </a:p>
        </p:txBody>
      </p:sp>
    </p:spTree>
    <p:extLst>
      <p:ext uri="{BB962C8B-B14F-4D97-AF65-F5344CB8AC3E}">
        <p14:creationId xmlns:p14="http://schemas.microsoft.com/office/powerpoint/2010/main" val="30352609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CCADF-2DB7-612D-21B4-3283EAFAF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16EBC-D67B-CD2D-1E1F-E4A328BD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spc="-35" dirty="0">
                <a:solidFill>
                  <a:srgbClr val="B90F50"/>
                </a:solidFill>
                <a:latin typeface="Cambria"/>
                <a:ea typeface="Cambria"/>
                <a:cs typeface="Times New Roman" panose="02020503050405090304"/>
                <a:sym typeface="+mn-ea"/>
              </a:rPr>
              <a:t>References</a:t>
            </a:r>
            <a:endParaRPr lang="en-IN" sz="3200" b="1" spc="-35" dirty="0">
              <a:latin typeface="Cambria" panose="02040503050406030204" pitchFamily="18" charset="0"/>
              <a:ea typeface="Cambria" panose="02040503050406030204" pitchFamily="18" charset="0"/>
              <a:cs typeface="Times New Roman" panose="02020503050405090304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89E37D-54A9-46AC-9699-9F40634E803C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47756DA-4D2D-939B-7B72-62441754244A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58F2DD2C-0D7E-4AF5-1084-F0B8F24B6A9F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6E1ED76-1235-2358-6D53-0D64BF807C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40</a:t>
            </a:fld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738389BF-7824-D04A-692E-F5FBD4C478FD}"/>
              </a:ext>
            </a:extLst>
          </p:cNvPr>
          <p:cNvSpPr/>
          <p:nvPr/>
        </p:nvSpPr>
        <p:spPr>
          <a:xfrm>
            <a:off x="-1" y="1157351"/>
            <a:ext cx="2165680" cy="5304409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Literature</a:t>
            </a:r>
            <a:r>
              <a:rPr lang="en-IN" sz="1500" spc="-5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10" dirty="0">
                <a:solidFill>
                  <a:schemeClr val="bg1"/>
                </a:solidFill>
                <a:latin typeface="Cambria"/>
                <a:cs typeface="Cambria"/>
              </a:rPr>
              <a:t>Survey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cs typeface="Cambria"/>
              </a:rPr>
              <a:t>Research</a:t>
            </a:r>
            <a:r>
              <a:rPr lang="en-IN" sz="1500" spc="-7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en-IN" sz="1500" spc="-25" dirty="0">
                <a:solidFill>
                  <a:schemeClr val="bg1"/>
                </a:solidFill>
                <a:latin typeface="Cambria"/>
                <a:cs typeface="Cambria"/>
              </a:rPr>
              <a:t>Gap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Problem Identification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 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Methodology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2ED86D-F518-320B-A047-DCC9F53F3336}"/>
              </a:ext>
            </a:extLst>
          </p:cNvPr>
          <p:cNvSpPr txBox="1"/>
          <p:nvPr/>
        </p:nvSpPr>
        <p:spPr>
          <a:xfrm>
            <a:off x="2293499" y="1209161"/>
            <a:ext cx="9598557" cy="4439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200"/>
              </a:spcAft>
              <a:defRPr sz="1050" b="0">
                <a:latin typeface="Times New Roman"/>
              </a:defRPr>
            </a:pPr>
            <a:r>
              <a:rPr lang="en-IN" sz="1050" dirty="0"/>
              <a:t>13. Samal, M. S., Swain, M. B., &amp; Sahoo, P. B. (2026). </a:t>
            </a:r>
            <a:r>
              <a:rPr lang="en-IN" sz="1050" dirty="0" err="1"/>
              <a:t>Srota</a:t>
            </a:r>
            <a:r>
              <a:rPr lang="en-IN" sz="1050" dirty="0"/>
              <a:t> AI: A Voice-Controlled Intelligent Web Automation Platform Using Large Language Models and Multi-Agent Orchestration. IJESSM LAW, 6(1), 45-58. https://doi.org/10.64751/vyfrez55</a:t>
            </a:r>
          </a:p>
          <a:p>
            <a:pPr>
              <a:spcAft>
                <a:spcPts val="200"/>
              </a:spcAft>
              <a:defRPr sz="1050" b="0">
                <a:latin typeface="Times New Roman"/>
              </a:defRPr>
            </a:pPr>
            <a:r>
              <a:rPr lang="en-IN" sz="1050" dirty="0"/>
              <a:t>14. Zhang, T. et al. (2025). Artificial intelligence voice gender, gender role congruity, and trust in automated vehicles. Scientific Reports, 15, Article 12450. https://doi.org/10.1038/s41598-025-12450-x</a:t>
            </a:r>
          </a:p>
          <a:p>
            <a:pPr>
              <a:spcAft>
                <a:spcPts val="200"/>
              </a:spcAft>
              <a:defRPr sz="1050" b="0">
                <a:latin typeface="Times New Roman"/>
              </a:defRPr>
            </a:pPr>
            <a:r>
              <a:rPr lang="en-IN" sz="1050" dirty="0"/>
              <a:t>15. Mahajan, A. et al. (2025). Transforming healthcare delivery with conversational AI platforms. </a:t>
            </a:r>
            <a:r>
              <a:rPr lang="en-IN" sz="1050" dirty="0" err="1"/>
              <a:t>npj</a:t>
            </a:r>
            <a:r>
              <a:rPr lang="en-IN" sz="1050" dirty="0"/>
              <a:t> Digital Medicine, 8, Article 112. https://doi.org/10.1038/s41746-025-01512-y</a:t>
            </a:r>
          </a:p>
          <a:p>
            <a:pPr>
              <a:spcAft>
                <a:spcPts val="200"/>
              </a:spcAft>
              <a:defRPr sz="1050" b="0">
                <a:latin typeface="Times New Roman"/>
              </a:defRPr>
            </a:pPr>
            <a:r>
              <a:rPr lang="en-IN" sz="1050" dirty="0"/>
              <a:t>16. Loughnane, C. et al. (2025). Systematic review exploring human, AI, and hybrid health coaching interventions for psychological well-being. Frontiers in Digital Health, 7, 1421098. https://doi.org/10.3389/fdgth.2025.1421098</a:t>
            </a:r>
          </a:p>
          <a:p>
            <a:pPr>
              <a:spcAft>
                <a:spcPts val="200"/>
              </a:spcAft>
              <a:defRPr sz="1050" b="0">
                <a:latin typeface="Times New Roman"/>
              </a:defRPr>
            </a:pPr>
            <a:r>
              <a:rPr lang="en-IN" sz="1050" dirty="0"/>
              <a:t>17. Hong, Y., &amp; Park, H. (2025). Developing user-</a:t>
            </a:r>
            <a:r>
              <a:rPr lang="en-IN" sz="1050" dirty="0" err="1"/>
              <a:t>centered</a:t>
            </a:r>
            <a:r>
              <a:rPr lang="en-IN" sz="1050" dirty="0"/>
              <a:t> system design guidelines for explainable AI: a systematic literature review. Artificial Intelligence Review, 58, 88. https://doi.org/10.1007/s10462-025-1088-2</a:t>
            </a:r>
          </a:p>
          <a:p>
            <a:pPr>
              <a:spcAft>
                <a:spcPts val="200"/>
              </a:spcAft>
              <a:defRPr sz="1050" b="0">
                <a:latin typeface="Times New Roman"/>
              </a:defRPr>
            </a:pPr>
            <a:r>
              <a:rPr lang="en-IN" sz="1050" dirty="0"/>
              <a:t>18. Wang, R., Nadig, S., </a:t>
            </a:r>
            <a:r>
              <a:rPr lang="en-IN" sz="1050" dirty="0" err="1"/>
              <a:t>Kulko</a:t>
            </a:r>
            <a:r>
              <a:rPr lang="en-IN" sz="1050" dirty="0"/>
              <a:t>, D., </a:t>
            </a:r>
            <a:r>
              <a:rPr lang="en-IN" sz="1050" dirty="0" err="1"/>
              <a:t>Vandieken</a:t>
            </a:r>
            <a:r>
              <a:rPr lang="en-IN" sz="1050" dirty="0"/>
              <a:t>, S., Chang, C.-T., </a:t>
            </a:r>
            <a:r>
              <a:rPr lang="en-IN" sz="1050" dirty="0" err="1"/>
              <a:t>Sarfjoo</a:t>
            </a:r>
            <a:r>
              <a:rPr lang="en-IN" sz="1050" dirty="0"/>
              <a:t>, S. S., &amp; Robertson, J. (2024). Double Decoder: Improving latency for Streaming End-to-end ASR Models. ICNLSP 2024, 83-91.</a:t>
            </a:r>
          </a:p>
          <a:p>
            <a:pPr algn="just">
              <a:spcAft>
                <a:spcPts val="200"/>
              </a:spcAft>
              <a:defRPr sz="1050" b="0">
                <a:latin typeface="Times New Roman"/>
              </a:defRPr>
            </a:pPr>
            <a:r>
              <a:rPr lang="en-IN" dirty="0"/>
              <a:t>19. Vaswani, A., </a:t>
            </a:r>
            <a:r>
              <a:rPr lang="en-IN" dirty="0" err="1"/>
              <a:t>Shazeer</a:t>
            </a:r>
            <a:r>
              <a:rPr lang="en-IN" dirty="0"/>
              <a:t>, N., Parmar, N., </a:t>
            </a:r>
            <a:r>
              <a:rPr lang="en-IN" dirty="0" err="1"/>
              <a:t>Uszkoreit</a:t>
            </a:r>
            <a:r>
              <a:rPr lang="en-IN" dirty="0"/>
              <a:t>, J., Jones, L., Gomez, A. N., Kaiser, Ł., &amp; </a:t>
            </a:r>
            <a:r>
              <a:rPr lang="en-IN" dirty="0" err="1"/>
              <a:t>Polosukhin</a:t>
            </a:r>
            <a:r>
              <a:rPr lang="en-IN" dirty="0"/>
              <a:t>, I. (2017). Attention is all you need. </a:t>
            </a:r>
            <a:r>
              <a:rPr lang="en-IN" dirty="0" err="1"/>
              <a:t>NeurIPS</a:t>
            </a:r>
            <a:r>
              <a:rPr lang="en-IN" dirty="0"/>
              <a:t> 2017, 30. https://doi.org/10.48550/arXiv.1706.03762</a:t>
            </a:r>
          </a:p>
          <a:p>
            <a:pPr>
              <a:spcAft>
                <a:spcPts val="200"/>
              </a:spcAft>
              <a:defRPr sz="1050" b="0">
                <a:latin typeface="Times New Roman"/>
              </a:defRPr>
            </a:pPr>
            <a:r>
              <a:rPr lang="en-IN" dirty="0"/>
              <a:t>20. </a:t>
            </a:r>
            <a:r>
              <a:rPr lang="en-IN" dirty="0" err="1"/>
              <a:t>Zardini</a:t>
            </a:r>
            <a:r>
              <a:rPr lang="en-IN" dirty="0"/>
              <a:t>, E., </a:t>
            </a:r>
            <a:r>
              <a:rPr lang="en-IN" dirty="0" err="1"/>
              <a:t>Blanzieri</a:t>
            </a:r>
            <a:r>
              <a:rPr lang="en-IN" dirty="0"/>
              <a:t>, E., &amp; Pastorello, D. (2024). A quantum k-nearest </a:t>
            </a:r>
            <a:r>
              <a:rPr lang="en-IN" dirty="0" err="1"/>
              <a:t>neighbors</a:t>
            </a:r>
            <a:r>
              <a:rPr lang="en-IN" dirty="0"/>
              <a:t> algorithm based on the Euclidean distance estimation. Quantum Machine Intelligence, 6(1), 23. https://doi.org/10.1007/s42484-024-00155-2</a:t>
            </a:r>
          </a:p>
          <a:p>
            <a:pPr>
              <a:spcAft>
                <a:spcPts val="200"/>
              </a:spcAft>
              <a:defRPr sz="1050" b="0">
                <a:latin typeface="Times New Roman"/>
              </a:defRPr>
            </a:pPr>
            <a:r>
              <a:rPr lang="en-IN" dirty="0"/>
              <a:t>21. Jäger, J., &amp; Krems, R. V. (2023). Universal expressiveness of variational quantum classifiers and quantum kernels for support vector machines. Nature Communications, 14(1), 576. https://doi.org/10.1038/s41467-023-36144-5</a:t>
            </a:r>
          </a:p>
          <a:p>
            <a:pPr>
              <a:spcAft>
                <a:spcPts val="200"/>
              </a:spcAft>
              <a:defRPr sz="1050" b="0">
                <a:latin typeface="Times New Roman"/>
              </a:defRPr>
            </a:pPr>
            <a:r>
              <a:rPr lang="en-IN" dirty="0"/>
              <a:t>22. Shi, S., Wang, Z., Li, J., Li, Y., Shang, R., Zheng, H., Zhong, G., Gu, Y., &amp; Huang, X. (2026). A quantum neural network with built-in self-attention mechanism. Neurocomputing, 674, 132862. https://doi.org/10.1016/j.neucom.2026.132862</a:t>
            </a:r>
          </a:p>
          <a:p>
            <a:pPr>
              <a:spcAft>
                <a:spcPts val="200"/>
              </a:spcAft>
              <a:defRPr sz="1050" b="0">
                <a:latin typeface="Times New Roman"/>
              </a:defRPr>
            </a:pPr>
            <a:r>
              <a:rPr lang="en-IN" dirty="0"/>
              <a:t>23. </a:t>
            </a:r>
            <a:r>
              <a:rPr lang="en-IN" dirty="0" err="1"/>
              <a:t>Blekos</a:t>
            </a:r>
            <a:r>
              <a:rPr lang="en-IN" dirty="0"/>
              <a:t>, K., Brand, D., </a:t>
            </a:r>
            <a:r>
              <a:rPr lang="en-IN" dirty="0" err="1"/>
              <a:t>Ceschini</a:t>
            </a:r>
            <a:r>
              <a:rPr lang="en-IN" dirty="0"/>
              <a:t>, A., Chou, C.-H., Li, R.-H., Pandya, K., &amp; Summer, A. (2024). A review on Quantum Approximate Optimization Algorithm and its variants. Physics Reports, 1068, 1–66. https://doi.org/10.1016/j.physrep.2024.03.002</a:t>
            </a:r>
          </a:p>
          <a:p>
            <a:pPr>
              <a:spcAft>
                <a:spcPts val="200"/>
              </a:spcAft>
              <a:defRPr sz="1050" b="0">
                <a:latin typeface="Times New Roman"/>
              </a:defRPr>
            </a:pPr>
            <a:r>
              <a:rPr lang="en-IN" dirty="0"/>
              <a:t>24. Bausch, J., Subramanian, S., &amp; Piddock, S. (2021). A quantum search decoder for natural language processing. Quantum Machine Intelligence, 3(1), 16. https://doi.org/10.1007/s42484-021-00041-1</a:t>
            </a:r>
          </a:p>
          <a:p>
            <a:pPr>
              <a:spcAft>
                <a:spcPts val="200"/>
              </a:spcAft>
              <a:defRPr sz="1050" b="0">
                <a:latin typeface="Times New Roman"/>
              </a:defRPr>
            </a:pPr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899157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1291</TotalTime>
  <Words>7402</Words>
  <Application>Microsoft Office PowerPoint</Application>
  <PresentationFormat>Widescreen</PresentationFormat>
  <Paragraphs>1231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Aptos</vt:lpstr>
      <vt:lpstr>Aptos Display</vt:lpstr>
      <vt:lpstr>Arial</vt:lpstr>
      <vt:lpstr>Cambria</vt:lpstr>
      <vt:lpstr>Cambria Math</vt:lpstr>
      <vt:lpstr>Georgia</vt:lpstr>
      <vt:lpstr>Times New Roman</vt:lpstr>
      <vt:lpstr>Office Theme</vt:lpstr>
      <vt:lpstr>Department  of  Computer Science &amp; Engineering </vt:lpstr>
      <vt:lpstr>Introduction</vt:lpstr>
      <vt:lpstr>Literature Survey - Conversational Agents &amp; LLM Security</vt:lpstr>
      <vt:lpstr>Literature Survey - Healthcare UX &amp; Full-Duplex Benchmarking</vt:lpstr>
      <vt:lpstr>Literature Survey - Personalized Conversational Health Agents</vt:lpstr>
      <vt:lpstr>Literature Survey - Generative AI in Medicine &amp; Clinical Robotics</vt:lpstr>
      <vt:lpstr>Literature Survey - Standalone Speech LLMs &amp; Streaming Duplex</vt:lpstr>
      <vt:lpstr>Literature Survey - Open Full-Duplex Systems &amp; Hybrid RAG</vt:lpstr>
      <vt:lpstr>Literature Survey - Agentic Tool Orchestration &amp; Voice Automation</vt:lpstr>
      <vt:lpstr>Literature Survey - Trust Dynamics &amp; Healthcare Systems</vt:lpstr>
      <vt:lpstr>Literature Survey - Human-AI Coaching &amp; XAI Design</vt:lpstr>
      <vt:lpstr>Literature Survey - Streaming ASR Decoders &amp; Quantum k-NN</vt:lpstr>
      <vt:lpstr>Literature Survey - Quantum Kernels &amp; Quantum Attention</vt:lpstr>
      <vt:lpstr>Literature Survey - QAOA Optimization &amp; Quantum Search Decoders</vt:lpstr>
      <vt:lpstr>Research Gap/Limitations</vt:lpstr>
      <vt:lpstr>Problem Identification</vt:lpstr>
      <vt:lpstr>Problem Statement</vt:lpstr>
      <vt:lpstr>Motivation</vt:lpstr>
      <vt:lpstr>Significance </vt:lpstr>
      <vt:lpstr>Objectives of the Project </vt:lpstr>
      <vt:lpstr>Scope of the Project</vt:lpstr>
      <vt:lpstr>Methodology</vt:lpstr>
      <vt:lpstr>Algorithm Design</vt:lpstr>
      <vt:lpstr>Design Diagram – Sequence Diagram</vt:lpstr>
      <vt:lpstr>Design Diagram – Data Flow Diagram</vt:lpstr>
      <vt:lpstr>Architecture Diagram</vt:lpstr>
      <vt:lpstr>Design Specifications</vt:lpstr>
      <vt:lpstr>Testing &amp; Validation</vt:lpstr>
      <vt:lpstr>Testing &amp; Validation</vt:lpstr>
      <vt:lpstr>Prototype Built</vt:lpstr>
      <vt:lpstr>Tools &amp; Techniques Used</vt:lpstr>
      <vt:lpstr>Benchmark Dataset Used</vt:lpstr>
      <vt:lpstr>Experimental Results</vt:lpstr>
      <vt:lpstr>Existing System vs Proposed Design</vt:lpstr>
      <vt:lpstr>Existing System vs Proposed Design</vt:lpstr>
      <vt:lpstr>System-Level Result Analysis</vt:lpstr>
      <vt:lpstr>Model Result Analysis</vt:lpstr>
      <vt:lpstr>Gantt Chart</vt:lpstr>
      <vt:lpstr>References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Parvathy vinod</dc:creator>
  <cp:lastModifiedBy>Sanjjey Arumugam</cp:lastModifiedBy>
  <cp:revision>35</cp:revision>
  <dcterms:created xsi:type="dcterms:W3CDTF">2026-08-22T07:11:00Z</dcterms:created>
  <dcterms:modified xsi:type="dcterms:W3CDTF">2026-09-30T04:19:09Z</dcterms:modified>
</cp:coreProperties>
</file>