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6" r:id="rId2"/>
    <p:sldId id="335" r:id="rId3"/>
    <p:sldId id="358" r:id="rId4"/>
    <p:sldId id="343" r:id="rId5"/>
    <p:sldId id="348" r:id="rId6"/>
    <p:sldId id="350" r:id="rId7"/>
    <p:sldId id="351" r:id="rId8"/>
    <p:sldId id="355" r:id="rId9"/>
    <p:sldId id="356" r:id="rId10"/>
    <p:sldId id="337" r:id="rId11"/>
    <p:sldId id="352" r:id="rId12"/>
    <p:sldId id="345" r:id="rId13"/>
    <p:sldId id="359" r:id="rId14"/>
    <p:sldId id="360" r:id="rId15"/>
    <p:sldId id="361" r:id="rId16"/>
    <p:sldId id="36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79" autoAdjust="0"/>
    <p:restoredTop sz="94660"/>
  </p:normalViewPr>
  <p:slideViewPr>
    <p:cSldViewPr snapToGrid="0">
      <p:cViewPr varScale="1">
        <p:scale>
          <a:sx n="78" d="100"/>
          <a:sy n="78" d="100"/>
        </p:scale>
        <p:origin x="1109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DBCB2-0338-7042-520A-640A88B7AB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B39099-3CE2-E142-77AF-A648B78EFF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47A77-6451-E29B-1388-E8F8F5BA2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82203-688E-4F79-9806-87204E786060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306235-2E62-59AC-6EA6-23EE5B1AD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EDF31B-3B04-781C-02B6-0F653E45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E3DF3-8A16-4338-B819-B0ECBF2532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2172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5E656-FAC5-98D4-8467-674873E44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55B46-0F4C-9B10-FA83-ECABBD93A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E74BE9-EF23-FB38-026F-69010DCF9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82203-688E-4F79-9806-87204E786060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D6E0F2-180C-FBCE-36C6-0001F560D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B1FA33-50BF-DF9A-57BA-EE687BCF5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E3DF3-8A16-4338-B819-B0ECBF2532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1843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BF193-F51B-1123-42B0-B218966EE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6BF3A9-EC41-C180-F71E-6774B12183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16E29-0F56-E9F0-9ECA-7764FA7F8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82203-688E-4F79-9806-87204E786060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C87166-21C9-C6FF-8208-F7CA23954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BCFD6B-EF5F-0553-4A75-8A0B69CC2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E3DF3-8A16-4338-B819-B0ECBF2532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4382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72128-CF36-8D42-4B4F-A358D5546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E373E-711A-F26E-512B-E6EC9571E1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B96C23-CC9E-F6A1-C604-E08ED340C7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4BE9FF-DE71-40BF-4ED7-1FFE2F6E1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82203-688E-4F79-9806-87204E786060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E42C0E-079C-DCC3-876F-C5553BB12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497EC4-0AAB-892E-DBC1-1F49AD337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E3DF3-8A16-4338-B819-B0ECBF2532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7994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66878-5D33-C901-A4E1-9D96857D3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25AF30-075D-ABAA-7A09-6FA7A38AFD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F5D2B0-3F5D-F152-184B-1A36159224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D9F652-064B-0F2A-6A43-2B13BA83F7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8C92EE-7569-A8EC-C751-9C2CA82169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5D5D8F-A536-DF8E-2942-610A70C4F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82203-688E-4F79-9806-87204E786060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611655-F9E5-8D60-AB36-D268ABD70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B29CC9-A502-2B7B-F4FE-8FB7D72EF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E3DF3-8A16-4338-B819-B0ECBF2532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6539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BCAD0-261B-F082-C442-6280747A6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415439-C4DA-7EFE-8182-17C76A387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82203-688E-4F79-9806-87204E786060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C12516-268D-F31A-C9DB-2F8B20236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A40E56-DBD2-4AC2-B543-C593DBC5C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E3DF3-8A16-4338-B819-B0ECBF2532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5526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EF81F1-6F38-BCB7-605E-DEF273DF9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82203-688E-4F79-9806-87204E786060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ECF0A2-4085-EA20-CFAE-6B4686DC8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7BF51A-20D7-E802-1C27-F100A11F5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E3DF3-8A16-4338-B819-B0ECBF2532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8957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A3A7F-271D-041B-8443-F50421B17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701BC-4037-5A38-FE62-BA015BB410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106598-72A1-064B-9801-541A7A9CDE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44C2C0-F54D-023A-914F-548B1B2FD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82203-688E-4F79-9806-87204E786060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C850A4-080E-D462-3268-1ABB9EEBC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7398B2-521E-6D87-3930-68FB78A8E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E3DF3-8A16-4338-B819-B0ECBF2532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9742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79CE8-958E-96A3-04D3-AA9468034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47C1AE-58D0-A9AC-33EB-53EBF744EF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186886-8924-BD71-637E-560224CB63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D775C2-926F-C768-4574-ABE0CA44E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82203-688E-4F79-9806-87204E786060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3C27BE-5C7E-A557-CE17-0B203802C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9AE9E0-6D25-8C1D-079B-2491945DB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E3DF3-8A16-4338-B819-B0ECBF2532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2779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C8F54-37D4-A4FB-6E8D-823248083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B33B03-4CE4-3310-01A2-8A528EA62E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989C81-10DB-1AFA-96BC-084177C9A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82203-688E-4F79-9806-87204E786060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9BE2EA-1158-7F42-E62D-4516AD76A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99AE7-8D8A-679D-130F-488D82FAF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E3DF3-8A16-4338-B819-B0ECBF2532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2433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2A9ED0-62FF-0075-32F5-88A9B39B0E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530710-1A62-B7AD-D4C0-68CB9AC431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904E5-9D12-EC3A-6D4C-9F950AA4F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82203-688E-4F79-9806-87204E786060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45050-7DC0-0751-9C10-B759B382F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F0789-BB29-B0A7-D08B-0C6A588FC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E3DF3-8A16-4338-B819-B0ECBF2532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80478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userDrawn="1">
  <p:cSld name="Custom Layout 1">
    <p:spTree>
      <p:nvGrpSpPr>
        <p:cNvPr id="1" name="Shape 1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5" name="Google Shape;1725;p2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2192000" cy="6873413"/>
          </a:xfrm>
          <a:prstGeom prst="rect">
            <a:avLst/>
          </a:prstGeom>
          <a:noFill/>
          <a:ln>
            <a:noFill/>
          </a:ln>
        </p:spPr>
      </p:pic>
      <p:sp>
        <p:nvSpPr>
          <p:cNvPr id="1726" name="Google Shape;1726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90204"/>
              <a:buNone/>
              <a:defRPr sz="1200"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9pPr>
          </a:lstStyle>
          <a:p>
            <a:endParaRPr/>
          </a:p>
        </p:txBody>
      </p:sp>
      <p:sp>
        <p:nvSpPr>
          <p:cNvPr id="1727" name="Google Shape;1727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90204"/>
              <a:buNone/>
              <a:defRPr sz="1200"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9pPr>
          </a:lstStyle>
          <a:p>
            <a:endParaRPr/>
          </a:p>
        </p:txBody>
      </p:sp>
      <p:cxnSp>
        <p:nvCxnSpPr>
          <p:cNvPr id="1729" name="Google Shape;1729;p22"/>
          <p:cNvCxnSpPr/>
          <p:nvPr/>
        </p:nvCxnSpPr>
        <p:spPr>
          <a:xfrm>
            <a:off x="2462213" y="3143250"/>
            <a:ext cx="72675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30" name="Google Shape;1730;p22"/>
          <p:cNvSpPr txBox="1">
            <a:spLocks noGrp="1"/>
          </p:cNvSpPr>
          <p:nvPr>
            <p:ph type="ctrTitle"/>
          </p:nvPr>
        </p:nvSpPr>
        <p:spPr>
          <a:xfrm>
            <a:off x="0" y="3143293"/>
            <a:ext cx="12192000" cy="7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Georgia" panose="02040502050405090303"/>
              <a:buNone/>
              <a:defRPr sz="4000" b="0">
                <a:solidFill>
                  <a:schemeClr val="lt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1" name="Google Shape;1731;p22"/>
          <p:cNvSpPr txBox="1">
            <a:spLocks noGrp="1"/>
          </p:cNvSpPr>
          <p:nvPr>
            <p:ph type="subTitle" idx="1"/>
          </p:nvPr>
        </p:nvSpPr>
        <p:spPr>
          <a:xfrm>
            <a:off x="0" y="3858604"/>
            <a:ext cx="12192000" cy="4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 sz="2400">
                <a:solidFill>
                  <a:schemeClr val="accent4"/>
                </a:solidFill>
              </a:defRPr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1732" name="Google Shape;1732;p2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187040" y="1902157"/>
            <a:ext cx="3817920" cy="858362"/>
          </a:xfrm>
          <a:prstGeom prst="rect">
            <a:avLst/>
          </a:prstGeom>
          <a:noFill/>
          <a:ln>
            <a:noFill/>
          </a:ln>
        </p:spPr>
      </p:pic>
      <p:sp>
        <p:nvSpPr>
          <p:cNvPr id="1733" name="Google Shape;1733;p22"/>
          <p:cNvSpPr txBox="1"/>
          <p:nvPr/>
        </p:nvSpPr>
        <p:spPr>
          <a:xfrm>
            <a:off x="0" y="6533916"/>
            <a:ext cx="1219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Arial" panose="020B0604020202090204"/>
              <a:buNone/>
            </a:pPr>
            <a:r>
              <a:rPr lang="en-US" sz="11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AMARAVATI | AMRITAPURI | BENGALURU |</a:t>
            </a:r>
            <a:r>
              <a:rPr lang="en-US" sz="1100" b="1" i="0" u="none" strike="noStrike" cap="none">
                <a:solidFill>
                  <a:schemeClr val="bg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CHENNAI</a:t>
            </a:r>
            <a:r>
              <a:rPr lang="en-US" sz="11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| COIMBATORE | FARIDABAD | KOCHI | MYSURU | NAGARCOIL</a:t>
            </a:r>
            <a:endParaRPr sz="1100" b="0" i="0" u="none" strike="noStrike" cap="none">
              <a:solidFill>
                <a:schemeClr val="accent4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3931900" y="2760663"/>
            <a:ext cx="914400" cy="91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3969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Custom Layout">
  <p:cSld name="7_Custom Layout">
    <p:bg>
      <p:bgPr>
        <a:solidFill>
          <a:schemeClr val="bg1"/>
        </a:solidFill>
        <a:effectLst/>
      </p:bgPr>
    </p:bg>
    <p:spTree>
      <p:nvGrpSpPr>
        <p:cNvPr id="1" name="Shape 1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7" name="Google Shape;1737;p23"/>
          <p:cNvSpPr txBox="1">
            <a:spLocks noGrp="1"/>
          </p:cNvSpPr>
          <p:nvPr>
            <p:ph type="sldNum" idx="12"/>
          </p:nvPr>
        </p:nvSpPr>
        <p:spPr>
          <a:xfrm>
            <a:off x="190501" y="638106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sp>
        <p:nvSpPr>
          <p:cNvPr id="1738" name="Google Shape;1738;p23"/>
          <p:cNvSpPr txBox="1">
            <a:spLocks noGrp="1"/>
          </p:cNvSpPr>
          <p:nvPr>
            <p:ph type="title"/>
          </p:nvPr>
        </p:nvSpPr>
        <p:spPr>
          <a:xfrm>
            <a:off x="1248636" y="180603"/>
            <a:ext cx="105156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123F"/>
              </a:buClr>
              <a:buSzPts val="4000"/>
              <a:buFont typeface="Georgia" panose="02040502050405090303"/>
              <a:buNone/>
              <a:defRPr sz="4000" b="0">
                <a:solidFill>
                  <a:srgbClr val="A4123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739" name="Google Shape;1739;p23"/>
          <p:cNvCxnSpPr/>
          <p:nvPr/>
        </p:nvCxnSpPr>
        <p:spPr>
          <a:xfrm>
            <a:off x="495300" y="1129577"/>
            <a:ext cx="11049000" cy="0"/>
          </a:xfrm>
          <a:prstGeom prst="straightConnector1">
            <a:avLst/>
          </a:prstGeom>
          <a:noFill/>
          <a:ln w="9525" cap="flat" cmpd="sng">
            <a:solidFill>
              <a:srgbClr val="A4123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740" name="Google Shape;1740;p23"/>
          <p:cNvPicPr preferRelativeResize="0"/>
          <p:nvPr/>
        </p:nvPicPr>
        <p:blipFill rotWithShape="1">
          <a:blip r:embed="rId2">
            <a:duotone>
              <a:prstClr val="black"/>
              <a:srgbClr val="A4123F">
                <a:tint val="45000"/>
                <a:satMod val="400000"/>
              </a:srgbClr>
            </a:duotone>
          </a:blip>
          <a:srcRect r="81454" b="8517"/>
          <a:stretch>
            <a:fillRect/>
          </a:stretch>
        </p:blipFill>
        <p:spPr>
          <a:xfrm>
            <a:off x="495300" y="176714"/>
            <a:ext cx="583354" cy="71227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41" name="Google Shape;1741;p23"/>
          <p:cNvCxnSpPr/>
          <p:nvPr/>
        </p:nvCxnSpPr>
        <p:spPr>
          <a:xfrm>
            <a:off x="1149212" y="181160"/>
            <a:ext cx="0" cy="703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42" name="Google Shape;1742;p23"/>
          <p:cNvSpPr txBox="1">
            <a:spLocks noGrp="1"/>
          </p:cNvSpPr>
          <p:nvPr>
            <p:ph type="body" idx="1"/>
          </p:nvPr>
        </p:nvSpPr>
        <p:spPr>
          <a:xfrm>
            <a:off x="1248636" y="605283"/>
            <a:ext cx="10515600" cy="4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43" name="Google Shape;1743;p23"/>
          <p:cNvSpPr txBox="1">
            <a:spLocks noGrp="1"/>
          </p:cNvSpPr>
          <p:nvPr>
            <p:ph type="body" idx="2"/>
          </p:nvPr>
        </p:nvSpPr>
        <p:spPr>
          <a:xfrm>
            <a:off x="495301" y="2402014"/>
            <a:ext cx="5485500" cy="18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 sz="1800">
                <a:solidFill>
                  <a:srgbClr val="7F7F7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42019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F928BB-6D4D-672C-3E7F-E0EA64B91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952F0C-6C99-2A2C-CC90-53E3B676B6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A5B92-0834-C184-99C3-D98014958E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82203-688E-4F79-9806-87204E786060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D0210-8D39-1D6F-62E4-7B86B9007B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B7E75A-03DF-B444-6A67-C46867824F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CE3DF3-8A16-4338-B819-B0ECBF2532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8320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48550/arxiv.2509.04871" TargetMode="External"/><Relationship Id="rId3" Type="http://schemas.openxmlformats.org/officeDocument/2006/relationships/hyperlink" Target="https://doi.org/10.48550/arxiv.2502.11123" TargetMode="External"/><Relationship Id="rId7" Type="http://schemas.openxmlformats.org/officeDocument/2006/relationships/hyperlink" Target="https://doi.org/%2010.64751/vyfrez55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doi.org/10.48550/arxiv.2505.17060" TargetMode="External"/><Relationship Id="rId5" Type="http://schemas.openxmlformats.org/officeDocument/2006/relationships/hyperlink" Target="https://doi.org/10.70102/afts.2025.1833.253" TargetMode="External"/><Relationship Id="rId4" Type="http://schemas.openxmlformats.org/officeDocument/2006/relationships/hyperlink" Target="https://doi.org/10.1109/asru65441.2025.11434669" TargetMode="External"/><Relationship Id="rId9" Type="http://schemas.openxmlformats.org/officeDocument/2006/relationships/hyperlink" Target="https://doi.org/10.48550/arxiv.2411.13577" TargetMode="Externa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038/s41467-023-36144-5" TargetMode="External"/><Relationship Id="rId3" Type="http://schemas.openxmlformats.org/officeDocument/2006/relationships/hyperlink" Target="https://doi.org/10.1109/slt48900.2021.938346" TargetMode="External"/><Relationship Id="rId7" Type="http://schemas.openxmlformats.org/officeDocument/2006/relationships/hyperlink" Target="https://doi.org/10.1007/s42484-024-00155-2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doi.org/10.48550/arXiv.1706.03762" TargetMode="External"/><Relationship Id="rId11" Type="http://schemas.openxmlformats.org/officeDocument/2006/relationships/hyperlink" Target="https://doi.org/10.1007/s42484-021-00041-1" TargetMode="External"/><Relationship Id="rId5" Type="http://schemas.openxmlformats.org/officeDocument/2006/relationships/hyperlink" Target="https://aclanthology.org/2024.icnlsp-1.10/" TargetMode="External"/><Relationship Id="rId10" Type="http://schemas.openxmlformats.org/officeDocument/2006/relationships/hyperlink" Target="https://doi.org/10.1016/j.physrep.2024.03.002" TargetMode="External"/><Relationship Id="rId4" Type="http://schemas.openxmlformats.org/officeDocument/2006/relationships/hyperlink" Target="https://doi.org/10.1145/3744746" TargetMode="External"/><Relationship Id="rId9" Type="http://schemas.openxmlformats.org/officeDocument/2006/relationships/hyperlink" Target="https://doi.org/10.1016/j.neucom.2026.13286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75" y="3191830"/>
            <a:ext cx="12192000" cy="1128048"/>
          </a:xfrm>
        </p:spPr>
        <p:txBody>
          <a:bodyPr/>
          <a:lstStyle/>
          <a:p>
            <a:r>
              <a:rPr lang="en-I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Department  of </a:t>
            </a:r>
            <a:br>
              <a:rPr lang="en-I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Computer Science &amp; Engineering</a:t>
            </a:r>
            <a:r>
              <a:rPr lang="en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07220" y="4189559"/>
            <a:ext cx="12192000" cy="777000"/>
          </a:xfrm>
        </p:spPr>
        <p:txBody>
          <a:bodyPr/>
          <a:lstStyle/>
          <a:p>
            <a:endParaRPr lang="en-IN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1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Amrita School of Computing </a:t>
            </a:r>
          </a:p>
          <a:p>
            <a:r>
              <a:rPr lang="en-IN" sz="1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Amrita Vishwa Vidyapeetham, Chennai Campus</a:t>
            </a:r>
          </a:p>
        </p:txBody>
      </p:sp>
      <p:cxnSp>
        <p:nvCxnSpPr>
          <p:cNvPr id="6" name="Google Shape;1729;p22"/>
          <p:cNvCxnSpPr/>
          <p:nvPr/>
        </p:nvCxnSpPr>
        <p:spPr>
          <a:xfrm>
            <a:off x="2462213" y="4425783"/>
            <a:ext cx="72675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" name="TextBox 6"/>
          <p:cNvSpPr txBox="1"/>
          <p:nvPr/>
        </p:nvSpPr>
        <p:spPr>
          <a:xfrm>
            <a:off x="6239435" y="1116106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11" name="Text Box 10"/>
          <p:cNvSpPr txBox="1"/>
          <p:nvPr/>
        </p:nvSpPr>
        <p:spPr>
          <a:xfrm>
            <a:off x="3856990" y="1707515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0935" y="348615"/>
            <a:ext cx="4635500" cy="13589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1692275"/>
            <a:ext cx="5743575" cy="1359535"/>
          </a:xfrm>
          <a:prstGeom prst="rect">
            <a:avLst/>
          </a:prstGeom>
        </p:spPr>
      </p:pic>
      <p:sp>
        <p:nvSpPr>
          <p:cNvPr id="9" name="Title 1"/>
          <p:cNvSpPr txBox="1"/>
          <p:nvPr/>
        </p:nvSpPr>
        <p:spPr>
          <a:xfrm>
            <a:off x="-299" y="2214880"/>
            <a:ext cx="12192000" cy="7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Georgia" panose="02040502050405090303"/>
              <a:buNone/>
              <a:defRPr sz="4000" b="0" i="0" u="none" strike="noStrike" cap="none">
                <a:solidFill>
                  <a:schemeClr val="lt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r>
              <a:rPr lang="en-US" sz="3200" dirty="0"/>
              <a:t>Voice Agent Studio: A Local, Privacy-First, Quantum-Optimized AI Voice Assistant</a:t>
            </a:r>
          </a:p>
          <a:p>
            <a:r>
              <a:rPr lang="en-US" sz="2800" dirty="0"/>
              <a:t>Domain: Agentic AI</a:t>
            </a:r>
            <a:endParaRPr lang="en-IN" sz="3200" dirty="0"/>
          </a:p>
        </p:txBody>
      </p:sp>
      <p:sp>
        <p:nvSpPr>
          <p:cNvPr id="15" name="Text Box 14"/>
          <p:cNvSpPr txBox="1"/>
          <p:nvPr/>
        </p:nvSpPr>
        <p:spPr>
          <a:xfrm>
            <a:off x="143510" y="4778375"/>
            <a:ext cx="6096000" cy="107721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IN" sz="16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Student Members [BATCH ID: 72]</a:t>
            </a:r>
          </a:p>
          <a:p>
            <a:endParaRPr lang="en-US" altLang="en-IN" sz="16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sym typeface="+mn-ea"/>
            </a:endParaRPr>
          </a:p>
          <a:p>
            <a:r>
              <a:rPr lang="en-US" altLang="en-IN" sz="16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1: Mukesh Charan M– CH.SC.U4AIE23032</a:t>
            </a:r>
          </a:p>
          <a:p>
            <a:r>
              <a:rPr lang="en-US" altLang="en-IN" sz="16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2: Sanjjey A – CH.SC.U4AIE23050</a:t>
            </a:r>
          </a:p>
        </p:txBody>
      </p:sp>
      <p:sp>
        <p:nvSpPr>
          <p:cNvPr id="16" name="Text Box 15"/>
          <p:cNvSpPr txBox="1"/>
          <p:nvPr/>
        </p:nvSpPr>
        <p:spPr>
          <a:xfrm>
            <a:off x="8611235" y="4905375"/>
            <a:ext cx="3580765" cy="132343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US" altLang="en-IN" sz="16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Guide Details</a:t>
            </a:r>
          </a:p>
          <a:p>
            <a:pPr algn="l"/>
            <a:endParaRPr lang="en-US" altLang="en-IN" sz="16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sym typeface="+mn-ea"/>
            </a:endParaRPr>
          </a:p>
          <a:p>
            <a:pPr algn="l"/>
            <a:r>
              <a:rPr lang="en-US" altLang="en-IN" sz="16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 Dr. </a:t>
            </a:r>
            <a:r>
              <a:rPr lang="en-US" altLang="en-IN" sz="16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Sountharrajan</a:t>
            </a:r>
            <a:r>
              <a:rPr lang="en-US" altLang="en-IN" sz="16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 S.</a:t>
            </a:r>
          </a:p>
          <a:p>
            <a:pPr algn="l"/>
            <a:r>
              <a:rPr lang="en-US" altLang="en-IN" sz="16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Associate professor,</a:t>
            </a:r>
          </a:p>
          <a:p>
            <a:pPr algn="l"/>
            <a:r>
              <a:rPr lang="en-US" altLang="en-IN" sz="16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Dept of CSE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IN" sz="3200" b="1" dirty="0">
                <a:latin typeface="Cambria" panose="02040503050406030204" pitchFamily="18" charset="0"/>
                <a:ea typeface="Cambria" panose="02040503050406030204" pitchFamily="18" charset="0"/>
              </a:rPr>
              <a:t>Abstract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/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  <p:sp>
        <p:nvSpPr>
          <p:cNvPr id="162" name="Rectangle 161"/>
          <p:cNvSpPr/>
          <p:nvPr/>
        </p:nvSpPr>
        <p:spPr>
          <a:xfrm>
            <a:off x="-2" y="1157351"/>
            <a:ext cx="2302935" cy="519112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spcBef>
                <a:spcPts val="100"/>
              </a:spcBef>
              <a:tabLst>
                <a:tab pos="495300" algn="l"/>
              </a:tabLst>
            </a:pPr>
            <a:endParaRPr lang="en-IN" b="1" spc="-35" dirty="0">
              <a:solidFill>
                <a:schemeClr val="accent4"/>
              </a:solidFill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endParaRPr lang="en-IN" b="1" spc="-35" dirty="0">
              <a:solidFill>
                <a:schemeClr val="accent4"/>
              </a:solidFill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b="1" dirty="0">
                <a:solidFill>
                  <a:schemeClr val="accent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Abstract </a:t>
            </a:r>
            <a:endParaRPr lang="en-IN" sz="1500" b="1" dirty="0">
              <a:solidFill>
                <a:schemeClr val="accent4"/>
              </a:solidFill>
              <a:latin typeface="Cambria" panose="020405030504060302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Introduction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Literature Survey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  <a:endParaRPr lang="en-IN" sz="1500" b="1" dirty="0">
              <a:solidFill>
                <a:schemeClr val="accent4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Research Gap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Architecture Diagram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Gantt Chart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</a:rPr>
              <a:t>References</a:t>
            </a:r>
          </a:p>
          <a:p>
            <a:pPr>
              <a:lnSpc>
                <a:spcPct val="250000"/>
              </a:lnSpc>
            </a:pPr>
            <a:endParaRPr lang="en-IN" sz="2400" dirty="0">
              <a:solidFill>
                <a:srgbClr val="A4123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1B731AE-5C46-B625-699C-8F478BBAA129}"/>
              </a:ext>
            </a:extLst>
          </p:cNvPr>
          <p:cNvSpPr txBox="1"/>
          <p:nvPr/>
        </p:nvSpPr>
        <p:spPr>
          <a:xfrm>
            <a:off x="2560929" y="2204850"/>
            <a:ext cx="9373072" cy="309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Georgia" panose="02040502050405090303"/>
              <a:buNone/>
              <a:defRPr sz="4000" b="0" i="0" u="none" strike="noStrike" cap="none">
                <a:solidFill>
                  <a:schemeClr val="lt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Georgia" panose="02040502050405020303" pitchFamily="18" charset="0"/>
              </a:rPr>
              <a:t>We propose a </a:t>
            </a:r>
            <a:r>
              <a:rPr lang="en-US" altLang="en-US" sz="1800" b="1" dirty="0">
                <a:solidFill>
                  <a:schemeClr val="tx1"/>
                </a:solidFill>
                <a:latin typeface="Georgia" panose="02040502050405020303" pitchFamily="18" charset="0"/>
              </a:rPr>
              <a:t>browser-native, ultra-low-latency </a:t>
            </a:r>
            <a:r>
              <a:rPr lang="en-US" altLang="en-US" sz="1800" dirty="0">
                <a:solidFill>
                  <a:schemeClr val="tx1"/>
                </a:solidFill>
                <a:latin typeface="Georgia" panose="02040502050405020303" pitchFamily="18" charset="0"/>
              </a:rPr>
              <a:t>Voice Agent Studio for building real-time conversational AI without costly telephony or proprietary speech APIs.</a:t>
            </a:r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Georgia" panose="02040502050405020303" pitchFamily="18" charset="0"/>
              </a:rPr>
              <a:t>Employ </a:t>
            </a:r>
            <a:r>
              <a:rPr lang="en-US" altLang="en-US" sz="1800" b="1" dirty="0">
                <a:solidFill>
                  <a:schemeClr val="tx1"/>
                </a:solidFill>
                <a:latin typeface="Georgia" panose="02040502050405020303" pitchFamily="18" charset="0"/>
              </a:rPr>
              <a:t>edge-based acoustic processing </a:t>
            </a:r>
            <a:r>
              <a:rPr lang="en-US" altLang="en-US" sz="1800" dirty="0">
                <a:solidFill>
                  <a:schemeClr val="tx1"/>
                </a:solidFill>
                <a:latin typeface="Georgia" panose="02040502050405020303" pitchFamily="18" charset="0"/>
              </a:rPr>
              <a:t>with adaptive VAD, noise-floor tracking, and seamless barge-in handling for natural conversations.</a:t>
            </a:r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Georgia" panose="02040502050405020303" pitchFamily="18" charset="0"/>
              </a:rPr>
              <a:t>Leverage </a:t>
            </a:r>
            <a:r>
              <a:rPr lang="en-US" altLang="en-US" sz="1800" b="1" dirty="0">
                <a:solidFill>
                  <a:schemeClr val="tx1"/>
                </a:solidFill>
                <a:latin typeface="Georgia" panose="02040502050405020303" pitchFamily="18" charset="0"/>
              </a:rPr>
              <a:t>quantum-classical optimization </a:t>
            </a:r>
            <a:r>
              <a:rPr lang="en-US" altLang="en-US" sz="1800" dirty="0">
                <a:solidFill>
                  <a:schemeClr val="tx1"/>
                </a:solidFill>
                <a:latin typeface="Georgia" panose="02040502050405020303" pitchFamily="18" charset="0"/>
              </a:rPr>
              <a:t>using </a:t>
            </a:r>
            <a:r>
              <a:rPr lang="en-US" altLang="en-US" sz="1800" dirty="0" err="1">
                <a:solidFill>
                  <a:schemeClr val="tx1"/>
                </a:solidFill>
                <a:latin typeface="Georgia" panose="02040502050405020303" pitchFamily="18" charset="0"/>
              </a:rPr>
              <a:t>Qiskit</a:t>
            </a:r>
            <a:r>
              <a:rPr lang="en-US" altLang="en-US" sz="1800" dirty="0">
                <a:solidFill>
                  <a:schemeClr val="tx1"/>
                </a:solidFill>
                <a:latin typeface="Georgia" panose="02040502050405020303" pitchFamily="18" charset="0"/>
              </a:rPr>
              <a:t> QAOA/QUBO, combined with local RAG and intelligent tool orchestration for efficient intent routing and automated workflows.</a:t>
            </a:r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Georgia" panose="02040502050405020303" pitchFamily="18" charset="0"/>
              </a:rPr>
              <a:t>Utilize </a:t>
            </a:r>
            <a:r>
              <a:rPr lang="en-US" altLang="en-US" sz="1800" b="1" dirty="0">
                <a:solidFill>
                  <a:schemeClr val="tx1"/>
                </a:solidFill>
                <a:latin typeface="Georgia" panose="02040502050405020303" pitchFamily="18" charset="0"/>
              </a:rPr>
              <a:t>asynchronous streaming and TTS prefetching </a:t>
            </a:r>
            <a:r>
              <a:rPr lang="en-US" altLang="en-US" sz="1800" dirty="0">
                <a:solidFill>
                  <a:schemeClr val="tx1"/>
                </a:solidFill>
                <a:latin typeface="Georgia" panose="02040502050405020303" pitchFamily="18" charset="0"/>
              </a:rPr>
              <a:t>to deliver low-latency, uninterrupted conversational responses.</a:t>
            </a:r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Georgia" panose="02040502050405020303" pitchFamily="18" charset="0"/>
              </a:rPr>
              <a:t>Package </a:t>
            </a:r>
            <a:r>
              <a:rPr lang="en-US" altLang="en-US" sz="1800" b="1" dirty="0">
                <a:solidFill>
                  <a:schemeClr val="tx1"/>
                </a:solidFill>
                <a:latin typeface="Georgia" panose="02040502050405020303" pitchFamily="18" charset="0"/>
              </a:rPr>
              <a:t>each custom voice agent as a Docker image</a:t>
            </a:r>
            <a:r>
              <a:rPr lang="en-US" altLang="en-US" sz="1800" dirty="0">
                <a:solidFill>
                  <a:schemeClr val="tx1"/>
                </a:solidFill>
                <a:latin typeface="Georgia" panose="02040502050405020303" pitchFamily="18" charset="0"/>
              </a:rPr>
              <a:t>, enabling on-premises deployment while keeping sensitive client data within their own infrastructure through secure, isolated environments.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8914C-FAA0-548B-AC08-17AFE716D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F31CB-058A-B709-3090-841D4A442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IN" sz="3200" b="1" dirty="0">
                <a:latin typeface="Cambria" panose="02040503050406030204" pitchFamily="18" charset="0"/>
                <a:ea typeface="Cambria" panose="02040503050406030204" pitchFamily="18" charset="0"/>
              </a:rPr>
              <a:t>Introduction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89C9235-2528-D0AC-BECD-8D0E7C17766D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FEEE2C6-F034-881D-AB6C-B1F1C98D291C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FDE467AF-A3F2-6A45-C068-F1B74C5C33DD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6999A6E-9CC4-5F6E-5DAB-2B35169E87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D59E94A9-1697-0929-718C-0B907A584DB5}"/>
              </a:ext>
            </a:extLst>
          </p:cNvPr>
          <p:cNvSpPr/>
          <p:nvPr/>
        </p:nvSpPr>
        <p:spPr>
          <a:xfrm>
            <a:off x="-2" y="1157351"/>
            <a:ext cx="2302935" cy="519112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spcBef>
                <a:spcPts val="100"/>
              </a:spcBef>
              <a:tabLst>
                <a:tab pos="495300" algn="l"/>
              </a:tabLst>
            </a:pPr>
            <a:endParaRPr lang="en-IN" b="1" spc="-35" dirty="0">
              <a:solidFill>
                <a:schemeClr val="accent4"/>
              </a:solidFill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endParaRPr lang="en-IN" b="1" spc="-35" dirty="0">
              <a:solidFill>
                <a:schemeClr val="accent4"/>
              </a:solidFill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Abstract 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Introduction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Literature Survey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  <a:endParaRPr lang="en-IN" sz="1500" b="1" dirty="0">
              <a:solidFill>
                <a:schemeClr val="accent4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Research Gap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Architecture Diagram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Gantt Chart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</a:rPr>
              <a:t>References</a:t>
            </a:r>
          </a:p>
          <a:p>
            <a:pPr>
              <a:lnSpc>
                <a:spcPct val="250000"/>
              </a:lnSpc>
            </a:pPr>
            <a:endParaRPr lang="en-IN" sz="2400" dirty="0">
              <a:solidFill>
                <a:srgbClr val="A4123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B4742B2-0553-B9A9-3CEF-E67C88DEB3EB}"/>
              </a:ext>
            </a:extLst>
          </p:cNvPr>
          <p:cNvSpPr txBox="1"/>
          <p:nvPr/>
        </p:nvSpPr>
        <p:spPr>
          <a:xfrm>
            <a:off x="2576378" y="2816229"/>
            <a:ext cx="9342174" cy="2365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Georgia" panose="02040502050405090303"/>
              <a:buNone/>
              <a:defRPr sz="4000" b="0" i="0" u="none" strike="noStrike" cap="none">
                <a:solidFill>
                  <a:schemeClr val="lt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000" dirty="0">
                <a:solidFill>
                  <a:schemeClr val="tx1"/>
                </a:solidFill>
                <a:latin typeface="Georgia" panose="02040502050405020303" pitchFamily="18" charset="0"/>
              </a:rPr>
              <a:t>Recent advances in </a:t>
            </a:r>
            <a:r>
              <a:rPr lang="en-US" altLang="en-US" sz="2000" b="1" dirty="0">
                <a:solidFill>
                  <a:schemeClr val="tx1"/>
                </a:solidFill>
                <a:latin typeface="Georgia" panose="02040502050405020303" pitchFamily="18" charset="0"/>
              </a:rPr>
              <a:t>Large Language Models (LLMs)</a:t>
            </a:r>
            <a:r>
              <a:rPr lang="en-US" altLang="en-US" sz="2000" dirty="0">
                <a:solidFill>
                  <a:schemeClr val="tx1"/>
                </a:solidFill>
                <a:latin typeface="Georgia" panose="02040502050405020303" pitchFamily="18" charset="0"/>
              </a:rPr>
              <a:t> have enabled real-time voice-driven autonomous agents, but conventional systems still face high latency, recurring telephony costs, and dependence on centralized cloud services. This project introduces </a:t>
            </a:r>
            <a:r>
              <a:rPr lang="en-US" altLang="en-US" sz="2000" b="1" dirty="0">
                <a:solidFill>
                  <a:schemeClr val="tx1"/>
                </a:solidFill>
                <a:latin typeface="Georgia" panose="02040502050405020303" pitchFamily="18" charset="0"/>
              </a:rPr>
              <a:t>Voice Agent Studio</a:t>
            </a:r>
            <a:r>
              <a:rPr lang="en-US" altLang="en-US" sz="2000" dirty="0">
                <a:solidFill>
                  <a:schemeClr val="tx1"/>
                </a:solidFill>
                <a:latin typeface="Georgia" panose="02040502050405020303" pitchFamily="18" charset="0"/>
              </a:rPr>
              <a:t>, a modular platform that combines browser-side speech processing with asynchronous backend orchestration for responsive voice interactions. It integrates adaptive VAD, local BM25-based RAG, hybrid quantum-classical routing, and automated tool execution to streamline conversations. Each voice agent can be packaged as a </a:t>
            </a:r>
            <a:r>
              <a:rPr lang="en-US" altLang="en-US" sz="2000" b="1" dirty="0">
                <a:solidFill>
                  <a:schemeClr val="tx1"/>
                </a:solidFill>
                <a:latin typeface="Georgia" panose="02040502050405020303" pitchFamily="18" charset="0"/>
              </a:rPr>
              <a:t>Docker image</a:t>
            </a:r>
            <a:r>
              <a:rPr lang="en-US" altLang="en-US" sz="2000" dirty="0">
                <a:solidFill>
                  <a:schemeClr val="tx1"/>
                </a:solidFill>
                <a:latin typeface="Georgia" panose="02040502050405020303" pitchFamily="18" charset="0"/>
              </a:rPr>
              <a:t> and deployed on-premises, allowing organizations to keep sensitive data within their infrastructure while reducing dependence on external cloud services.</a:t>
            </a:r>
          </a:p>
        </p:txBody>
      </p:sp>
    </p:spTree>
    <p:extLst>
      <p:ext uri="{BB962C8B-B14F-4D97-AF65-F5344CB8AC3E}">
        <p14:creationId xmlns:p14="http://schemas.microsoft.com/office/powerpoint/2010/main" val="1471414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pPr algn="l"/>
            <a:r>
              <a:rPr lang="en-IN" sz="3200" b="1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Literature Survey</a:t>
            </a:r>
            <a:endParaRPr lang="en-US" altLang="en-IN" sz="1400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  <a:sym typeface="+mn-ea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/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521EC1E-9545-0680-03EE-3C9834897C37}"/>
              </a:ext>
            </a:extLst>
          </p:cNvPr>
          <p:cNvGraphicFramePr>
            <a:graphicFrameLocks noGrp="1"/>
          </p:cNvGraphicFramePr>
          <p:nvPr/>
        </p:nvGraphicFramePr>
        <p:xfrm>
          <a:off x="2293100" y="1136711"/>
          <a:ext cx="9889066" cy="51751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1804">
                  <a:extLst>
                    <a:ext uri="{9D8B030D-6E8A-4147-A177-3AD203B41FA5}">
                      <a16:colId xmlns:a16="http://schemas.microsoft.com/office/drawing/2014/main" val="711285694"/>
                    </a:ext>
                  </a:extLst>
                </a:gridCol>
                <a:gridCol w="1312065">
                  <a:extLst>
                    <a:ext uri="{9D8B030D-6E8A-4147-A177-3AD203B41FA5}">
                      <a16:colId xmlns:a16="http://schemas.microsoft.com/office/drawing/2014/main" val="1533914162"/>
                    </a:ext>
                  </a:extLst>
                </a:gridCol>
                <a:gridCol w="1964518">
                  <a:extLst>
                    <a:ext uri="{9D8B030D-6E8A-4147-A177-3AD203B41FA5}">
                      <a16:colId xmlns:a16="http://schemas.microsoft.com/office/drawing/2014/main" val="2146148060"/>
                    </a:ext>
                  </a:extLst>
                </a:gridCol>
                <a:gridCol w="1413356">
                  <a:extLst>
                    <a:ext uri="{9D8B030D-6E8A-4147-A177-3AD203B41FA5}">
                      <a16:colId xmlns:a16="http://schemas.microsoft.com/office/drawing/2014/main" val="3218227663"/>
                    </a:ext>
                  </a:extLst>
                </a:gridCol>
                <a:gridCol w="1239755">
                  <a:extLst>
                    <a:ext uri="{9D8B030D-6E8A-4147-A177-3AD203B41FA5}">
                      <a16:colId xmlns:a16="http://schemas.microsoft.com/office/drawing/2014/main" val="1076539548"/>
                    </a:ext>
                  </a:extLst>
                </a:gridCol>
                <a:gridCol w="1964845">
                  <a:extLst>
                    <a:ext uri="{9D8B030D-6E8A-4147-A177-3AD203B41FA5}">
                      <a16:colId xmlns:a16="http://schemas.microsoft.com/office/drawing/2014/main" val="3196161089"/>
                    </a:ext>
                  </a:extLst>
                </a:gridCol>
                <a:gridCol w="1412723">
                  <a:extLst>
                    <a:ext uri="{9D8B030D-6E8A-4147-A177-3AD203B41FA5}">
                      <a16:colId xmlns:a16="http://schemas.microsoft.com/office/drawing/2014/main" val="1224288341"/>
                    </a:ext>
                  </a:extLst>
                </a:gridCol>
              </a:tblGrid>
              <a:tr h="3812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Georgia" panose="02040502050405020303" pitchFamily="18" charset="0"/>
                        </a:rPr>
                        <a:t>S.No</a:t>
                      </a:r>
                      <a:endParaRPr lang="en-IN" sz="1200" b="1" i="0" u="none" strike="noStrike" dirty="0">
                        <a:solidFill>
                          <a:schemeClr val="bg1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Georgia" panose="02040502050405020303" pitchFamily="18" charset="0"/>
                        </a:rPr>
                        <a:t>Authors &amp; Year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Georgia" panose="02040502050405020303" pitchFamily="18" charset="0"/>
                        </a:rPr>
                        <a:t>Title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Georgia" panose="02040502050405020303" pitchFamily="18" charset="0"/>
                        </a:rPr>
                        <a:t>Journal Name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Georgia" panose="02040502050405020303" pitchFamily="18" charset="0"/>
                        </a:rPr>
                        <a:t>Methods Used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Georgia" panose="02040502050405020303" pitchFamily="18" charset="0"/>
                        </a:rPr>
                        <a:t>Key Findings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Georgia" panose="02040502050405020303" pitchFamily="18" charset="0"/>
                        </a:rPr>
                        <a:t>Research Gap Identified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67681931"/>
                  </a:ext>
                </a:extLst>
              </a:tr>
              <a:tr h="91607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Bhatia &amp; </a:t>
                      </a:r>
                      <a:r>
                        <a:rPr lang="en-IN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Khetarpaul</a:t>
                      </a: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(2025)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AI-enhanced bilingual banking assistant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Scientific Reports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Bilingual banking assistant with language detection and code-switching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87% overall success; 93% language detection; 80% code-switching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Needs real-time ASR/TTS, more Indian languages, RAG, secure tools, larger testing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997134974"/>
                  </a:ext>
                </a:extLst>
              </a:tr>
              <a:tr h="91607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Chowa et al. (2026)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LLM agents security duality: a comprehensive survey of self-evolving agents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Artificial Intelligence Review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Survey of LLM-agent capabilities, risks and security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Voice/multimodal agents introduce fraud, privacy and unauthorized-action risks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Needs practical security for authentication, consent, prompt injection and tool use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544465214"/>
                  </a:ext>
                </a:extLst>
              </a:tr>
              <a:tr h="7359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Furtado et al. (2025)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Assessing the User Experience of an LLM-Based Conversational Agent for Older Adults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Journal of Healthcare Informatics Research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LLM conversational agent evaluated with older adults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Usability, clarity and accessibility strongly affect adoption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Needs larger, longitudinal and voice-first evaluations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440135816"/>
                  </a:ext>
                </a:extLst>
              </a:tr>
              <a:tr h="9491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/>
                        <a:t>Ray, </a:t>
                      </a:r>
                      <a:r>
                        <a:rPr lang="en-IN" sz="1100" dirty="0" err="1"/>
                        <a:t>Dhandhania</a:t>
                      </a:r>
                      <a:r>
                        <a:rPr lang="en-IN" sz="1100" dirty="0"/>
                        <a:t>, Barres &amp; Narasimhan (2026)</a:t>
                      </a:r>
                      <a:endParaRPr lang="da-DK" sz="1100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/>
                        <a:t>τ-Voice: Benchmarking Full-Duplex Voice Agents on Real-World Domains</a:t>
                      </a:r>
                      <a:endParaRPr lang="en-US" sz="1100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/>
                        <a:t>ICML</a:t>
                      </a:r>
                      <a:endParaRPr lang="en-IN" sz="1100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/>
                        <a:t>Full-duplex simulator with noise, accents, telephony and turn-taking</a:t>
                      </a:r>
                      <a:endParaRPr lang="en-IN" sz="1100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/>
                        <a:t>Voice agents retained only </a:t>
                      </a:r>
                      <a:r>
                        <a:rPr lang="en-IN" sz="1100" b="1" dirty="0"/>
                        <a:t>30–45%</a:t>
                      </a:r>
                      <a:r>
                        <a:rPr lang="en-IN" sz="1100" dirty="0"/>
                        <a:t> of text capability.</a:t>
                      </a:r>
                      <a:endParaRPr lang="en-US" sz="1100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/>
                        <a:t>Needs non-English, human, accessibility and tool-latency evaluation.</a:t>
                      </a:r>
                      <a:endParaRPr lang="en-US" sz="1100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0799841"/>
                  </a:ext>
                </a:extLst>
              </a:tr>
              <a:tr h="12767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Abbasian, Azimi, Rahmani &amp; Jain (2025)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Conversational health agents: a personalized large language model-powered agent framework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JAMIA Open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OpenCHA multilingual/multimodal LLM-agent framework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Supports personalization and integrations; strong domain-specific results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Needs voice-first evaluation, low latency, interruption handling and Indian languages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546632425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1438E0E5-DFBA-0C18-A63D-E1FD9E9B40D1}"/>
              </a:ext>
            </a:extLst>
          </p:cNvPr>
          <p:cNvSpPr/>
          <p:nvPr/>
        </p:nvSpPr>
        <p:spPr>
          <a:xfrm>
            <a:off x="-3" y="1120775"/>
            <a:ext cx="2302935" cy="519112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spcBef>
                <a:spcPts val="100"/>
              </a:spcBef>
              <a:tabLst>
                <a:tab pos="495300" algn="l"/>
              </a:tabLst>
            </a:pPr>
            <a:endParaRPr lang="en-IN" sz="1600" b="1" spc="-35" dirty="0">
              <a:solidFill>
                <a:schemeClr val="accent4"/>
              </a:solidFill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endParaRPr lang="en-IN" sz="1600" b="1" spc="-35" dirty="0">
              <a:solidFill>
                <a:schemeClr val="accent4"/>
              </a:solidFill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Abstract 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Introduction</a:t>
            </a:r>
          </a:p>
          <a:p>
            <a:pPr>
              <a:lnSpc>
                <a:spcPct val="200000"/>
              </a:lnSpc>
            </a:pPr>
            <a:r>
              <a:rPr lang="en-IN" sz="1500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Literature Survey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  <a:endParaRPr lang="en-IN" sz="1500" b="1" dirty="0">
              <a:solidFill>
                <a:schemeClr val="accent4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Research Gap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Architecture Diagram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Gantt Chart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</a:rPr>
              <a:t>References</a:t>
            </a:r>
          </a:p>
          <a:p>
            <a:pPr>
              <a:lnSpc>
                <a:spcPct val="250000"/>
              </a:lnSpc>
            </a:pPr>
            <a:endParaRPr lang="en-IN" sz="2400" dirty="0">
              <a:solidFill>
                <a:srgbClr val="A4123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2B2FD-9308-ADD8-F98B-AC165EDA8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8C95E-770F-A10F-C76D-BA3DED3D3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pPr algn="l"/>
            <a:r>
              <a:rPr lang="en-IN" sz="3200" b="1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Literature Survey</a:t>
            </a:r>
            <a:r>
              <a:rPr lang="en-US" altLang="en-IN" sz="3200" b="1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 </a:t>
            </a:r>
            <a:endParaRPr lang="en-US" altLang="en-IN" sz="1400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  <a:sym typeface="+mn-ea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8F2424F-AA7C-BFFB-F669-0633E70EE147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9F21C2F-F6F9-E786-F5A0-62D4D2A2A624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CBB092C8-80ED-CFAD-9F39-2E204E8989D0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254B19B-3B96-CD54-DCFE-C8B6B2BC79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BD89768-DCBA-EDEC-2238-52B75B9F9054}"/>
              </a:ext>
            </a:extLst>
          </p:cNvPr>
          <p:cNvGraphicFramePr>
            <a:graphicFrameLocks noGrp="1"/>
          </p:cNvGraphicFramePr>
          <p:nvPr/>
        </p:nvGraphicFramePr>
        <p:xfrm>
          <a:off x="2302932" y="1120775"/>
          <a:ext cx="9889066" cy="5191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4251">
                  <a:extLst>
                    <a:ext uri="{9D8B030D-6E8A-4147-A177-3AD203B41FA5}">
                      <a16:colId xmlns:a16="http://schemas.microsoft.com/office/drawing/2014/main" val="711285694"/>
                    </a:ext>
                  </a:extLst>
                </a:gridCol>
                <a:gridCol w="1524699">
                  <a:extLst>
                    <a:ext uri="{9D8B030D-6E8A-4147-A177-3AD203B41FA5}">
                      <a16:colId xmlns:a16="http://schemas.microsoft.com/office/drawing/2014/main" val="1533914162"/>
                    </a:ext>
                  </a:extLst>
                </a:gridCol>
                <a:gridCol w="1901150">
                  <a:extLst>
                    <a:ext uri="{9D8B030D-6E8A-4147-A177-3AD203B41FA5}">
                      <a16:colId xmlns:a16="http://schemas.microsoft.com/office/drawing/2014/main" val="2146148060"/>
                    </a:ext>
                  </a:extLst>
                </a:gridCol>
                <a:gridCol w="1620794">
                  <a:extLst>
                    <a:ext uri="{9D8B030D-6E8A-4147-A177-3AD203B41FA5}">
                      <a16:colId xmlns:a16="http://schemas.microsoft.com/office/drawing/2014/main" val="3218227663"/>
                    </a:ext>
                  </a:extLst>
                </a:gridCol>
                <a:gridCol w="1412724">
                  <a:extLst>
                    <a:ext uri="{9D8B030D-6E8A-4147-A177-3AD203B41FA5}">
                      <a16:colId xmlns:a16="http://schemas.microsoft.com/office/drawing/2014/main" val="1076539548"/>
                    </a:ext>
                  </a:extLst>
                </a:gridCol>
                <a:gridCol w="1412724">
                  <a:extLst>
                    <a:ext uri="{9D8B030D-6E8A-4147-A177-3AD203B41FA5}">
                      <a16:colId xmlns:a16="http://schemas.microsoft.com/office/drawing/2014/main" val="3196161089"/>
                    </a:ext>
                  </a:extLst>
                </a:gridCol>
                <a:gridCol w="1412724">
                  <a:extLst>
                    <a:ext uri="{9D8B030D-6E8A-4147-A177-3AD203B41FA5}">
                      <a16:colId xmlns:a16="http://schemas.microsoft.com/office/drawing/2014/main" val="1224288341"/>
                    </a:ext>
                  </a:extLst>
                </a:gridCol>
              </a:tblGrid>
              <a:tr h="522403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90204"/>
                        <a:buNone/>
                      </a:pPr>
                      <a:r>
                        <a:rPr lang="en-IN" sz="1200" b="1" i="0" u="none" strike="noStrike" cap="none">
                          <a:solidFill>
                            <a:schemeClr val="bg1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  <a:sym typeface="Arial" panose="020B0604020202090204"/>
                        </a:rPr>
                        <a:t>S.No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90204"/>
                        <a:buNone/>
                      </a:pPr>
                      <a:r>
                        <a:rPr lang="en-IN" sz="1200" b="1" i="0" u="none" strike="noStrike" cap="none" dirty="0">
                          <a:solidFill>
                            <a:schemeClr val="bg1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  <a:sym typeface="Arial" panose="020B0604020202090204"/>
                        </a:rPr>
                        <a:t>Authors &amp; 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90204"/>
                        <a:buNone/>
                      </a:pPr>
                      <a:r>
                        <a:rPr lang="en-IN" sz="1200" b="1" i="0" u="none" strike="noStrike" cap="none" dirty="0">
                          <a:solidFill>
                            <a:schemeClr val="bg1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  <a:sym typeface="Arial" panose="020B0604020202090204"/>
                        </a:rPr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90204"/>
                        <a:buNone/>
                      </a:pPr>
                      <a:r>
                        <a:rPr lang="en-IN" sz="1200" b="1" i="0" u="none" strike="noStrike" cap="none" dirty="0">
                          <a:solidFill>
                            <a:schemeClr val="bg1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  <a:sym typeface="Arial" panose="020B0604020202090204"/>
                        </a:rPr>
                        <a:t>Journal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90204"/>
                        <a:buNone/>
                      </a:pPr>
                      <a:r>
                        <a:rPr lang="en-IN" sz="1200" b="1" i="0" u="none" strike="noStrike" cap="none">
                          <a:solidFill>
                            <a:schemeClr val="bg1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  <a:sym typeface="Arial" panose="020B0604020202090204"/>
                        </a:rPr>
                        <a:t>Methods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90204"/>
                        <a:buNone/>
                      </a:pPr>
                      <a:r>
                        <a:rPr lang="en-IN" sz="1200" b="1" i="0" u="none" strike="noStrike" cap="none" dirty="0">
                          <a:solidFill>
                            <a:schemeClr val="bg1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  <a:sym typeface="Arial" panose="020B0604020202090204"/>
                        </a:rPr>
                        <a:t>Key Findings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90204"/>
                        <a:buNone/>
                      </a:pPr>
                      <a:r>
                        <a:rPr lang="en-IN" sz="1200" b="1" i="0" u="none" strike="noStrike" cap="none">
                          <a:solidFill>
                            <a:schemeClr val="bg1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  <a:sym typeface="Arial" panose="020B0604020202090204"/>
                        </a:rPr>
                        <a:t>Research Gap Identified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681931"/>
                  </a:ext>
                </a:extLst>
              </a:tr>
              <a:tr h="95084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Adams, Acosta &amp; </a:t>
                      </a:r>
                      <a:r>
                        <a:rPr lang="en-IN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Rajpurkar</a:t>
                      </a: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(2025)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How generative AI voice agents will transform medicine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npj</a:t>
                      </a: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Digital Medicine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Review of generative voice agents in healthcare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Real-time voice agents can improve access and engagement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Limited evidence on safety, privacy, bias, outcomes and real-world deployment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34342028"/>
                  </a:ext>
                </a:extLst>
              </a:tr>
              <a:tr h="125376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Lima et al. (2025)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Cultural Feasibility of Conversational Robots for Dementia Care: A Mixed Methods Study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Journal of Participatory Medicine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Mixed-method study of conversational robots for dementia care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Engagement depends on practical and cultural factors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Needs long-term, personalized, multilingual and reliable voice-agent studies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93636483"/>
                  </a:ext>
                </a:extLst>
              </a:tr>
              <a:tr h="1493867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90204"/>
                        <a:buNone/>
                      </a:pPr>
                      <a:r>
                        <a:rPr lang="en-IN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  <a:sym typeface="Arial" panose="020B0604020202090204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90204"/>
                        <a:buNone/>
                      </a:pPr>
                      <a:r>
                        <a:rPr lang="en-IN" sz="1100" dirty="0"/>
                        <a:t>Yu et al. (2025)</a:t>
                      </a:r>
                      <a:endParaRPr lang="en-IN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  <a:ea typeface="+mn-ea"/>
                        <a:cs typeface="+mn-cs"/>
                        <a:sym typeface="Arial" panose="020B06040202020902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90204"/>
                        <a:buNone/>
                      </a:pPr>
                      <a:r>
                        <a:rPr lang="en-IN" sz="1100" dirty="0"/>
                        <a:t>SALMONN-omni: A Standalone Speech LLM without Codec Injection for Full-duplex Conversation</a:t>
                      </a:r>
                      <a:endParaRPr lang="en-US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  <a:ea typeface="+mn-ea"/>
                        <a:cs typeface="+mn-cs"/>
                        <a:sym typeface="Arial" panose="020B06040202020902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90204"/>
                        <a:buNone/>
                      </a:pPr>
                      <a:r>
                        <a:rPr lang="en-IN" sz="1100" dirty="0" err="1"/>
                        <a:t>NeurIPS</a:t>
                      </a:r>
                      <a:endParaRPr lang="en-IN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  <a:ea typeface="+mn-ea"/>
                        <a:cs typeface="+mn-cs"/>
                        <a:sym typeface="Arial" panose="020B06040202020902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90204"/>
                        <a:buNone/>
                      </a:pPr>
                      <a:r>
                        <a:rPr lang="en-IN" sz="1100" dirty="0"/>
                        <a:t>Unified streaming speech encoder, LLM and synthesizer</a:t>
                      </a:r>
                      <a:endParaRPr lang="en-IN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  <a:ea typeface="+mn-ea"/>
                        <a:cs typeface="+mn-cs"/>
                        <a:sym typeface="Arial" panose="020B06040202020902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90204"/>
                        <a:buNone/>
                      </a:pPr>
                      <a:r>
                        <a:rPr lang="en-IN" sz="1100" dirty="0"/>
                        <a:t>Improved accuracy by </a:t>
                      </a:r>
                      <a:r>
                        <a:rPr lang="en-IN" sz="1100" b="1" dirty="0"/>
                        <a:t>35.9%</a:t>
                      </a:r>
                      <a:r>
                        <a:rPr lang="en-IN" sz="1100" dirty="0"/>
                        <a:t> with strong barge-in and echo cancellation.</a:t>
                      </a:r>
                      <a:endParaRPr lang="en-US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  <a:ea typeface="+mn-ea"/>
                        <a:cs typeface="+mn-cs"/>
                        <a:sym typeface="Arial" panose="020B06040202020902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90204"/>
                        <a:buNone/>
                      </a:pPr>
                      <a:r>
                        <a:rPr lang="en-IN" sz="1100" dirty="0"/>
                        <a:t>Codec/multi-module approaches still face complexity and error propagation.</a:t>
                      </a:r>
                      <a:endParaRPr lang="en-US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  <a:ea typeface="+mn-ea"/>
                        <a:cs typeface="+mn-cs"/>
                        <a:sym typeface="Arial" panose="020B060402020209020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4749074"/>
                  </a:ext>
                </a:extLst>
              </a:tr>
              <a:tr h="970247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90204"/>
                        <a:buNone/>
                      </a:pPr>
                      <a:r>
                        <a:rPr lang="en-IN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  <a:sym typeface="Arial" panose="020B0604020202090204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90204"/>
                        <a:buNone/>
                      </a:pPr>
                      <a:r>
                        <a:rPr lang="en-IN" sz="1100" dirty="0"/>
                        <a:t>Lu et al. (2025)</a:t>
                      </a:r>
                      <a:endParaRPr lang="en-IN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  <a:ea typeface="+mn-ea"/>
                        <a:cs typeface="+mn-cs"/>
                        <a:sym typeface="Arial" panose="020B06040202020902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90204"/>
                        <a:buNone/>
                      </a:pPr>
                      <a:r>
                        <a:rPr lang="en-IN" sz="1100" dirty="0" err="1"/>
                        <a:t>DuplexMamba</a:t>
                      </a:r>
                      <a:r>
                        <a:rPr lang="en-IN" sz="1100" dirty="0"/>
                        <a:t>: Enhancing Real-time Speech Conversations with Duplex and Streaming Capabilities</a:t>
                      </a:r>
                      <a:endParaRPr lang="en-US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  <a:ea typeface="+mn-ea"/>
                        <a:cs typeface="+mn-cs"/>
                        <a:sym typeface="Arial" panose="020B06040202020902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90204"/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  <a:sym typeface="Arial" panose="020B0604020202090204"/>
                        </a:rPr>
                        <a:t>NLPCC</a:t>
                      </a:r>
                      <a:endParaRPr lang="en-IN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  <a:ea typeface="+mn-ea"/>
                        <a:cs typeface="+mn-cs"/>
                        <a:sym typeface="Arial" panose="020B06040202020902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90204"/>
                        <a:buNone/>
                      </a:pPr>
                      <a:r>
                        <a:rPr lang="en-IN" sz="1100" dirty="0"/>
                        <a:t>Mamba-based speech encoder, LLM and duplex decoding</a:t>
                      </a:r>
                      <a:endParaRPr lang="en-US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  <a:ea typeface="+mn-ea"/>
                        <a:cs typeface="+mn-cs"/>
                        <a:sym typeface="Arial" panose="020B06040202020902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90204"/>
                        <a:buNone/>
                      </a:pPr>
                      <a:r>
                        <a:rPr lang="en-IN" sz="1100" dirty="0"/>
                        <a:t>Matched recent Transformer models while supporting streaming duplex dialogue.</a:t>
                      </a:r>
                      <a:endParaRPr lang="en-US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  <a:ea typeface="+mn-ea"/>
                        <a:cs typeface="+mn-cs"/>
                        <a:sym typeface="Arial" panose="020B06040202020902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90204"/>
                        <a:buNone/>
                      </a:pPr>
                      <a:r>
                        <a:rPr lang="en-IN" sz="1100" dirty="0"/>
                        <a:t>Transformer-heavy systems remain costly for long conversations.</a:t>
                      </a:r>
                      <a:endParaRPr lang="en-US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  <a:ea typeface="+mn-ea"/>
                        <a:cs typeface="+mn-cs"/>
                        <a:sym typeface="Arial" panose="020B060402020209020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6282230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C6C24F5B-6C52-7D6F-21D8-DA0E64187B14}"/>
              </a:ext>
            </a:extLst>
          </p:cNvPr>
          <p:cNvSpPr/>
          <p:nvPr/>
        </p:nvSpPr>
        <p:spPr>
          <a:xfrm>
            <a:off x="-3" y="1120775"/>
            <a:ext cx="2302935" cy="519112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spcBef>
                <a:spcPts val="100"/>
              </a:spcBef>
              <a:tabLst>
                <a:tab pos="495300" algn="l"/>
              </a:tabLst>
            </a:pPr>
            <a:endParaRPr lang="en-IN" sz="1600" b="1" spc="-35" dirty="0">
              <a:solidFill>
                <a:schemeClr val="accent4"/>
              </a:solidFill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endParaRPr lang="en-IN" sz="1600" b="1" spc="-35" dirty="0">
              <a:solidFill>
                <a:schemeClr val="accent4"/>
              </a:solidFill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Abstract 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Introduction</a:t>
            </a:r>
          </a:p>
          <a:p>
            <a:pPr>
              <a:lnSpc>
                <a:spcPct val="200000"/>
              </a:lnSpc>
            </a:pPr>
            <a:r>
              <a:rPr lang="en-IN" sz="1500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Literature Survey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  <a:endParaRPr lang="en-IN" sz="1500" b="1" dirty="0">
              <a:solidFill>
                <a:schemeClr val="accent4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Research Gap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Architecture Diagram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Gantt Chart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</a:rPr>
              <a:t>References</a:t>
            </a:r>
          </a:p>
          <a:p>
            <a:pPr>
              <a:lnSpc>
                <a:spcPct val="250000"/>
              </a:lnSpc>
            </a:pPr>
            <a:endParaRPr lang="en-IN" sz="2400" dirty="0">
              <a:solidFill>
                <a:srgbClr val="A4123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3455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DB69D-FAC5-6BF3-0AE5-12C5C36BC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606BE-DDF4-72AF-02E1-1034D9DDB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pPr algn="l"/>
            <a:r>
              <a:rPr lang="en-IN" sz="3200" b="1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Literature Survey</a:t>
            </a:r>
            <a:endParaRPr lang="en-US" altLang="en-IN" sz="1400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  <a:sym typeface="+mn-ea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F3BC278-3936-4C25-5EC7-3BB93B863A86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8998116-5435-4725-22C6-700909E9C716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44DA77CF-8453-A866-6CEE-EF367148BAC3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9D23A7A-5DFD-A805-F642-166830ECE3E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0310347-EC10-EA74-C9F3-23CBBD3308EE}"/>
              </a:ext>
            </a:extLst>
          </p:cNvPr>
          <p:cNvGraphicFramePr>
            <a:graphicFrameLocks noGrp="1"/>
          </p:cNvGraphicFramePr>
          <p:nvPr/>
        </p:nvGraphicFramePr>
        <p:xfrm>
          <a:off x="2302932" y="1120774"/>
          <a:ext cx="9889067" cy="51911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4251">
                  <a:extLst>
                    <a:ext uri="{9D8B030D-6E8A-4147-A177-3AD203B41FA5}">
                      <a16:colId xmlns:a16="http://schemas.microsoft.com/office/drawing/2014/main" val="711285694"/>
                    </a:ext>
                  </a:extLst>
                </a:gridCol>
                <a:gridCol w="1620929">
                  <a:extLst>
                    <a:ext uri="{9D8B030D-6E8A-4147-A177-3AD203B41FA5}">
                      <a16:colId xmlns:a16="http://schemas.microsoft.com/office/drawing/2014/main" val="1533914162"/>
                    </a:ext>
                  </a:extLst>
                </a:gridCol>
                <a:gridCol w="1805541">
                  <a:extLst>
                    <a:ext uri="{9D8B030D-6E8A-4147-A177-3AD203B41FA5}">
                      <a16:colId xmlns:a16="http://schemas.microsoft.com/office/drawing/2014/main" val="2146148060"/>
                    </a:ext>
                  </a:extLst>
                </a:gridCol>
                <a:gridCol w="1620177">
                  <a:extLst>
                    <a:ext uri="{9D8B030D-6E8A-4147-A177-3AD203B41FA5}">
                      <a16:colId xmlns:a16="http://schemas.microsoft.com/office/drawing/2014/main" val="3218227663"/>
                    </a:ext>
                  </a:extLst>
                </a:gridCol>
                <a:gridCol w="1412723">
                  <a:extLst>
                    <a:ext uri="{9D8B030D-6E8A-4147-A177-3AD203B41FA5}">
                      <a16:colId xmlns:a16="http://schemas.microsoft.com/office/drawing/2014/main" val="1076539548"/>
                    </a:ext>
                  </a:extLst>
                </a:gridCol>
                <a:gridCol w="1512925">
                  <a:extLst>
                    <a:ext uri="{9D8B030D-6E8A-4147-A177-3AD203B41FA5}">
                      <a16:colId xmlns:a16="http://schemas.microsoft.com/office/drawing/2014/main" val="3196161089"/>
                    </a:ext>
                  </a:extLst>
                </a:gridCol>
                <a:gridCol w="1312521">
                  <a:extLst>
                    <a:ext uri="{9D8B030D-6E8A-4147-A177-3AD203B41FA5}">
                      <a16:colId xmlns:a16="http://schemas.microsoft.com/office/drawing/2014/main" val="1224288341"/>
                    </a:ext>
                  </a:extLst>
                </a:gridCol>
              </a:tblGrid>
              <a:tr h="496653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90204"/>
                        <a:buNone/>
                      </a:pPr>
                      <a:r>
                        <a:rPr lang="en-IN" sz="1200" b="1" i="0" u="none" strike="noStrike" cap="none">
                          <a:solidFill>
                            <a:schemeClr val="bg1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  <a:sym typeface="Arial" panose="020B0604020202090204"/>
                        </a:rPr>
                        <a:t>S.No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90204"/>
                        <a:buNone/>
                      </a:pPr>
                      <a:r>
                        <a:rPr lang="en-IN" sz="1200" b="1" i="0" u="none" strike="noStrike" cap="none">
                          <a:solidFill>
                            <a:schemeClr val="bg1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  <a:sym typeface="Arial" panose="020B0604020202090204"/>
                        </a:rPr>
                        <a:t>Authors &amp; 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90204"/>
                        <a:buNone/>
                      </a:pPr>
                      <a:r>
                        <a:rPr lang="en-IN" sz="1200" b="1" i="0" u="none" strike="noStrike" cap="none">
                          <a:solidFill>
                            <a:schemeClr val="bg1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  <a:sym typeface="Arial" panose="020B0604020202090204"/>
                        </a:rPr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90204"/>
                        <a:buNone/>
                      </a:pPr>
                      <a:r>
                        <a:rPr lang="en-IN" sz="1200" b="1" i="0" u="none" strike="noStrike" cap="none">
                          <a:solidFill>
                            <a:schemeClr val="bg1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  <a:sym typeface="Arial" panose="020B0604020202090204"/>
                        </a:rPr>
                        <a:t>Journal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90204"/>
                        <a:buNone/>
                      </a:pPr>
                      <a:r>
                        <a:rPr lang="en-IN" sz="1200" b="1" i="0" u="none" strike="noStrike" cap="none">
                          <a:solidFill>
                            <a:schemeClr val="bg1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  <a:sym typeface="Arial" panose="020B0604020202090204"/>
                        </a:rPr>
                        <a:t>Methods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90204"/>
                        <a:buNone/>
                      </a:pPr>
                      <a:r>
                        <a:rPr lang="en-IN" sz="1200" b="1" i="0" u="none" strike="noStrike" cap="none">
                          <a:solidFill>
                            <a:schemeClr val="bg1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  <a:sym typeface="Arial" panose="020B0604020202090204"/>
                        </a:rPr>
                        <a:t>Key Findings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90204"/>
                        <a:buNone/>
                      </a:pPr>
                      <a:r>
                        <a:rPr lang="en-IN" sz="1200" b="1" i="0" u="none" strike="noStrike" cap="none">
                          <a:solidFill>
                            <a:schemeClr val="bg1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  <a:sym typeface="Arial" panose="020B0604020202090204"/>
                        </a:rPr>
                        <a:t>Research Gap Identified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681931"/>
                  </a:ext>
                </a:extLst>
              </a:tr>
              <a:tr h="100986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dirty="0"/>
                        <a:t>Casanova et al. (2025)</a:t>
                      </a:r>
                      <a:endParaRPr lang="da-DK" sz="11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dirty="0"/>
                        <a:t>Open Full-duplex Voice Agent with Speech-to-Speech Language Model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dirty="0"/>
                        <a:t>IEEE ASRU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dirty="0"/>
                        <a:t>Data-efficient speech-to-speech conversion with optimized open-source inference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dirty="0"/>
                        <a:t>Enables low-latency voice agents without extensive speech-text pretraining.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dirty="0"/>
                        <a:t>Accessible open-source full-duplex pipelines remain limited.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5669190"/>
                  </a:ext>
                </a:extLst>
              </a:tr>
              <a:tr h="11245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 err="1"/>
                        <a:t>Keshireddy</a:t>
                      </a:r>
                      <a:r>
                        <a:rPr lang="en-IN" sz="1100" dirty="0"/>
                        <a:t> (2025)</a:t>
                      </a:r>
                      <a:endParaRPr lang="da-DK" sz="1100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Retrieval-Augmented Generation Techniques in Oracle APEX Improving Contextual Responses in AI Assistants</a:t>
                      </a:r>
                      <a:endParaRPr lang="en-IN" sz="1100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Archives for Technical Sciences</a:t>
                      </a:r>
                      <a:endParaRPr lang="en-IN" sz="1100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FAISS dense retrieval + BM25 hybrid RAG</a:t>
                      </a:r>
                      <a:endParaRPr lang="en-IN" sz="1100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Improved BLEU, ROUGE-L and user satisfaction while reducing token overhead.</a:t>
                      </a:r>
                      <a:endParaRPr lang="en-US" sz="1100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Needs scalable and accurate enterprise grounding.</a:t>
                      </a:r>
                      <a:endParaRPr lang="en-US" sz="1100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485192"/>
                  </a:ext>
                </a:extLst>
              </a:tr>
              <a:tr h="116812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dirty="0" err="1"/>
                        <a:t>Acikgoz</a:t>
                      </a:r>
                      <a:r>
                        <a:rPr lang="en-IN" sz="1100" dirty="0"/>
                        <a:t> et al. (2025)</a:t>
                      </a:r>
                      <a:endParaRPr lang="da-DK" sz="11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dirty="0"/>
                        <a:t>Can a Single Model Master Both Multi-turn Conversations and Tool Use? </a:t>
                      </a:r>
                      <a:r>
                        <a:rPr lang="en-IN" sz="1100" dirty="0" err="1"/>
                        <a:t>CoALM</a:t>
                      </a:r>
                      <a:r>
                        <a:rPr lang="en-IN" sz="1100" dirty="0"/>
                        <a:t>: A Unified Conversational Agentic Language Model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 ACL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dirty="0"/>
                        <a:t>Multi-task training for dialogue reasoning and API use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dirty="0" err="1"/>
                        <a:t>CoALM</a:t>
                      </a:r>
                      <a:r>
                        <a:rPr lang="en-IN" sz="1100" dirty="0"/>
                        <a:t> outperformed strong domain-specific models across benchmarks.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dirty="0"/>
                        <a:t>Existing systems struggle with new APIs and long-term user intent.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5623445"/>
                  </a:ext>
                </a:extLst>
              </a:tr>
              <a:tr h="13919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Samal, Swain &amp; Sahoo (2026)</a:t>
                      </a:r>
                      <a:endParaRPr lang="da-DK" sz="1100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 err="1"/>
                        <a:t>Srota</a:t>
                      </a:r>
                      <a:r>
                        <a:rPr lang="en-IN" sz="1100" dirty="0"/>
                        <a:t> AI: A Voice-Controlled Intelligent Web Automation Platform Using Large Language Models and Multi-Agent Orchestration</a:t>
                      </a:r>
                      <a:endParaRPr lang="en-US" sz="1100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International Journal of Economic Social Science and Management LAW</a:t>
                      </a:r>
                      <a:endParaRPr lang="en-IN" sz="1100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 err="1"/>
                        <a:t>LangGraph</a:t>
                      </a:r>
                      <a:r>
                        <a:rPr lang="en-IN" sz="1100" dirty="0"/>
                        <a:t> agents, </a:t>
                      </a:r>
                      <a:r>
                        <a:rPr lang="en-IN" sz="1100" dirty="0" err="1"/>
                        <a:t>Deepgram</a:t>
                      </a:r>
                      <a:r>
                        <a:rPr lang="en-IN" sz="1100" dirty="0"/>
                        <a:t>, semantic DOM, </a:t>
                      </a:r>
                      <a:r>
                        <a:rPr lang="en-IN" sz="1100" dirty="0" err="1"/>
                        <a:t>FastAPI</a:t>
                      </a:r>
                      <a:r>
                        <a:rPr lang="en-IN" sz="1100" dirty="0"/>
                        <a:t>, React</a:t>
                      </a:r>
                      <a:endParaRPr lang="en-IN" sz="1100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Reduced task time and errors in enterprise workflows.</a:t>
                      </a:r>
                      <a:endParaRPr lang="en-US" sz="1100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Rule-based automation remains brittle and inaccessible.</a:t>
                      </a:r>
                      <a:endParaRPr lang="en-US" sz="1100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2287808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C3CE0765-ABBF-1B0B-6312-BB480604079E}"/>
              </a:ext>
            </a:extLst>
          </p:cNvPr>
          <p:cNvSpPr/>
          <p:nvPr/>
        </p:nvSpPr>
        <p:spPr>
          <a:xfrm>
            <a:off x="-3" y="1120775"/>
            <a:ext cx="2302935" cy="519112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spcBef>
                <a:spcPts val="100"/>
              </a:spcBef>
              <a:tabLst>
                <a:tab pos="495300" algn="l"/>
              </a:tabLst>
            </a:pPr>
            <a:endParaRPr lang="en-IN" sz="1600" b="1" spc="-35" dirty="0">
              <a:solidFill>
                <a:schemeClr val="accent4"/>
              </a:solidFill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endParaRPr lang="en-IN" sz="1600" b="1" spc="-35" dirty="0">
              <a:solidFill>
                <a:schemeClr val="accent4"/>
              </a:solidFill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Abstract 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Introduction</a:t>
            </a:r>
          </a:p>
          <a:p>
            <a:pPr>
              <a:lnSpc>
                <a:spcPct val="200000"/>
              </a:lnSpc>
            </a:pPr>
            <a:r>
              <a:rPr lang="en-IN" sz="1500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Literature Survey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  <a:endParaRPr lang="en-IN" sz="1500" b="1" dirty="0">
              <a:solidFill>
                <a:schemeClr val="accent4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Research Gap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Architecture Diagram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Gantt Chart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</a:rPr>
              <a:t>References</a:t>
            </a:r>
          </a:p>
          <a:p>
            <a:pPr>
              <a:lnSpc>
                <a:spcPct val="250000"/>
              </a:lnSpc>
            </a:pPr>
            <a:endParaRPr lang="en-IN" sz="2400" dirty="0">
              <a:solidFill>
                <a:srgbClr val="A4123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6534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761C3-29BC-8CD3-C199-7DA9651F0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0F8D2-B684-04B2-BE5E-4E709A11A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pPr algn="l"/>
            <a:r>
              <a:rPr lang="en-IN" sz="3200" b="1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Literature Survey</a:t>
            </a:r>
            <a:r>
              <a:rPr lang="en-US" altLang="en-IN" sz="3200" b="1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 </a:t>
            </a:r>
            <a:endParaRPr lang="en-US" altLang="en-IN" sz="1400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  <a:sym typeface="+mn-ea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F6587F5-7D69-D146-377D-DEB33EA69986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20DF2F4-D984-38BB-E5AB-C8800C8AD728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E38E6087-12C0-341A-294E-798E8B526089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40FE02F-D1C7-4627-DF59-D406535E3E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C3916ED-8C2F-6650-010F-5D3B8F3C3E65}"/>
              </a:ext>
            </a:extLst>
          </p:cNvPr>
          <p:cNvGraphicFramePr>
            <a:graphicFrameLocks noGrp="1"/>
          </p:cNvGraphicFramePr>
          <p:nvPr/>
        </p:nvGraphicFramePr>
        <p:xfrm>
          <a:off x="2302932" y="1120773"/>
          <a:ext cx="9889066" cy="51911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4250">
                  <a:extLst>
                    <a:ext uri="{9D8B030D-6E8A-4147-A177-3AD203B41FA5}">
                      <a16:colId xmlns:a16="http://schemas.microsoft.com/office/drawing/2014/main" val="711285694"/>
                    </a:ext>
                  </a:extLst>
                </a:gridCol>
                <a:gridCol w="1667844">
                  <a:extLst>
                    <a:ext uri="{9D8B030D-6E8A-4147-A177-3AD203B41FA5}">
                      <a16:colId xmlns:a16="http://schemas.microsoft.com/office/drawing/2014/main" val="1533914162"/>
                    </a:ext>
                  </a:extLst>
                </a:gridCol>
                <a:gridCol w="1966076">
                  <a:extLst>
                    <a:ext uri="{9D8B030D-6E8A-4147-A177-3AD203B41FA5}">
                      <a16:colId xmlns:a16="http://schemas.microsoft.com/office/drawing/2014/main" val="2146148060"/>
                    </a:ext>
                  </a:extLst>
                </a:gridCol>
                <a:gridCol w="1412724">
                  <a:extLst>
                    <a:ext uri="{9D8B030D-6E8A-4147-A177-3AD203B41FA5}">
                      <a16:colId xmlns:a16="http://schemas.microsoft.com/office/drawing/2014/main" val="3218227663"/>
                    </a:ext>
                  </a:extLst>
                </a:gridCol>
                <a:gridCol w="1412724">
                  <a:extLst>
                    <a:ext uri="{9D8B030D-6E8A-4147-A177-3AD203B41FA5}">
                      <a16:colId xmlns:a16="http://schemas.microsoft.com/office/drawing/2014/main" val="1076539548"/>
                    </a:ext>
                  </a:extLst>
                </a:gridCol>
                <a:gridCol w="1412724">
                  <a:extLst>
                    <a:ext uri="{9D8B030D-6E8A-4147-A177-3AD203B41FA5}">
                      <a16:colId xmlns:a16="http://schemas.microsoft.com/office/drawing/2014/main" val="3196161089"/>
                    </a:ext>
                  </a:extLst>
                </a:gridCol>
                <a:gridCol w="1412724">
                  <a:extLst>
                    <a:ext uri="{9D8B030D-6E8A-4147-A177-3AD203B41FA5}">
                      <a16:colId xmlns:a16="http://schemas.microsoft.com/office/drawing/2014/main" val="1224288341"/>
                    </a:ext>
                  </a:extLst>
                </a:gridCol>
              </a:tblGrid>
              <a:tr h="564302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90204"/>
                        <a:buNone/>
                      </a:pPr>
                      <a:r>
                        <a:rPr lang="en-IN" sz="1200" b="1" i="0" u="none" strike="noStrike" cap="none">
                          <a:solidFill>
                            <a:schemeClr val="bg1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  <a:sym typeface="Arial" panose="020B0604020202090204"/>
                        </a:rPr>
                        <a:t>S.No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90204"/>
                        <a:buNone/>
                      </a:pPr>
                      <a:r>
                        <a:rPr lang="en-IN" sz="1200" b="1" i="0" u="none" strike="noStrike" cap="none">
                          <a:solidFill>
                            <a:schemeClr val="bg1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  <a:sym typeface="Arial" panose="020B0604020202090204"/>
                        </a:rPr>
                        <a:t>Authors &amp; 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90204"/>
                        <a:buNone/>
                      </a:pPr>
                      <a:r>
                        <a:rPr lang="en-IN" sz="1200" b="1" i="0" u="none" strike="noStrike" cap="none">
                          <a:solidFill>
                            <a:schemeClr val="bg1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  <a:sym typeface="Arial" panose="020B0604020202090204"/>
                        </a:rPr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90204"/>
                        <a:buNone/>
                      </a:pPr>
                      <a:r>
                        <a:rPr lang="en-IN" sz="1200" b="1" i="0" u="none" strike="noStrike" cap="none">
                          <a:solidFill>
                            <a:schemeClr val="bg1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  <a:sym typeface="Arial" panose="020B0604020202090204"/>
                        </a:rPr>
                        <a:t>Journal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90204"/>
                        <a:buNone/>
                      </a:pPr>
                      <a:r>
                        <a:rPr lang="en-IN" sz="1200" b="1" i="0" u="none" strike="noStrike" cap="none">
                          <a:solidFill>
                            <a:schemeClr val="bg1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  <a:sym typeface="Arial" panose="020B0604020202090204"/>
                        </a:rPr>
                        <a:t>Methods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90204"/>
                        <a:buNone/>
                      </a:pPr>
                      <a:r>
                        <a:rPr lang="en-IN" sz="1200" b="1" i="0" u="none" strike="noStrike" cap="none">
                          <a:solidFill>
                            <a:schemeClr val="bg1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  <a:sym typeface="Arial" panose="020B0604020202090204"/>
                        </a:rPr>
                        <a:t>Key Findings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90204"/>
                        <a:buNone/>
                      </a:pPr>
                      <a:r>
                        <a:rPr lang="en-IN" sz="1200" b="1" i="0" u="none" strike="noStrike" cap="none" dirty="0">
                          <a:solidFill>
                            <a:schemeClr val="bg1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  <a:sym typeface="Arial" panose="020B0604020202090204"/>
                        </a:rPr>
                        <a:t>Research Gap Identified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681931"/>
                  </a:ext>
                </a:extLst>
              </a:tr>
              <a:tr h="13543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Zhang et al. (2025)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Artificial intelligence voice gender, gender role congruity, and trust in automated vehicles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Scientific Reports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Study of voice gender similarity and trust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Voice characteristics can influence cognitive and affective trust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Needs research on accent, emotion, age and personalization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093852739"/>
                  </a:ext>
                </a:extLst>
              </a:tr>
              <a:tr h="9776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Mahajan et al. (2025)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Transforming healthcare delivery with conversational AI platforms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npj</a:t>
                      </a: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Digital Medicine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Review of conversational AI and voice-agent deployment in healthcare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Trust, governance, validation and interoperability are critical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Needs standardized frameworks, benchmarks and safety models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235614886"/>
                  </a:ext>
                </a:extLst>
              </a:tr>
              <a:tr h="13543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Loughnane et al. (2025)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Systematic review exploring human, AI, and hybrid health coaching interventions for psychological well-being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Frontiers in Digital Health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Systematic review of human, AI and hybrid health coaching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AI and hybrid coaching can support psychological well-being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Needs standardized metrics, longer studies and voice/text comparisons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446282230"/>
                  </a:ext>
                </a:extLst>
              </a:tr>
              <a:tr h="94050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Hong &amp; Park (2025)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Developing user-centered system design guidelines for explainable AI: a systematic literature review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Artificial Intelligence Review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Systematic review of user-centered explainable-AI design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Explanations should match user needs and interaction context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Needs real-time voice-agent evaluation without disrupting conversation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755669190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F6C328CB-AE82-113D-2BC8-9164B736A0A4}"/>
              </a:ext>
            </a:extLst>
          </p:cNvPr>
          <p:cNvSpPr/>
          <p:nvPr/>
        </p:nvSpPr>
        <p:spPr>
          <a:xfrm>
            <a:off x="-3" y="1120775"/>
            <a:ext cx="2302935" cy="519112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spcBef>
                <a:spcPts val="100"/>
              </a:spcBef>
              <a:tabLst>
                <a:tab pos="495300" algn="l"/>
              </a:tabLst>
            </a:pPr>
            <a:endParaRPr lang="en-IN" sz="1600" b="1" spc="-35" dirty="0">
              <a:solidFill>
                <a:schemeClr val="accent4"/>
              </a:solidFill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endParaRPr lang="en-IN" sz="1600" b="1" spc="-35" dirty="0">
              <a:solidFill>
                <a:schemeClr val="accent4"/>
              </a:solidFill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Abstract 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Introduction</a:t>
            </a:r>
          </a:p>
          <a:p>
            <a:pPr>
              <a:lnSpc>
                <a:spcPct val="200000"/>
              </a:lnSpc>
            </a:pPr>
            <a:r>
              <a:rPr lang="en-IN" sz="1500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Literature Survey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  <a:endParaRPr lang="en-IN" sz="1500" b="1" dirty="0">
              <a:solidFill>
                <a:schemeClr val="accent4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Research Gap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Architecture Diagram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Gantt Chart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</a:rPr>
              <a:t>References</a:t>
            </a:r>
          </a:p>
          <a:p>
            <a:pPr>
              <a:lnSpc>
                <a:spcPct val="250000"/>
              </a:lnSpc>
            </a:pPr>
            <a:endParaRPr lang="en-IN" sz="2400" dirty="0">
              <a:solidFill>
                <a:srgbClr val="A4123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7449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5F0D5-B917-7200-4A9A-D90875021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FCA83-64A4-EB42-8E1F-BB2C74A88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pPr algn="l"/>
            <a:r>
              <a:rPr lang="en-IN" sz="3200" b="1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Literature Survey</a:t>
            </a:r>
            <a:r>
              <a:rPr lang="en-US" altLang="en-IN" sz="3200" b="1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 </a:t>
            </a:r>
            <a:endParaRPr lang="en-US" altLang="en-IN" sz="1400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  <a:sym typeface="+mn-ea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9C0855F-3FE7-FADA-BA7C-BA9DE2BFBA59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EFBFCA0-D89D-DEE3-280E-DAFC23A8A919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ADCA8F46-E745-2DF6-F210-DB6895649D01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E59B9CD-054A-DE16-26EA-B5A43528506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B27721B-6BF8-B4AD-3A65-9BDD60FFAC32}"/>
              </a:ext>
            </a:extLst>
          </p:cNvPr>
          <p:cNvGraphicFramePr>
            <a:graphicFrameLocks noGrp="1"/>
          </p:cNvGraphicFramePr>
          <p:nvPr/>
        </p:nvGraphicFramePr>
        <p:xfrm>
          <a:off x="2302932" y="1120774"/>
          <a:ext cx="9889067" cy="5191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4251">
                  <a:extLst>
                    <a:ext uri="{9D8B030D-6E8A-4147-A177-3AD203B41FA5}">
                      <a16:colId xmlns:a16="http://schemas.microsoft.com/office/drawing/2014/main" val="711285694"/>
                    </a:ext>
                  </a:extLst>
                </a:gridCol>
                <a:gridCol w="1727209">
                  <a:extLst>
                    <a:ext uri="{9D8B030D-6E8A-4147-A177-3AD203B41FA5}">
                      <a16:colId xmlns:a16="http://schemas.microsoft.com/office/drawing/2014/main" val="1533914162"/>
                    </a:ext>
                  </a:extLst>
                </a:gridCol>
                <a:gridCol w="1906711">
                  <a:extLst>
                    <a:ext uri="{9D8B030D-6E8A-4147-A177-3AD203B41FA5}">
                      <a16:colId xmlns:a16="http://schemas.microsoft.com/office/drawing/2014/main" val="2146148060"/>
                    </a:ext>
                  </a:extLst>
                </a:gridCol>
                <a:gridCol w="1412724">
                  <a:extLst>
                    <a:ext uri="{9D8B030D-6E8A-4147-A177-3AD203B41FA5}">
                      <a16:colId xmlns:a16="http://schemas.microsoft.com/office/drawing/2014/main" val="3218227663"/>
                    </a:ext>
                  </a:extLst>
                </a:gridCol>
                <a:gridCol w="1412724">
                  <a:extLst>
                    <a:ext uri="{9D8B030D-6E8A-4147-A177-3AD203B41FA5}">
                      <a16:colId xmlns:a16="http://schemas.microsoft.com/office/drawing/2014/main" val="1076539548"/>
                    </a:ext>
                  </a:extLst>
                </a:gridCol>
                <a:gridCol w="1412724">
                  <a:extLst>
                    <a:ext uri="{9D8B030D-6E8A-4147-A177-3AD203B41FA5}">
                      <a16:colId xmlns:a16="http://schemas.microsoft.com/office/drawing/2014/main" val="3196161089"/>
                    </a:ext>
                  </a:extLst>
                </a:gridCol>
                <a:gridCol w="1412724">
                  <a:extLst>
                    <a:ext uri="{9D8B030D-6E8A-4147-A177-3AD203B41FA5}">
                      <a16:colId xmlns:a16="http://schemas.microsoft.com/office/drawing/2014/main" val="1224288341"/>
                    </a:ext>
                  </a:extLst>
                </a:gridCol>
              </a:tblGrid>
              <a:tr h="483493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90204"/>
                        <a:buNone/>
                      </a:pPr>
                      <a:r>
                        <a:rPr lang="en-IN" sz="1200" b="1" i="0" u="none" strike="noStrike" cap="none">
                          <a:solidFill>
                            <a:schemeClr val="bg1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  <a:sym typeface="Arial" panose="020B0604020202090204"/>
                        </a:rPr>
                        <a:t>S.No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90204"/>
                        <a:buNone/>
                      </a:pPr>
                      <a:r>
                        <a:rPr lang="en-IN" sz="1200" b="1" i="0" u="none" strike="noStrike" cap="none">
                          <a:solidFill>
                            <a:schemeClr val="bg1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  <a:sym typeface="Arial" panose="020B0604020202090204"/>
                        </a:rPr>
                        <a:t>Authors &amp; 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90204"/>
                        <a:buNone/>
                      </a:pPr>
                      <a:r>
                        <a:rPr lang="en-IN" sz="1200" b="1" i="0" u="none" strike="noStrike" cap="none" dirty="0">
                          <a:solidFill>
                            <a:schemeClr val="bg1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  <a:sym typeface="Arial" panose="020B0604020202090204"/>
                        </a:rPr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90204"/>
                        <a:buNone/>
                      </a:pPr>
                      <a:r>
                        <a:rPr lang="en-IN" sz="1200" b="1" i="0" u="none" strike="noStrike" cap="none" dirty="0">
                          <a:solidFill>
                            <a:schemeClr val="bg1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  <a:sym typeface="Arial" panose="020B0604020202090204"/>
                        </a:rPr>
                        <a:t>Journal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90204"/>
                        <a:buNone/>
                      </a:pPr>
                      <a:r>
                        <a:rPr lang="en-IN" sz="1200" b="1" i="0" u="none" strike="noStrike" cap="none">
                          <a:solidFill>
                            <a:schemeClr val="bg1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  <a:sym typeface="Arial" panose="020B0604020202090204"/>
                        </a:rPr>
                        <a:t>Methods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90204"/>
                        <a:buNone/>
                      </a:pPr>
                      <a:r>
                        <a:rPr lang="en-IN" sz="1200" b="1" i="0" u="none" strike="noStrike" cap="none">
                          <a:solidFill>
                            <a:schemeClr val="bg1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  <a:sym typeface="Arial" panose="020B0604020202090204"/>
                        </a:rPr>
                        <a:t>Key Findings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90204"/>
                        <a:buNone/>
                      </a:pPr>
                      <a:r>
                        <a:rPr lang="en-IN" sz="1200" b="1" i="0" u="none" strike="noStrike" cap="none">
                          <a:solidFill>
                            <a:schemeClr val="bg1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  <a:sym typeface="Arial" panose="020B0604020202090204"/>
                        </a:rPr>
                        <a:t>Research Gap Identified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681931"/>
                  </a:ext>
                </a:extLst>
              </a:tr>
              <a:tr h="68829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dirty="0"/>
                        <a:t>Wang et al. (2024)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dirty="0"/>
                        <a:t>Double Decoder: Improving Latency for Streaming End-to-end ASR Models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ICNLSP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dirty="0"/>
                        <a:t>Double-decoder streaming ASR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dirty="0"/>
                        <a:t>Reduced latency without WER degradation.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dirty="0"/>
                        <a:t>Latency, stability and computational cost remain trade-offs.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5830554"/>
                  </a:ext>
                </a:extLst>
              </a:tr>
              <a:tr h="16922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 dirty="0">
                          <a:latin typeface="Georgia" panose="02040502050405020303" pitchFamily="18" charset="0"/>
                        </a:rPr>
                        <a:t>Vaswani et al. (2017)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Georgia" panose="02040502050405020303" pitchFamily="18" charset="0"/>
                        </a:rPr>
                        <a:t>Attention Is All You Need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Advances in Neural Information Processing Systems (</a:t>
                      </a:r>
                      <a:r>
                        <a:rPr lang="en-IN" sz="1100" dirty="0" err="1"/>
                        <a:t>NeurIPS</a:t>
                      </a:r>
                      <a:r>
                        <a:rPr lang="en-IN" sz="1100" dirty="0"/>
                        <a:t>)</a:t>
                      </a:r>
                      <a:endParaRPr lang="en-IN" sz="1100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Self-attention, multi-head attention, positional encoding, encoder-decoder Transformer</a:t>
                      </a:r>
                      <a:endParaRPr lang="en-IN" sz="1100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 dirty="0"/>
                        <a:t>Introduced the Transformer, achieving strong translation performance with greater parallelization and reduced training time. </a:t>
                      </a:r>
                      <a:endParaRPr lang="en-US" sz="1100" b="0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Quadratic attention cost limits scalability for long sequences; motivates efficient SSM and quantum-attention alternatives.</a:t>
                      </a:r>
                      <a:endParaRPr lang="en-US" sz="1100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6282230"/>
                  </a:ext>
                </a:extLst>
              </a:tr>
              <a:tr h="99114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 err="1"/>
                        <a:t>Zardini</a:t>
                      </a:r>
                      <a:r>
                        <a:rPr lang="en-IN" sz="1100" dirty="0"/>
                        <a:t>, E., </a:t>
                      </a:r>
                      <a:r>
                        <a:rPr lang="en-IN" sz="1100" dirty="0" err="1"/>
                        <a:t>Blanzieri</a:t>
                      </a:r>
                      <a:r>
                        <a:rPr lang="en-IN" sz="1100" dirty="0"/>
                        <a:t>, E., &amp; Pastorello, D. (2024)</a:t>
                      </a:r>
                      <a:endParaRPr lang="da-DK" sz="1100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A quantum k-nearest </a:t>
                      </a:r>
                      <a:r>
                        <a:rPr lang="en-IN" sz="1100" dirty="0" err="1"/>
                        <a:t>neighbors</a:t>
                      </a:r>
                      <a:r>
                        <a:rPr lang="en-IN" sz="1100" dirty="0"/>
                        <a:t> algorithm based on the Euclidean distance estimation</a:t>
                      </a:r>
                      <a:endParaRPr lang="en-US" sz="1100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Quantum Machine Intelligence</a:t>
                      </a:r>
                      <a:endParaRPr lang="en-US" sz="1100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Quantum distance estimation, quantum k-NN</a:t>
                      </a:r>
                      <a:endParaRPr lang="en-IN" sz="1100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Demonstrates quantum nearest-</a:t>
                      </a:r>
                      <a:r>
                        <a:rPr lang="en-IN" sz="1100" dirty="0" err="1"/>
                        <a:t>neighbor</a:t>
                      </a:r>
                      <a:r>
                        <a:rPr lang="en-IN" sz="1100" dirty="0"/>
                        <a:t> classification using distance estimation.</a:t>
                      </a:r>
                      <a:endParaRPr lang="en-US" sz="1100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No large-scale vector retrieval or real-time RAG evaluation.</a:t>
                      </a:r>
                      <a:endParaRPr lang="en-US" sz="1100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8591045"/>
                  </a:ext>
                </a:extLst>
              </a:tr>
              <a:tr h="133595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Jäger, J., &amp; Krems, R. V. (2023)</a:t>
                      </a:r>
                      <a:endParaRPr lang="da-DK" sz="1100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Universal expressiveness of variational quantum classifiers and quantum kernels for support vector machines</a:t>
                      </a:r>
                      <a:endParaRPr lang="en-IN" sz="1100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Nature Communications</a:t>
                      </a:r>
                      <a:endParaRPr lang="en-IN" sz="1100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Variational quantum classifiers, quantum kernels</a:t>
                      </a:r>
                      <a:endParaRPr lang="en-IN" sz="1100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Demonstrates strong expressive power of quantum kernels and VQCs.</a:t>
                      </a:r>
                      <a:endParaRPr lang="en-IN" sz="1100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No application to semantic vector retrieval or RAG.</a:t>
                      </a:r>
                      <a:endParaRPr lang="en-US" sz="1100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0665517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CF6226C6-C9B5-8D46-B568-7BBEF6C94C0E}"/>
              </a:ext>
            </a:extLst>
          </p:cNvPr>
          <p:cNvSpPr/>
          <p:nvPr/>
        </p:nvSpPr>
        <p:spPr>
          <a:xfrm>
            <a:off x="-3" y="1120775"/>
            <a:ext cx="2302935" cy="519112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spcBef>
                <a:spcPts val="100"/>
              </a:spcBef>
              <a:tabLst>
                <a:tab pos="495300" algn="l"/>
              </a:tabLst>
            </a:pPr>
            <a:endParaRPr lang="en-IN" sz="1600" b="1" spc="-35" dirty="0">
              <a:solidFill>
                <a:schemeClr val="accent4"/>
              </a:solidFill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endParaRPr lang="en-IN" sz="1600" b="1" spc="-35" dirty="0">
              <a:solidFill>
                <a:schemeClr val="accent4"/>
              </a:solidFill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Abstract 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Introduction</a:t>
            </a:r>
          </a:p>
          <a:p>
            <a:pPr>
              <a:lnSpc>
                <a:spcPct val="200000"/>
              </a:lnSpc>
            </a:pPr>
            <a:r>
              <a:rPr lang="en-IN" sz="1500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Literature Survey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  <a:endParaRPr lang="en-IN" sz="1500" b="1" dirty="0">
              <a:solidFill>
                <a:schemeClr val="accent4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Research Gap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Architecture Diagram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Gantt Chart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</a:rPr>
              <a:t>References</a:t>
            </a:r>
          </a:p>
          <a:p>
            <a:pPr>
              <a:lnSpc>
                <a:spcPct val="250000"/>
              </a:lnSpc>
            </a:pPr>
            <a:endParaRPr lang="en-IN" sz="2400" dirty="0">
              <a:solidFill>
                <a:srgbClr val="A4123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53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0034C-1981-6FAB-30F2-449FAF988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05082-358F-F495-46EA-56A8FA14E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pPr algn="l"/>
            <a:r>
              <a:rPr lang="en-IN" sz="3200" b="1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Literature Survey</a:t>
            </a:r>
            <a:r>
              <a:rPr lang="en-US" altLang="en-IN" sz="3200" b="1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 </a:t>
            </a:r>
            <a:endParaRPr lang="en-US" altLang="en-IN" sz="1400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  <a:sym typeface="+mn-ea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D7BA41F-845E-CAD9-706E-8DE5DE78ADB6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EB73501-D298-4C4C-4D43-CC0E00E10B5E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3A59C57D-43A8-E3AA-F101-5EC2BA46196F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9ECBA06-7C4C-5C96-DC4E-5F699620B7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6626901-0065-52D3-9DAD-09146C1DE3E4}"/>
              </a:ext>
            </a:extLst>
          </p:cNvPr>
          <p:cNvGraphicFramePr>
            <a:graphicFrameLocks noGrp="1"/>
          </p:cNvGraphicFramePr>
          <p:nvPr/>
        </p:nvGraphicFramePr>
        <p:xfrm>
          <a:off x="2302932" y="1143688"/>
          <a:ext cx="9889067" cy="51682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4250">
                  <a:extLst>
                    <a:ext uri="{9D8B030D-6E8A-4147-A177-3AD203B41FA5}">
                      <a16:colId xmlns:a16="http://schemas.microsoft.com/office/drawing/2014/main" val="711285694"/>
                    </a:ext>
                  </a:extLst>
                </a:gridCol>
                <a:gridCol w="1584339">
                  <a:extLst>
                    <a:ext uri="{9D8B030D-6E8A-4147-A177-3AD203B41FA5}">
                      <a16:colId xmlns:a16="http://schemas.microsoft.com/office/drawing/2014/main" val="1533914162"/>
                    </a:ext>
                  </a:extLst>
                </a:gridCol>
                <a:gridCol w="2049582">
                  <a:extLst>
                    <a:ext uri="{9D8B030D-6E8A-4147-A177-3AD203B41FA5}">
                      <a16:colId xmlns:a16="http://schemas.microsoft.com/office/drawing/2014/main" val="2146148060"/>
                    </a:ext>
                  </a:extLst>
                </a:gridCol>
                <a:gridCol w="1412724">
                  <a:extLst>
                    <a:ext uri="{9D8B030D-6E8A-4147-A177-3AD203B41FA5}">
                      <a16:colId xmlns:a16="http://schemas.microsoft.com/office/drawing/2014/main" val="3218227663"/>
                    </a:ext>
                  </a:extLst>
                </a:gridCol>
                <a:gridCol w="1338136">
                  <a:extLst>
                    <a:ext uri="{9D8B030D-6E8A-4147-A177-3AD203B41FA5}">
                      <a16:colId xmlns:a16="http://schemas.microsoft.com/office/drawing/2014/main" val="1076539548"/>
                    </a:ext>
                  </a:extLst>
                </a:gridCol>
                <a:gridCol w="1487312">
                  <a:extLst>
                    <a:ext uri="{9D8B030D-6E8A-4147-A177-3AD203B41FA5}">
                      <a16:colId xmlns:a16="http://schemas.microsoft.com/office/drawing/2014/main" val="3196161089"/>
                    </a:ext>
                  </a:extLst>
                </a:gridCol>
                <a:gridCol w="1412724">
                  <a:extLst>
                    <a:ext uri="{9D8B030D-6E8A-4147-A177-3AD203B41FA5}">
                      <a16:colId xmlns:a16="http://schemas.microsoft.com/office/drawing/2014/main" val="1224288341"/>
                    </a:ext>
                  </a:extLst>
                </a:gridCol>
              </a:tblGrid>
              <a:tr h="843040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90204"/>
                        <a:buNone/>
                      </a:pPr>
                      <a:r>
                        <a:rPr lang="en-IN" sz="1200" b="1" i="0" u="none" strike="noStrike" cap="none">
                          <a:solidFill>
                            <a:schemeClr val="bg1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  <a:sym typeface="Arial" panose="020B0604020202090204"/>
                        </a:rPr>
                        <a:t>S.No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90204"/>
                        <a:buNone/>
                      </a:pPr>
                      <a:r>
                        <a:rPr lang="en-IN" sz="1200" b="1" i="0" u="none" strike="noStrike" cap="none">
                          <a:solidFill>
                            <a:schemeClr val="bg1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  <a:sym typeface="Arial" panose="020B0604020202090204"/>
                        </a:rPr>
                        <a:t>Authors &amp; 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90204"/>
                        <a:buNone/>
                      </a:pPr>
                      <a:r>
                        <a:rPr lang="en-IN" sz="1200" b="1" i="0" u="none" strike="noStrike" cap="none">
                          <a:solidFill>
                            <a:schemeClr val="bg1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  <a:sym typeface="Arial" panose="020B0604020202090204"/>
                        </a:rPr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90204"/>
                        <a:buNone/>
                      </a:pPr>
                      <a:r>
                        <a:rPr lang="en-IN" sz="1200" b="1" i="0" u="none" strike="noStrike" cap="none">
                          <a:solidFill>
                            <a:schemeClr val="bg1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  <a:sym typeface="Arial" panose="020B0604020202090204"/>
                        </a:rPr>
                        <a:t>Journal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90204"/>
                        <a:buNone/>
                      </a:pPr>
                      <a:r>
                        <a:rPr lang="en-IN" sz="1200" b="1" i="0" u="none" strike="noStrike" cap="none">
                          <a:solidFill>
                            <a:schemeClr val="bg1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  <a:sym typeface="Arial" panose="020B0604020202090204"/>
                        </a:rPr>
                        <a:t>Methods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90204"/>
                        <a:buNone/>
                      </a:pPr>
                      <a:r>
                        <a:rPr lang="en-IN" sz="1200" b="1" i="0" u="none" strike="noStrike" cap="none">
                          <a:solidFill>
                            <a:schemeClr val="bg1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  <a:sym typeface="Arial" panose="020B0604020202090204"/>
                        </a:rPr>
                        <a:t>Key Findings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90204"/>
                        <a:buNone/>
                      </a:pPr>
                      <a:r>
                        <a:rPr lang="en-IN" sz="1200" b="1" i="0" u="none" strike="noStrike" cap="none">
                          <a:solidFill>
                            <a:schemeClr val="bg1"/>
                          </a:solidFill>
                          <a:effectLst/>
                          <a:latin typeface="Georgia" panose="02040502050405020303" pitchFamily="18" charset="0"/>
                          <a:ea typeface="+mn-ea"/>
                          <a:cs typeface="+mn-cs"/>
                          <a:sym typeface="Arial" panose="020B0604020202090204"/>
                        </a:rPr>
                        <a:t>Research Gap Identified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681931"/>
                  </a:ext>
                </a:extLst>
              </a:tr>
              <a:tr h="15150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S. Shi et al., 2026</a:t>
                      </a:r>
                      <a:endParaRPr lang="es-ES" sz="1100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A quantum neural network with built-in self-attention mechanism</a:t>
                      </a:r>
                      <a:endParaRPr lang="en-US" sz="1100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Neurocomputing</a:t>
                      </a:r>
                      <a:endParaRPr lang="en-IN" sz="1100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PQCs, quantum Q/K/V states, quantum self-attention</a:t>
                      </a:r>
                      <a:endParaRPr lang="en-IN" sz="1100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Implements self-attention using parameterized quantum circuits without QRAM.</a:t>
                      </a:r>
                      <a:endParaRPr lang="en-US" sz="1100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Not validated for multimodal speech or full-duplex LLMs.</a:t>
                      </a:r>
                      <a:endParaRPr lang="en-US" sz="1100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0756802"/>
                  </a:ext>
                </a:extLst>
              </a:tr>
              <a:tr h="14050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K. </a:t>
                      </a:r>
                      <a:r>
                        <a:rPr lang="en-IN" sz="1100" dirty="0" err="1"/>
                        <a:t>Blekos</a:t>
                      </a:r>
                      <a:r>
                        <a:rPr lang="en-IN" sz="1100" dirty="0"/>
                        <a:t> et al., 2024</a:t>
                      </a:r>
                      <a:endParaRPr lang="en-IN" sz="1100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A Review on Quantum Approximate Optimization Algorithm and its Variants</a:t>
                      </a:r>
                      <a:endParaRPr lang="en-US" sz="1100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Physics Reports</a:t>
                      </a:r>
                      <a:endParaRPr lang="en-IN" sz="1100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QAOA, QUBO, variational quantum optimization</a:t>
                      </a:r>
                      <a:endParaRPr lang="en-IN" sz="1100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Reviews QAOA methods and their optimization potential.</a:t>
                      </a:r>
                      <a:endParaRPr lang="en-US" sz="1100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No direct application to CTC/ASR beam decoding.</a:t>
                      </a:r>
                      <a:endParaRPr lang="en-US" sz="1100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6078412"/>
                  </a:ext>
                </a:extLst>
              </a:tr>
              <a:tr h="14050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J. Bausch et al., 2021</a:t>
                      </a:r>
                      <a:endParaRPr lang="en-IN" sz="1100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A quantum search decoder for natural language processing</a:t>
                      </a:r>
                      <a:endParaRPr lang="en-US" sz="1100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Quantum Machine Intelligence</a:t>
                      </a:r>
                      <a:endParaRPr lang="en-US" sz="1100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Quantum search, amplitude amplification, beam search</a:t>
                      </a:r>
                      <a:endParaRPr lang="en-IN" sz="1100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Quantum search improves beam decoding speed and accuracy.</a:t>
                      </a:r>
                      <a:endParaRPr lang="en-US" sz="1100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Not evaluated for modern streaming CTC-ASR or QAOA-based decoding.</a:t>
                      </a:r>
                      <a:endParaRPr lang="en-US" sz="1100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475033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5CF6F501-6E6A-68EB-A17C-D4EE9DD24DF7}"/>
              </a:ext>
            </a:extLst>
          </p:cNvPr>
          <p:cNvSpPr/>
          <p:nvPr/>
        </p:nvSpPr>
        <p:spPr>
          <a:xfrm>
            <a:off x="-3" y="1120775"/>
            <a:ext cx="2302935" cy="519112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spcBef>
                <a:spcPts val="100"/>
              </a:spcBef>
              <a:tabLst>
                <a:tab pos="495300" algn="l"/>
              </a:tabLst>
            </a:pPr>
            <a:endParaRPr lang="en-IN" sz="1600" b="1" spc="-35" dirty="0">
              <a:solidFill>
                <a:schemeClr val="accent4"/>
              </a:solidFill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endParaRPr lang="en-IN" sz="1600" b="1" spc="-35" dirty="0">
              <a:solidFill>
                <a:schemeClr val="accent4"/>
              </a:solidFill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Abstract 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Introduction</a:t>
            </a:r>
          </a:p>
          <a:p>
            <a:pPr>
              <a:lnSpc>
                <a:spcPct val="200000"/>
              </a:lnSpc>
            </a:pPr>
            <a:r>
              <a:rPr lang="en-IN" sz="1500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Literature Survey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  <a:endParaRPr lang="en-IN" sz="1500" b="1" dirty="0">
              <a:solidFill>
                <a:schemeClr val="accent4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Research Gap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Architecture Diagram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Gantt Chart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</a:rPr>
              <a:t>References</a:t>
            </a:r>
          </a:p>
          <a:p>
            <a:pPr>
              <a:lnSpc>
                <a:spcPct val="250000"/>
              </a:lnSpc>
            </a:pPr>
            <a:endParaRPr lang="en-IN" sz="2400" dirty="0">
              <a:solidFill>
                <a:srgbClr val="A4123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89167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IN" sz="3200" b="1" spc="-35">
                <a:latin typeface="Cambria" panose="02040503050406030204" pitchFamily="18" charset="0"/>
                <a:ea typeface="Cambria" panose="02040503050406030204" pitchFamily="18" charset="0"/>
                <a:cs typeface="Times New Roman" panose="02020503050405090304"/>
              </a:rPr>
              <a:t>Problem Statement</a:t>
            </a:r>
            <a:endParaRPr lang="en-IN" sz="3200" b="1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/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5AE1251-E439-AAFD-FA65-3BFE4AA08005}"/>
              </a:ext>
            </a:extLst>
          </p:cNvPr>
          <p:cNvSpPr txBox="1"/>
          <p:nvPr/>
        </p:nvSpPr>
        <p:spPr>
          <a:xfrm>
            <a:off x="2855483" y="1157351"/>
            <a:ext cx="8587317" cy="3694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Georgia" panose="02040502050405090303"/>
              <a:buNone/>
              <a:defRPr sz="4000" b="0" i="0" u="none" strike="noStrike" cap="none">
                <a:solidFill>
                  <a:schemeClr val="lt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algn="just"/>
            <a:r>
              <a:rPr lang="en-US" sz="2000" dirty="0">
                <a:solidFill>
                  <a:schemeClr val="tx1"/>
                </a:solidFill>
              </a:rPr>
              <a:t>Conversational voice agents continue to face high latency, operational costs, and dependency on cloud-based pipelines. Sequential ASR, LLM, and TTS processing introduces network delays and unpredictable response times, while fixed-silence detection often causes poor turn-taking and speech overlap. Existing systems also struggle with dynamic intent routing, state management, and real-time barge-in handling when multiple knowledge sources and tools are involved. This creates a need for an open, edge-assisted voice agent framework that enables low-latency interaction, seamless interruption, optimized context routing, and reliable tool execution without dependence on costly proprietary infrastructure.</a:t>
            </a:r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6D3026A-017C-C7F1-BF72-F35BF787A2B0}"/>
              </a:ext>
            </a:extLst>
          </p:cNvPr>
          <p:cNvSpPr/>
          <p:nvPr/>
        </p:nvSpPr>
        <p:spPr>
          <a:xfrm>
            <a:off x="-2" y="1157351"/>
            <a:ext cx="2302935" cy="519112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spcBef>
                <a:spcPts val="100"/>
              </a:spcBef>
              <a:tabLst>
                <a:tab pos="495300" algn="l"/>
              </a:tabLst>
            </a:pPr>
            <a:endParaRPr lang="en-IN" b="1" spc="-35" dirty="0">
              <a:solidFill>
                <a:schemeClr val="accent4"/>
              </a:solidFill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endParaRPr lang="en-IN" b="1" spc="-35" dirty="0">
              <a:solidFill>
                <a:schemeClr val="accent4"/>
              </a:solidFill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Abstract</a:t>
            </a:r>
            <a:r>
              <a:rPr lang="en-IN" sz="1500" b="1" dirty="0">
                <a:solidFill>
                  <a:schemeClr val="accent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IN" sz="1500" b="1" dirty="0">
              <a:solidFill>
                <a:schemeClr val="accent4"/>
              </a:solidFill>
              <a:latin typeface="Cambria" panose="020405030504060302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Introduction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Literature Survey</a:t>
            </a:r>
          </a:p>
          <a:p>
            <a:pPr>
              <a:lnSpc>
                <a:spcPct val="200000"/>
              </a:lnSpc>
            </a:pPr>
            <a:r>
              <a:rPr lang="en-IN" sz="1500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Research Gap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Architecture Diagram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Gantt Chart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</a:rPr>
              <a:t>References</a:t>
            </a:r>
          </a:p>
          <a:p>
            <a:pPr>
              <a:lnSpc>
                <a:spcPct val="250000"/>
              </a:lnSpc>
            </a:pPr>
            <a:endParaRPr lang="en-IN" sz="2400" dirty="0">
              <a:solidFill>
                <a:srgbClr val="A4123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FF728-A38C-FD82-D238-06D815AF4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EED77-C811-22D2-2641-991A51C03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pPr algn="l"/>
            <a:r>
              <a:rPr lang="en-IN" sz="3200" b="1"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Research Gaps</a:t>
            </a:r>
            <a:endParaRPr lang="en-IN" sz="3200" b="1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  <a:sym typeface="+mn-ea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19FD920-FE7E-E69F-7E90-0FB1B52C451B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8D11BFE-374C-37AD-F1E1-12BCF16DA0DB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79307109-029E-E22C-CE9F-A12D2B5E7861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53E3657-23C4-AF27-06C2-A8E7567087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BF49ECA-87EF-8283-5615-64355309B0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F477C12-F89F-83E5-9434-4D6DD4D69DDC}"/>
              </a:ext>
            </a:extLst>
          </p:cNvPr>
          <p:cNvSpPr txBox="1"/>
          <p:nvPr/>
        </p:nvSpPr>
        <p:spPr>
          <a:xfrm>
            <a:off x="2535873" y="2105789"/>
            <a:ext cx="9423185" cy="3632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Georgia" panose="02040502050405090303"/>
              <a:buNone/>
              <a:defRPr sz="4000" b="0" i="0" u="none" strike="noStrike" cap="none">
                <a:solidFill>
                  <a:schemeClr val="lt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Georgia" panose="02040502050405020303" pitchFamily="18" charset="0"/>
              </a:rPr>
              <a:t>Lack of Edge-Based Audio Processing</a:t>
            </a:r>
            <a:r>
              <a:rPr lang="en-US" altLang="en-US" sz="1800" dirty="0">
                <a:solidFill>
                  <a:schemeClr val="tx1"/>
                </a:solidFill>
                <a:latin typeface="Georgia" panose="02040502050405020303" pitchFamily="18" charset="0"/>
              </a:rPr>
              <a:t>: Existing voice agents depend heavily on paid cloud speech services, with limited use of browser-side audio processing and VAD to reduce latency and operational costs.</a:t>
            </a:r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Georgia" panose="02040502050405020303" pitchFamily="18" charset="0"/>
              </a:rPr>
              <a:t>Limited Optimization for Real-Time Intent Routing</a:t>
            </a:r>
            <a:r>
              <a:rPr lang="en-US" altLang="en-US" sz="1800" dirty="0">
                <a:solidFill>
                  <a:schemeClr val="tx1"/>
                </a:solidFill>
                <a:latin typeface="Georgia" panose="02040502050405020303" pitchFamily="18" charset="0"/>
              </a:rPr>
              <a:t>: Current systems rely on rule-based logic or additional LLM calls, increasing inference latency and leaving combinatorial prompt-routing optimization largely unexplored.</a:t>
            </a:r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Georgia" panose="02040502050405020303" pitchFamily="18" charset="0"/>
              </a:rPr>
              <a:t>Inefficient Turn-Taking and Barge-In Handling</a:t>
            </a:r>
            <a:r>
              <a:rPr lang="en-US" altLang="en-US" sz="1800" dirty="0">
                <a:solidFill>
                  <a:schemeClr val="tx1"/>
                </a:solidFill>
                <a:latin typeface="Georgia" panose="02040502050405020303" pitchFamily="18" charset="0"/>
              </a:rPr>
              <a:t>: Conventional pipelines struggle to distinguish intentional interruptions from background noise, resulting in delayed responses, premature cut-offs, or overlapping speech.</a:t>
            </a:r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Georgia" panose="02040502050405020303" pitchFamily="18" charset="0"/>
              </a:rPr>
              <a:t>High Infrastructure Requirements for Contextual Retrieval</a:t>
            </a:r>
            <a:r>
              <a:rPr lang="en-US" altLang="en-US" sz="1800" dirty="0">
                <a:solidFill>
                  <a:schemeClr val="tx1"/>
                </a:solidFill>
                <a:latin typeface="Georgia" panose="02040502050405020303" pitchFamily="18" charset="0"/>
              </a:rPr>
              <a:t>: Enterprise voice agents often depend on hosted vector databases, creating a need for lightweight retrieval approaches such as local BM25-based RAG.</a:t>
            </a:r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Georgia" panose="02040502050405020303" pitchFamily="18" charset="0"/>
              </a:rPr>
              <a:t>Limited Integration of Retrieval and Tool Execution</a:t>
            </a:r>
            <a:r>
              <a:rPr lang="en-US" altLang="en-US" sz="1800" dirty="0">
                <a:solidFill>
                  <a:schemeClr val="tx1"/>
                </a:solidFill>
                <a:latin typeface="Georgia" panose="02040502050405020303" pitchFamily="18" charset="0"/>
              </a:rPr>
              <a:t>: Knowledge retrieval, transactional tools, and audio streaming are often handled as separate processes, introducing additional latency in real-time conversational workflows.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481455-4CBC-0F74-3389-5DA0347C6378}"/>
              </a:ext>
            </a:extLst>
          </p:cNvPr>
          <p:cNvSpPr/>
          <p:nvPr/>
        </p:nvSpPr>
        <p:spPr>
          <a:xfrm>
            <a:off x="-2" y="1157351"/>
            <a:ext cx="2302935" cy="519112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spcBef>
                <a:spcPts val="100"/>
              </a:spcBef>
              <a:tabLst>
                <a:tab pos="495300" algn="l"/>
              </a:tabLst>
            </a:pPr>
            <a:endParaRPr lang="en-IN" b="1" spc="-35" dirty="0">
              <a:solidFill>
                <a:schemeClr val="accent4"/>
              </a:solidFill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endParaRPr lang="en-IN" b="1" spc="-35" dirty="0">
              <a:solidFill>
                <a:schemeClr val="accent4"/>
              </a:solidFill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Abstract 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Introduction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Literature Survey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  <a:endParaRPr lang="en-IN" sz="1500" b="1" dirty="0">
              <a:solidFill>
                <a:schemeClr val="accent4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200000"/>
              </a:lnSpc>
            </a:pPr>
            <a:r>
              <a:rPr lang="en-IN" sz="1500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Research Gap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Architecture Diagram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Gantt Chart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</a:rPr>
              <a:t>References</a:t>
            </a:r>
          </a:p>
          <a:p>
            <a:pPr>
              <a:lnSpc>
                <a:spcPct val="250000"/>
              </a:lnSpc>
            </a:pPr>
            <a:endParaRPr lang="en-IN" sz="2400" dirty="0">
              <a:solidFill>
                <a:srgbClr val="A4123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298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IN" sz="32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Architecture Diagram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/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7415310-BB53-2ED0-9BFA-ED168133C270}"/>
              </a:ext>
            </a:extLst>
          </p:cNvPr>
          <p:cNvSpPr/>
          <p:nvPr/>
        </p:nvSpPr>
        <p:spPr>
          <a:xfrm>
            <a:off x="-2" y="1157351"/>
            <a:ext cx="2302935" cy="519112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spcBef>
                <a:spcPts val="100"/>
              </a:spcBef>
              <a:tabLst>
                <a:tab pos="495300" algn="l"/>
              </a:tabLst>
            </a:pPr>
            <a:endParaRPr lang="en-IN" b="1" spc="-35" dirty="0">
              <a:solidFill>
                <a:schemeClr val="accent4"/>
              </a:solidFill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endParaRPr lang="en-IN" b="1" spc="-35" dirty="0">
              <a:solidFill>
                <a:schemeClr val="accent4"/>
              </a:solidFill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Abstract 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Introduction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Literature Survey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  <a:endParaRPr lang="en-IN" sz="1500" b="1" dirty="0">
              <a:solidFill>
                <a:schemeClr val="accent4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Research Gap</a:t>
            </a:r>
          </a:p>
          <a:p>
            <a:pPr>
              <a:lnSpc>
                <a:spcPct val="200000"/>
              </a:lnSpc>
            </a:pPr>
            <a:r>
              <a:rPr lang="en-IN" sz="1500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Architecture Diagram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Gantt Chart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</a:rPr>
              <a:t>References</a:t>
            </a:r>
          </a:p>
          <a:p>
            <a:pPr>
              <a:lnSpc>
                <a:spcPct val="250000"/>
              </a:lnSpc>
            </a:pPr>
            <a:endParaRPr lang="en-IN" sz="2400" dirty="0">
              <a:solidFill>
                <a:srgbClr val="A4123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6103531-EBDF-C22F-35A1-5570E07590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1173" y="1238488"/>
            <a:ext cx="8856306" cy="487415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DEACC-05D1-6B1A-BEBD-18164EDB5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986F7-1C79-5215-7D24-959379F09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pPr algn="l"/>
            <a:r>
              <a:rPr lang="en-IN" sz="3200" b="1"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Gantt Chart</a:t>
            </a:r>
            <a:endParaRPr lang="en-IN" sz="3200" b="1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  <a:sym typeface="+mn-ea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DBA5DBD-841C-C7A0-0DAF-E50A0828E692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9F05715-AECA-964B-6105-A007F7ED9D34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AB5A376F-6E3B-D585-3307-52B95F44FD5C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86A6DD-1D2A-163F-643C-72B7D2E518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82311CB-81AC-C497-F22C-0B874A6609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7E0919-AFBB-71B1-5983-DC09EA46B47F}"/>
              </a:ext>
            </a:extLst>
          </p:cNvPr>
          <p:cNvSpPr txBox="1"/>
          <p:nvPr/>
        </p:nvSpPr>
        <p:spPr>
          <a:xfrm>
            <a:off x="3256546" y="1207944"/>
            <a:ext cx="8365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>
                <a:latin typeface="Georgia" panose="02040502050405020303" pitchFamily="18" charset="0"/>
              </a:rPr>
              <a:t>Proposed Time Line For the Events in Project Phase 1</a:t>
            </a:r>
            <a:endParaRPr lang="en-IN" sz="1800">
              <a:latin typeface="Georgia" panose="02040502050405020303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30567F-066A-2380-C14C-DD400318B20F}"/>
              </a:ext>
            </a:extLst>
          </p:cNvPr>
          <p:cNvSpPr/>
          <p:nvPr/>
        </p:nvSpPr>
        <p:spPr>
          <a:xfrm>
            <a:off x="-2" y="1157351"/>
            <a:ext cx="2302935" cy="519112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spcBef>
                <a:spcPts val="100"/>
              </a:spcBef>
              <a:tabLst>
                <a:tab pos="495300" algn="l"/>
              </a:tabLst>
            </a:pPr>
            <a:endParaRPr lang="en-IN" b="1" spc="-35" dirty="0">
              <a:solidFill>
                <a:schemeClr val="accent4"/>
              </a:solidFill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endParaRPr lang="en-IN" b="1" spc="-35" dirty="0">
              <a:solidFill>
                <a:schemeClr val="accent4"/>
              </a:solidFill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Abstract 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Introduction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Literature Survey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  <a:endParaRPr lang="en-IN" sz="1500" b="1" dirty="0">
              <a:solidFill>
                <a:schemeClr val="accent4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Research Gap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Architecture Diagram</a:t>
            </a:r>
          </a:p>
          <a:p>
            <a:pPr>
              <a:lnSpc>
                <a:spcPct val="200000"/>
              </a:lnSpc>
            </a:pPr>
            <a:r>
              <a:rPr lang="en-IN" sz="1500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Gantt Chart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</a:rPr>
              <a:t>References</a:t>
            </a:r>
          </a:p>
          <a:p>
            <a:pPr>
              <a:lnSpc>
                <a:spcPct val="250000"/>
              </a:lnSpc>
            </a:pPr>
            <a:endParaRPr lang="en-IN" sz="2400" dirty="0">
              <a:solidFill>
                <a:srgbClr val="A4123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2416906-B059-5F8C-6AE8-87A04DC363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2321" y="2314299"/>
            <a:ext cx="9694606" cy="2229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8213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EF0AC-EFF5-7484-4116-AA8AC5616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22DAC-FC06-D9CC-32E0-BC7EB3D6F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IN" sz="3200" b="1">
                <a:solidFill>
                  <a:srgbClr val="C00000"/>
                </a:solidFill>
                <a:latin typeface="Cambria" panose="02040503050406030204" pitchFamily="18" charset="0"/>
                <a:sym typeface="+mn-ea"/>
              </a:rPr>
              <a:t>Reference</a:t>
            </a:r>
            <a:r>
              <a:rPr lang="en-US" altLang="en-IN" sz="1400">
                <a:solidFill>
                  <a:srgbClr val="C00000"/>
                </a:solidFill>
                <a:latin typeface="Cambria" panose="02040503050406030204" pitchFamily="18" charset="0"/>
                <a:sym typeface="+mn-ea"/>
              </a:rPr>
              <a:t>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5F4AC98-2BD3-DE1A-CEF0-39ACF85AEDD3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5303C0C-0507-72BC-9C37-DCBE0150A16F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9B4CD02C-C76D-D17C-81F7-D48158E18211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6F4C4E1-704C-2002-0678-48FB205D50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EAC6A29-A718-6C9F-D96F-507BA13C1211}"/>
              </a:ext>
            </a:extLst>
          </p:cNvPr>
          <p:cNvSpPr txBox="1"/>
          <p:nvPr/>
        </p:nvSpPr>
        <p:spPr>
          <a:xfrm>
            <a:off x="2302930" y="1354759"/>
            <a:ext cx="9889070" cy="4723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Georgia" panose="02040502050405090303"/>
              <a:buNone/>
              <a:defRPr sz="4000" b="0" i="0" u="none" strike="noStrike" cap="none">
                <a:solidFill>
                  <a:schemeClr val="lt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228600" indent="-228600" algn="l">
              <a:lnSpc>
                <a:spcPct val="150000"/>
              </a:lnSpc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en-IN" sz="1200" dirty="0">
                <a:solidFill>
                  <a:schemeClr val="tx1"/>
                </a:solidFill>
              </a:rPr>
              <a:t>Abbasian, M., Azimi, I., Rahmani, A. M., &amp; Jain, R. (2025). Conversational health agents: A personalized large language model-powered agent framework. JAMIA Open, 8(4), ooaf067. https://doi.org/10.1093/jamiaopen/ooaf067</a:t>
            </a:r>
          </a:p>
          <a:p>
            <a:pPr marL="228600" indent="-228600" algn="l">
              <a:lnSpc>
                <a:spcPct val="150000"/>
              </a:lnSpc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en-IN" sz="1200" dirty="0">
                <a:solidFill>
                  <a:schemeClr val="tx1"/>
                </a:solidFill>
              </a:rPr>
              <a:t>Xu, Y., Zhuang, Y., Liu, X., Zhang, T., Xiao, B., Xu, X., Jiang, D., Wang, J., &amp; Hu, H. (2026). LLM agents security duality: A comprehensive survey of self-security and empowered cybersecurity. Artificial Intelligence Review, 59(8), Article 174. https://doi.org/10.1007/s10462-026-11563-0</a:t>
            </a:r>
          </a:p>
          <a:p>
            <a:pPr marL="228600" indent="-228600" algn="l">
              <a:lnSpc>
                <a:spcPct val="150000"/>
              </a:lnSpc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en-IN" sz="1200" dirty="0">
                <a:solidFill>
                  <a:schemeClr val="tx1"/>
                </a:solidFill>
              </a:rPr>
              <a:t>Furtado, L., et al. (2025). Assessing the user experience of an LLM-based conversational agent for older adults. Journal of Healthcare Informatics Research, 10(1), 116–153. https://doi.org/10.1007/s41666-025-00217-5</a:t>
            </a:r>
          </a:p>
          <a:p>
            <a:pPr marL="228600" indent="-228600" algn="l">
              <a:lnSpc>
                <a:spcPct val="150000"/>
              </a:lnSpc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en-IN" sz="1200" dirty="0">
                <a:solidFill>
                  <a:schemeClr val="tx1"/>
                </a:solidFill>
              </a:rPr>
              <a:t>Ray, S., </a:t>
            </a:r>
            <a:r>
              <a:rPr lang="en-IN" sz="1200" dirty="0" err="1">
                <a:solidFill>
                  <a:schemeClr val="tx1"/>
                </a:solidFill>
              </a:rPr>
              <a:t>Dhandhania</a:t>
            </a:r>
            <a:r>
              <a:rPr lang="en-IN" sz="1200" dirty="0">
                <a:solidFill>
                  <a:schemeClr val="tx1"/>
                </a:solidFill>
              </a:rPr>
              <a:t>, K., Barres, V., &amp; Narasimhan, K. (2026). </a:t>
            </a:r>
            <a:r>
              <a:rPr lang="el-GR" sz="1200" dirty="0">
                <a:solidFill>
                  <a:schemeClr val="tx1"/>
                </a:solidFill>
              </a:rPr>
              <a:t>τ-</a:t>
            </a:r>
            <a:r>
              <a:rPr lang="en-IN" sz="1200" dirty="0">
                <a:solidFill>
                  <a:schemeClr val="tx1"/>
                </a:solidFill>
              </a:rPr>
              <a:t>Voice: Benchmarking full-duplex voice agents on real-world domains. </a:t>
            </a:r>
            <a:r>
              <a:rPr lang="en-IN" sz="1200" dirty="0" err="1">
                <a:solidFill>
                  <a:schemeClr val="tx1"/>
                </a:solidFill>
              </a:rPr>
              <a:t>ArXiv</a:t>
            </a:r>
            <a:r>
              <a:rPr lang="en-IN" sz="1200" dirty="0">
                <a:solidFill>
                  <a:schemeClr val="tx1"/>
                </a:solidFill>
              </a:rPr>
              <a:t>, abs/2603.13686. https://doi.org/10.48550/arxiv.2603.13686</a:t>
            </a:r>
          </a:p>
          <a:p>
            <a:pPr marL="228600" indent="-228600" algn="l">
              <a:lnSpc>
                <a:spcPct val="150000"/>
              </a:lnSpc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en-IN" sz="1200" dirty="0">
                <a:solidFill>
                  <a:schemeClr val="tx1"/>
                </a:solidFill>
              </a:rPr>
              <a:t>Bhatia, M. S., &amp; </a:t>
            </a:r>
            <a:r>
              <a:rPr lang="en-IN" sz="1200" dirty="0" err="1">
                <a:solidFill>
                  <a:schemeClr val="tx1"/>
                </a:solidFill>
              </a:rPr>
              <a:t>Khetarpaul</a:t>
            </a:r>
            <a:r>
              <a:rPr lang="en-IN" sz="1200" dirty="0">
                <a:solidFill>
                  <a:schemeClr val="tx1"/>
                </a:solidFill>
              </a:rPr>
              <a:t>, S. (2025). AI-enhanced bilingual banking assistant. Scientific Reports, 15, 37526. https://doi.org/10.1038/s41598-025-22569-z</a:t>
            </a:r>
          </a:p>
          <a:p>
            <a:pPr marL="228600" indent="-228600" algn="l">
              <a:lnSpc>
                <a:spcPct val="150000"/>
              </a:lnSpc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en-IN" sz="1200" dirty="0">
                <a:solidFill>
                  <a:schemeClr val="tx1"/>
                </a:solidFill>
              </a:rPr>
              <a:t>Adams, S. J., Acosta, J. N., &amp; </a:t>
            </a:r>
            <a:r>
              <a:rPr lang="en-IN" sz="1200" dirty="0" err="1">
                <a:solidFill>
                  <a:schemeClr val="tx1"/>
                </a:solidFill>
              </a:rPr>
              <a:t>Rajpurkar</a:t>
            </a:r>
            <a:r>
              <a:rPr lang="en-IN" sz="1200" dirty="0">
                <a:solidFill>
                  <a:schemeClr val="tx1"/>
                </a:solidFill>
              </a:rPr>
              <a:t>, P. (2025). How generative AI voice agents will transform medicine. </a:t>
            </a:r>
            <a:r>
              <a:rPr lang="en-IN" sz="1200" dirty="0" err="1">
                <a:solidFill>
                  <a:schemeClr val="tx1"/>
                </a:solidFill>
              </a:rPr>
              <a:t>npj</a:t>
            </a:r>
            <a:r>
              <a:rPr lang="en-IN" sz="1200" dirty="0">
                <a:solidFill>
                  <a:schemeClr val="tx1"/>
                </a:solidFill>
              </a:rPr>
              <a:t> Digital Medicine, 8, Article 353. https://doi.org/10.1038/s41746-025-01776-y</a:t>
            </a:r>
          </a:p>
          <a:p>
            <a:pPr marL="228600" indent="-228600" algn="l">
              <a:lnSpc>
                <a:spcPct val="150000"/>
              </a:lnSpc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en-IN" sz="1200" dirty="0">
                <a:solidFill>
                  <a:schemeClr val="tx1"/>
                </a:solidFill>
              </a:rPr>
              <a:t>Lu, S., Tang, Y., Yan, S., Xiong, Y., &amp; Xia, W. (2024). A Full-duplex Speech Dialogue Scheme Based On Large Language Models. </a:t>
            </a:r>
            <a:r>
              <a:rPr lang="en-IN" sz="1200" dirty="0" err="1">
                <a:solidFill>
                  <a:schemeClr val="tx1"/>
                </a:solidFill>
              </a:rPr>
              <a:t>ArXiv</a:t>
            </a:r>
            <a:r>
              <a:rPr lang="en-IN" sz="1200" dirty="0">
                <a:solidFill>
                  <a:schemeClr val="tx1"/>
                </a:solidFill>
              </a:rPr>
              <a:t>, abs/2405.19487. https://doi.org/10.48550/arxiv.2405.19487</a:t>
            </a:r>
          </a:p>
          <a:p>
            <a:pPr marL="228600" indent="-228600" algn="l">
              <a:lnSpc>
                <a:spcPct val="150000"/>
              </a:lnSpc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en-IN" sz="1200" dirty="0">
                <a:solidFill>
                  <a:schemeClr val="tx1"/>
                </a:solidFill>
              </a:rPr>
              <a:t>Yu, W., Wang, S., Yang, X., Chen, X., Tian, X., Zhang, J., Sun, G., Lu, L., Wang, Y., &amp; Zhang, C. (2025). SALMONN-omni: A Standalone Speech LLM without Codec Injection for Full-duplex Conversation. </a:t>
            </a:r>
            <a:r>
              <a:rPr lang="en-IN" sz="1200" dirty="0" err="1">
                <a:solidFill>
                  <a:schemeClr val="tx1"/>
                </a:solidFill>
              </a:rPr>
              <a:t>ArXiv</a:t>
            </a:r>
            <a:r>
              <a:rPr lang="en-IN" sz="1200" dirty="0">
                <a:solidFill>
                  <a:schemeClr val="tx1"/>
                </a:solidFill>
              </a:rPr>
              <a:t>, abs/2505.17060. https://doi.org/10.48550/arxiv.2505.17060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518242-B20F-923C-E74D-C05BECD301AA}"/>
              </a:ext>
            </a:extLst>
          </p:cNvPr>
          <p:cNvSpPr/>
          <p:nvPr/>
        </p:nvSpPr>
        <p:spPr>
          <a:xfrm>
            <a:off x="-3" y="1120775"/>
            <a:ext cx="2302935" cy="519112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Abstract 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Introduction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Literature Survey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  <a:endParaRPr lang="en-IN" sz="1500" b="1" dirty="0">
              <a:solidFill>
                <a:schemeClr val="accent4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Research Gap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Architecture Diagram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Gantt Chart</a:t>
            </a:r>
          </a:p>
          <a:p>
            <a:pPr>
              <a:lnSpc>
                <a:spcPct val="200000"/>
              </a:lnSpc>
            </a:pPr>
            <a:r>
              <a:rPr lang="en-IN" sz="1500" b="1" dirty="0">
                <a:solidFill>
                  <a:srgbClr val="FFC000"/>
                </a:solidFill>
                <a:latin typeface="Cambria" panose="02040503050406030204" pitchFamily="18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16470124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7F135-AA7C-052F-FB22-4DEFCF80E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0388D-650B-BD3F-481A-63969AE8A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IN" sz="3200" b="1">
                <a:solidFill>
                  <a:srgbClr val="C00000"/>
                </a:solidFill>
                <a:latin typeface="Cambria" panose="02040503050406030204" pitchFamily="18" charset="0"/>
                <a:sym typeface="+mn-ea"/>
              </a:rPr>
              <a:t>Reference</a:t>
            </a:r>
            <a:r>
              <a:rPr lang="en-US" altLang="en-IN" sz="1400">
                <a:solidFill>
                  <a:srgbClr val="C00000"/>
                </a:solidFill>
                <a:latin typeface="Cambria" panose="02040503050406030204" pitchFamily="18" charset="0"/>
                <a:sym typeface="+mn-ea"/>
              </a:rPr>
              <a:t>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C7D1CB3-3B0C-139D-26F6-454D612021D0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DAF3905-13EB-6220-A96A-2322EA583B9D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03502CAB-D93E-5108-BC12-D008047A6D2B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7697398-406D-6ABE-106B-83C4565E612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0A2D870-577F-9127-326B-BCCA084F92D3}"/>
              </a:ext>
            </a:extLst>
          </p:cNvPr>
          <p:cNvSpPr txBox="1"/>
          <p:nvPr/>
        </p:nvSpPr>
        <p:spPr>
          <a:xfrm>
            <a:off x="2302932" y="1449699"/>
            <a:ext cx="9889068" cy="48967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Georgia" panose="02040502050405090303"/>
              <a:buNone/>
              <a:defRPr sz="4000" b="0" i="0" u="none" strike="noStrike" cap="none">
                <a:solidFill>
                  <a:schemeClr val="lt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algn="l">
              <a:lnSpc>
                <a:spcPct val="150000"/>
              </a:lnSpc>
              <a:buClr>
                <a:schemeClr val="tx1"/>
              </a:buClr>
              <a:buSzPct val="100000"/>
            </a:pPr>
            <a:endParaRPr lang="en-US" sz="1200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150000"/>
              </a:lnSpc>
              <a:buClr>
                <a:schemeClr val="tx1"/>
              </a:buClr>
              <a:buSzPct val="100000"/>
              <a:buFont typeface="+mj-lt"/>
              <a:buAutoNum type="arabicPeriod" startAt="9"/>
            </a:pPr>
            <a:r>
              <a:rPr lang="en-US" sz="1200" dirty="0">
                <a:solidFill>
                  <a:schemeClr val="tx1"/>
                </a:solidFill>
              </a:rPr>
              <a:t> Lu, X., Xu, W., Wang, H., Zhou, H., Zhao, H., Zhu, C., Zhao, T., &amp; Yang, M. (2025). </a:t>
            </a:r>
            <a:r>
              <a:rPr lang="en-US" sz="1200" dirty="0" err="1">
                <a:solidFill>
                  <a:schemeClr val="tx1"/>
                </a:solidFill>
              </a:rPr>
              <a:t>DuplexMamba</a:t>
            </a:r>
            <a:r>
              <a:rPr lang="en-US" sz="1200" dirty="0">
                <a:solidFill>
                  <a:schemeClr val="tx1"/>
                </a:solidFill>
              </a:rPr>
              <a:t>: Enhancing Real-time Speech Conversations with Duplex and Streaming Capabilities. 62-74. </a:t>
            </a:r>
            <a:r>
              <a:rPr lang="en-US" sz="1200" dirty="0">
                <a:solidFill>
                  <a:schemeClr val="tx1"/>
                </a:solidFill>
                <a:hlinkClick r:id="rId3"/>
              </a:rPr>
              <a:t>https://doi.org/10.48550/arxiv.2502.11123 </a:t>
            </a:r>
            <a:endParaRPr lang="en-US" sz="1200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150000"/>
              </a:lnSpc>
              <a:buClr>
                <a:schemeClr val="tx1"/>
              </a:buClr>
              <a:buSzPct val="100000"/>
              <a:buFont typeface="+mj-lt"/>
              <a:buAutoNum type="arabicPeriod" startAt="9"/>
            </a:pPr>
            <a:r>
              <a:rPr lang="en-US" sz="1200" dirty="0">
                <a:solidFill>
                  <a:schemeClr val="tx1"/>
                </a:solidFill>
              </a:rPr>
              <a:t>Casanova, E., Chen, C., Hu, K., Pasad, A., </a:t>
            </a:r>
            <a:r>
              <a:rPr lang="en-US" sz="1200" dirty="0" err="1">
                <a:solidFill>
                  <a:schemeClr val="tx1"/>
                </a:solidFill>
              </a:rPr>
              <a:t>Rastorgueva</a:t>
            </a:r>
            <a:r>
              <a:rPr lang="en-US" sz="1200" dirty="0">
                <a:solidFill>
                  <a:schemeClr val="tx1"/>
                </a:solidFill>
              </a:rPr>
              <a:t>, E., Narasimhan, S. L., Deng, S., Hosseini-Asl, E., </a:t>
            </a:r>
            <a:r>
              <a:rPr lang="en-US" sz="1200" dirty="0" err="1">
                <a:solidFill>
                  <a:schemeClr val="tx1"/>
                </a:solidFill>
              </a:rPr>
              <a:t>Żelasko</a:t>
            </a:r>
            <a:r>
              <a:rPr lang="en-US" sz="1200" dirty="0">
                <a:solidFill>
                  <a:schemeClr val="tx1"/>
                </a:solidFill>
              </a:rPr>
              <a:t>, P., </a:t>
            </a:r>
            <a:r>
              <a:rPr lang="en-US" sz="1200" dirty="0" err="1">
                <a:solidFill>
                  <a:schemeClr val="tx1"/>
                </a:solidFill>
              </a:rPr>
              <a:t>Mendelev</a:t>
            </a:r>
            <a:r>
              <a:rPr lang="en-US" sz="1200" dirty="0">
                <a:solidFill>
                  <a:schemeClr val="tx1"/>
                </a:solidFill>
              </a:rPr>
              <a:t>, V., Ghosh, S., Peng, Y., Chen, Z., Li, J., Balam, J., </a:t>
            </a:r>
            <a:r>
              <a:rPr lang="en-US" sz="1200" dirty="0" err="1">
                <a:solidFill>
                  <a:schemeClr val="tx1"/>
                </a:solidFill>
              </a:rPr>
              <a:t>Lavrukhin</a:t>
            </a:r>
            <a:r>
              <a:rPr lang="en-US" sz="1200" dirty="0">
                <a:solidFill>
                  <a:schemeClr val="tx1"/>
                </a:solidFill>
              </a:rPr>
              <a:t>, V., &amp; Ginsburg, B. (2025). Open Full-duplex Voice Agent with Speech-to-Speech Language Model. 2025 IEEE Automatic Speech Recognition and Understanding Workshop (ASRU), 1-4. </a:t>
            </a:r>
            <a:r>
              <a:rPr lang="en-US" sz="1200" dirty="0">
                <a:solidFill>
                  <a:schemeClr val="tx1"/>
                </a:solidFill>
                <a:hlinkClick r:id="rId4"/>
              </a:rPr>
              <a:t>https://doi.org/10.1109/asru65441.2025.11434669 </a:t>
            </a:r>
            <a:endParaRPr lang="en-US" sz="1200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150000"/>
              </a:lnSpc>
              <a:buClr>
                <a:schemeClr val="tx1"/>
              </a:buClr>
              <a:buSzPct val="100000"/>
              <a:buFont typeface="+mj-lt"/>
              <a:buAutoNum type="arabicPeriod" startAt="9"/>
            </a:pPr>
            <a:r>
              <a:rPr lang="en-IN" sz="1200" dirty="0" err="1">
                <a:solidFill>
                  <a:schemeClr val="tx1"/>
                </a:solidFill>
              </a:rPr>
              <a:t>Keshireddy</a:t>
            </a:r>
            <a:r>
              <a:rPr lang="en-IN" sz="1200" dirty="0">
                <a:solidFill>
                  <a:schemeClr val="tx1"/>
                </a:solidFill>
              </a:rPr>
              <a:t>, S. R. (2025). Retrieval-Augmented Generation Techniques in Oracle APEX Improving Contextual Responses in AI Assistants. Archives for Technical Sciences. </a:t>
            </a:r>
            <a:r>
              <a:rPr lang="en-IN" sz="1200" dirty="0">
                <a:solidFill>
                  <a:schemeClr val="tx1"/>
                </a:solidFill>
                <a:hlinkClick r:id="rId5"/>
              </a:rPr>
              <a:t>https://doi.org/10.70102/afts.2025.1833.253 </a:t>
            </a:r>
            <a:endParaRPr lang="en-IN" sz="1200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150000"/>
              </a:lnSpc>
              <a:buClr>
                <a:schemeClr val="tx1"/>
              </a:buClr>
              <a:buSzPct val="100000"/>
              <a:buFont typeface="+mj-lt"/>
              <a:buAutoNum type="arabicPeriod" startAt="9"/>
            </a:pPr>
            <a:r>
              <a:rPr lang="en-IN" sz="1200" dirty="0" err="1">
                <a:solidFill>
                  <a:schemeClr val="tx1"/>
                </a:solidFill>
              </a:rPr>
              <a:t>Acikgoz</a:t>
            </a:r>
            <a:r>
              <a:rPr lang="en-IN" sz="1200" dirty="0">
                <a:solidFill>
                  <a:schemeClr val="tx1"/>
                </a:solidFill>
              </a:rPr>
              <a:t>, E. C., Greer, J., Datta, A., Yang, Z., Zeng, W., </a:t>
            </a:r>
            <a:r>
              <a:rPr lang="en-IN" sz="1200" dirty="0" err="1">
                <a:solidFill>
                  <a:schemeClr val="tx1"/>
                </a:solidFill>
              </a:rPr>
              <a:t>Elachqar</a:t>
            </a:r>
            <a:r>
              <a:rPr lang="en-IN" sz="1200" dirty="0">
                <a:solidFill>
                  <a:schemeClr val="tx1"/>
                </a:solidFill>
              </a:rPr>
              <a:t>, O., </a:t>
            </a:r>
            <a:r>
              <a:rPr lang="en-IN" sz="1200" dirty="0" err="1">
                <a:solidFill>
                  <a:schemeClr val="tx1"/>
                </a:solidFill>
              </a:rPr>
              <a:t>Koukoumidis</a:t>
            </a:r>
            <a:r>
              <a:rPr lang="en-IN" sz="1200" dirty="0">
                <a:solidFill>
                  <a:schemeClr val="tx1"/>
                </a:solidFill>
              </a:rPr>
              <a:t>, E., Hakkani-Tur, D., &amp; Tur, G. (2025). Can a Single Model Master Both Multi-turn Conversations and Tool Use? </a:t>
            </a:r>
            <a:r>
              <a:rPr lang="en-IN" sz="1200" dirty="0" err="1">
                <a:solidFill>
                  <a:schemeClr val="tx1"/>
                </a:solidFill>
              </a:rPr>
              <a:t>CoALM</a:t>
            </a:r>
            <a:r>
              <a:rPr lang="en-IN" sz="1200" dirty="0">
                <a:solidFill>
                  <a:schemeClr val="tx1"/>
                </a:solidFill>
              </a:rPr>
              <a:t>: A Unified Conversational Agentic Language Model. 12370-12390. </a:t>
            </a:r>
            <a:r>
              <a:rPr lang="en-IN" sz="1200" dirty="0">
                <a:solidFill>
                  <a:schemeClr val="tx1"/>
                </a:solidFill>
                <a:hlinkClick r:id="rId6"/>
              </a:rPr>
              <a:t>https://doi.org/10.48550/arxiv.2502.08820</a:t>
            </a:r>
            <a:endParaRPr lang="en-IN" sz="1200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150000"/>
              </a:lnSpc>
              <a:buClr>
                <a:schemeClr val="tx1"/>
              </a:buClr>
              <a:buSzPct val="100000"/>
              <a:buFont typeface="+mj-lt"/>
              <a:buAutoNum type="arabicPeriod" startAt="9"/>
            </a:pPr>
            <a:r>
              <a:rPr lang="en-US" sz="1200" dirty="0">
                <a:solidFill>
                  <a:schemeClr val="tx1"/>
                </a:solidFill>
              </a:rPr>
              <a:t>Samal, M. S., Swain, M. B., &amp; Sahoo, P. B. (2026). </a:t>
            </a:r>
            <a:r>
              <a:rPr lang="en-US" sz="1200" dirty="0" err="1">
                <a:solidFill>
                  <a:schemeClr val="tx1"/>
                </a:solidFill>
              </a:rPr>
              <a:t>Srota</a:t>
            </a:r>
            <a:r>
              <a:rPr lang="en-US" sz="1200" dirty="0">
                <a:solidFill>
                  <a:schemeClr val="tx1"/>
                </a:solidFill>
              </a:rPr>
              <a:t> AI: A Voice-Controlled Intelligent Web Automation Platform Using Large Language Models and Multi-Agent Orchestration. International Journal of Economic Social Science and Management LAW. </a:t>
            </a:r>
            <a:r>
              <a:rPr lang="en-US" sz="1200" dirty="0">
                <a:solidFill>
                  <a:schemeClr val="tx1"/>
                </a:solidFill>
                <a:hlinkClick r:id="rId7"/>
              </a:rPr>
              <a:t>https://doi.org/ 10.64751/vyfrez55 </a:t>
            </a:r>
            <a:endParaRPr lang="en-US" sz="1200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150000"/>
              </a:lnSpc>
              <a:buClr>
                <a:schemeClr val="tx1"/>
              </a:buClr>
              <a:buSzPct val="100000"/>
              <a:buFont typeface="+mj-lt"/>
              <a:buAutoNum type="arabicPeriod" startAt="9"/>
            </a:pPr>
            <a:r>
              <a:rPr lang="en-US" sz="1200" dirty="0" err="1">
                <a:solidFill>
                  <a:schemeClr val="tx1"/>
                </a:solidFill>
              </a:rPr>
              <a:t>Kaewtawee</a:t>
            </a:r>
            <a:r>
              <a:rPr lang="en-US" sz="1200" dirty="0">
                <a:solidFill>
                  <a:schemeClr val="tx1"/>
                </a:solidFill>
              </a:rPr>
              <a:t>, K., </a:t>
            </a:r>
            <a:r>
              <a:rPr lang="en-US" sz="1200" dirty="0" err="1">
                <a:solidFill>
                  <a:schemeClr val="tx1"/>
                </a:solidFill>
              </a:rPr>
              <a:t>Modecrua</a:t>
            </a:r>
            <a:r>
              <a:rPr lang="en-US" sz="1200" dirty="0">
                <a:solidFill>
                  <a:schemeClr val="tx1"/>
                </a:solidFill>
              </a:rPr>
              <a:t>, W., </a:t>
            </a:r>
            <a:r>
              <a:rPr lang="en-US" sz="1200" dirty="0" err="1">
                <a:solidFill>
                  <a:schemeClr val="tx1"/>
                </a:solidFill>
              </a:rPr>
              <a:t>Pachtrachai</a:t>
            </a:r>
            <a:r>
              <a:rPr lang="en-US" sz="1200" dirty="0">
                <a:solidFill>
                  <a:schemeClr val="tx1"/>
                </a:solidFill>
              </a:rPr>
              <a:t>, K., &amp; </a:t>
            </a:r>
            <a:r>
              <a:rPr lang="en-US" sz="1200" dirty="0" err="1">
                <a:solidFill>
                  <a:schemeClr val="tx1"/>
                </a:solidFill>
              </a:rPr>
              <a:t>Kraisingkorn</a:t>
            </a:r>
            <a:r>
              <a:rPr lang="en-US" sz="1200" dirty="0">
                <a:solidFill>
                  <a:schemeClr val="tx1"/>
                </a:solidFill>
              </a:rPr>
              <a:t>, T. (2025). Cloning a Conversational Voice AI Agent from Call Recording Datasets for </a:t>
            </a:r>
            <a:r>
              <a:rPr lang="en-US" sz="1200" dirty="0" err="1">
                <a:solidFill>
                  <a:schemeClr val="tx1"/>
                </a:solidFill>
              </a:rPr>
              <a:t>Telesales</a:t>
            </a:r>
            <a:r>
              <a:rPr lang="en-US" sz="1200" dirty="0">
                <a:solidFill>
                  <a:schemeClr val="tx1"/>
                </a:solidFill>
              </a:rPr>
              <a:t>. </a:t>
            </a:r>
            <a:r>
              <a:rPr lang="en-US" sz="1200" dirty="0" err="1">
                <a:solidFill>
                  <a:schemeClr val="tx1"/>
                </a:solidFill>
              </a:rPr>
              <a:t>ArXiv</a:t>
            </a:r>
            <a:r>
              <a:rPr lang="en-US" sz="1200" dirty="0">
                <a:solidFill>
                  <a:schemeClr val="tx1"/>
                </a:solidFill>
              </a:rPr>
              <a:t>, abs/ 2509.04871. </a:t>
            </a:r>
            <a:r>
              <a:rPr lang="en-US" sz="1200" dirty="0">
                <a:solidFill>
                  <a:schemeClr val="tx1"/>
                </a:solidFill>
                <a:hlinkClick r:id="rId8"/>
              </a:rPr>
              <a:t>https://doi.org/10.48550/arxiv.2509.04871 </a:t>
            </a:r>
            <a:endParaRPr lang="en-US" sz="1200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150000"/>
              </a:lnSpc>
              <a:buClr>
                <a:schemeClr val="tx1"/>
              </a:buClr>
              <a:buSzPct val="100000"/>
              <a:buFont typeface="+mj-lt"/>
              <a:buAutoNum type="arabicPeriod" startAt="9"/>
            </a:pPr>
            <a:r>
              <a:rPr lang="en-US" sz="1200" dirty="0">
                <a:solidFill>
                  <a:schemeClr val="tx1"/>
                </a:solidFill>
              </a:rPr>
              <a:t>Ji, S., Chen, Y., Fang, M., Zuo, J., Lu, J., Wang, H., Jiang, Z., Zhou, L., Liu, S., Cheng, X., Yang, X., Wang, Z., Yang, Q., Li, J., Jiang, Y., He, J., Chu, Y., Xu, J., &amp; Zhao, Z. (2024). </a:t>
            </a:r>
            <a:r>
              <a:rPr lang="en-US" sz="1200" dirty="0" err="1">
                <a:solidFill>
                  <a:schemeClr val="tx1"/>
                </a:solidFill>
              </a:rPr>
              <a:t>WavChat</a:t>
            </a:r>
            <a:r>
              <a:rPr lang="en-US" sz="1200" dirty="0">
                <a:solidFill>
                  <a:schemeClr val="tx1"/>
                </a:solidFill>
              </a:rPr>
              <a:t>: A Survey of Spoken Dialogue Models. </a:t>
            </a:r>
            <a:r>
              <a:rPr lang="en-US" sz="1200" dirty="0" err="1">
                <a:solidFill>
                  <a:schemeClr val="tx1"/>
                </a:solidFill>
              </a:rPr>
              <a:t>ArXiv</a:t>
            </a:r>
            <a:r>
              <a:rPr lang="en-US" sz="1200" dirty="0">
                <a:solidFill>
                  <a:schemeClr val="tx1"/>
                </a:solidFill>
              </a:rPr>
              <a:t>, abs/2411.13577. </a:t>
            </a:r>
            <a:r>
              <a:rPr lang="en-US" sz="1200" dirty="0">
                <a:solidFill>
                  <a:schemeClr val="tx1"/>
                </a:solidFill>
                <a:hlinkClick r:id="rId9"/>
              </a:rPr>
              <a:t>https://doi.org/ 10.48550/arxiv.2411.13577</a:t>
            </a:r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2A82CE-1F5E-72B4-BA01-0B65BF94A267}"/>
              </a:ext>
            </a:extLst>
          </p:cNvPr>
          <p:cNvSpPr/>
          <p:nvPr/>
        </p:nvSpPr>
        <p:spPr>
          <a:xfrm>
            <a:off x="-3" y="1120775"/>
            <a:ext cx="2302935" cy="519112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Abstract 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Introduction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Literature Survey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  <a:endParaRPr lang="en-IN" sz="1500" b="1" dirty="0">
              <a:solidFill>
                <a:schemeClr val="accent4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Research Gap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Architecture Diagram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Gantt Chart</a:t>
            </a:r>
          </a:p>
          <a:p>
            <a:pPr>
              <a:lnSpc>
                <a:spcPct val="200000"/>
              </a:lnSpc>
            </a:pPr>
            <a:r>
              <a:rPr lang="en-IN" sz="1500" b="1" dirty="0">
                <a:solidFill>
                  <a:srgbClr val="FFC000"/>
                </a:solidFill>
                <a:latin typeface="Cambria" panose="02040503050406030204" pitchFamily="18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37846013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FEC43-5C20-B6FC-223C-00573EF83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CF3BD-A55B-02B2-A857-001F817ED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IN" sz="3200" b="1">
                <a:solidFill>
                  <a:srgbClr val="C00000"/>
                </a:solidFill>
                <a:latin typeface="Cambria" panose="02040503050406030204" pitchFamily="18" charset="0"/>
                <a:sym typeface="+mn-ea"/>
              </a:rPr>
              <a:t>Reference</a:t>
            </a:r>
            <a:r>
              <a:rPr lang="en-US" altLang="en-IN" sz="1400">
                <a:solidFill>
                  <a:srgbClr val="C00000"/>
                </a:solidFill>
                <a:latin typeface="Cambria" panose="02040503050406030204" pitchFamily="18" charset="0"/>
                <a:sym typeface="+mn-ea"/>
              </a:rPr>
              <a:t>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682A0AC-9BC6-038C-0690-634E7B34C650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09D43E4-4777-93B5-A86C-BA77F30F3A76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618CD518-F7ED-18CA-ABE1-4A3E3695363B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3B4739C-4FA6-353B-743D-B108E282CC4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EDFAB5F-A59D-1320-55AA-CDD2C4EF23A0}"/>
              </a:ext>
            </a:extLst>
          </p:cNvPr>
          <p:cNvSpPr txBox="1"/>
          <p:nvPr/>
        </p:nvSpPr>
        <p:spPr>
          <a:xfrm>
            <a:off x="2302930" y="1022013"/>
            <a:ext cx="9889070" cy="5191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Georgia" panose="02040502050405090303"/>
              <a:buNone/>
              <a:defRPr sz="4000" b="0" i="0" u="none" strike="noStrike" cap="none">
                <a:solidFill>
                  <a:schemeClr val="lt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342900" indent="-342900" algn="l">
              <a:lnSpc>
                <a:spcPct val="150000"/>
              </a:lnSpc>
              <a:buClr>
                <a:schemeClr val="tx1"/>
              </a:buClr>
              <a:buSzPct val="100000"/>
              <a:buFont typeface="+mj-lt"/>
              <a:buAutoNum type="arabicPeriod" startAt="16"/>
            </a:pPr>
            <a:r>
              <a:rPr lang="en-US" sz="1200" dirty="0">
                <a:solidFill>
                  <a:schemeClr val="tx1"/>
                </a:solidFill>
              </a:rPr>
              <a:t>Guo, H., Zhang, S., Soong, F., He, L., &amp; Xie, L. (2021). Conversational End-to-End TTS for Voice Agents. 2021 IEEE Spoken Language Technology Workshop (SLT), 403-409. </a:t>
            </a:r>
            <a:r>
              <a:rPr lang="en-US" sz="1200" dirty="0">
                <a:solidFill>
                  <a:schemeClr val="tx1"/>
                </a:solidFill>
                <a:hlinkClick r:id="rId3"/>
              </a:rPr>
              <a:t>https://doi.org/10.1109/slt48900.2021.938346</a:t>
            </a:r>
            <a:endParaRPr lang="en-US" sz="1200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150000"/>
              </a:lnSpc>
              <a:buClr>
                <a:schemeClr val="tx1"/>
              </a:buClr>
              <a:buSzPct val="100000"/>
              <a:buFont typeface="+mj-lt"/>
              <a:buAutoNum type="arabicPeriod" startAt="16"/>
            </a:pPr>
            <a:r>
              <a:rPr lang="en-US" sz="1200" dirty="0">
                <a:solidFill>
                  <a:schemeClr val="tx1"/>
                </a:solidFill>
              </a:rPr>
              <a:t>Naveed, H., Khan, A., Qiu, S., Saqib, M., Anwar, S., Usman, M., Barnes, N., &amp; Mian, A. S. (2023). A Comprehensive Overview of Large Language Models. ACM Transactions on Intelligent Systems and Technology, 16, 1 - 72. </a:t>
            </a:r>
            <a:r>
              <a:rPr lang="en-US" sz="1200" dirty="0">
                <a:solidFill>
                  <a:schemeClr val="tx1"/>
                </a:solidFill>
                <a:hlinkClick r:id="rId4"/>
              </a:rPr>
              <a:t>https://doi.org/10.1145/3744746 </a:t>
            </a:r>
            <a:endParaRPr lang="en-US" sz="1200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150000"/>
              </a:lnSpc>
              <a:buClr>
                <a:schemeClr val="tx1"/>
              </a:buClr>
              <a:buSzPct val="100000"/>
              <a:buFont typeface="+mj-lt"/>
              <a:buAutoNum type="arabicPeriod" startAt="16"/>
            </a:pPr>
            <a:r>
              <a:rPr lang="en-US" sz="1200" dirty="0">
                <a:solidFill>
                  <a:schemeClr val="tx1"/>
                </a:solidFill>
              </a:rPr>
              <a:t>Wang, R., Nadig, S., </a:t>
            </a:r>
            <a:r>
              <a:rPr lang="en-US" sz="1200" dirty="0" err="1">
                <a:solidFill>
                  <a:schemeClr val="tx1"/>
                </a:solidFill>
              </a:rPr>
              <a:t>Kulko</a:t>
            </a:r>
            <a:r>
              <a:rPr lang="en-US" sz="1200" dirty="0">
                <a:solidFill>
                  <a:schemeClr val="tx1"/>
                </a:solidFill>
              </a:rPr>
              <a:t>, D., </a:t>
            </a:r>
            <a:r>
              <a:rPr lang="en-US" sz="1200" dirty="0" err="1">
                <a:solidFill>
                  <a:schemeClr val="tx1"/>
                </a:solidFill>
              </a:rPr>
              <a:t>Vandieken</a:t>
            </a:r>
            <a:r>
              <a:rPr lang="en-US" sz="1200" dirty="0">
                <a:solidFill>
                  <a:schemeClr val="tx1"/>
                </a:solidFill>
              </a:rPr>
              <a:t>, S., Chang, C.-T., </a:t>
            </a:r>
            <a:r>
              <a:rPr lang="en-US" sz="1200" dirty="0" err="1">
                <a:solidFill>
                  <a:schemeClr val="tx1"/>
                </a:solidFill>
              </a:rPr>
              <a:t>Sarfjoo</a:t>
            </a:r>
            <a:r>
              <a:rPr lang="en-US" sz="1200" dirty="0">
                <a:solidFill>
                  <a:schemeClr val="tx1"/>
                </a:solidFill>
              </a:rPr>
              <a:t>, S. S., &amp; Robertson, J. (2024). Double Decoder: Improving latency for Streaming End-to-end ASR Models. 83-91 </a:t>
            </a:r>
            <a:r>
              <a:rPr lang="en-IN" sz="1200" dirty="0">
                <a:hlinkClick r:id="rId5"/>
              </a:rPr>
              <a:t>https://aclanthology.org/2024.icnlsp-1.10/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</a:p>
          <a:p>
            <a:pPr marL="342900" indent="-342900" algn="l">
              <a:lnSpc>
                <a:spcPct val="150000"/>
              </a:lnSpc>
              <a:buClr>
                <a:schemeClr val="tx1"/>
              </a:buClr>
              <a:buSzPct val="100000"/>
              <a:buFont typeface="+mj-lt"/>
              <a:buAutoNum type="arabicPeriod" startAt="16"/>
            </a:pPr>
            <a:r>
              <a:rPr lang="en-US" sz="1200" dirty="0">
                <a:solidFill>
                  <a:schemeClr val="tx1"/>
                </a:solidFill>
              </a:rPr>
              <a:t>Vaswani, A., </a:t>
            </a:r>
            <a:r>
              <a:rPr lang="en-US" sz="1200" dirty="0" err="1">
                <a:solidFill>
                  <a:schemeClr val="tx1"/>
                </a:solidFill>
              </a:rPr>
              <a:t>Shazeer</a:t>
            </a:r>
            <a:r>
              <a:rPr lang="en-US" sz="1200" dirty="0">
                <a:solidFill>
                  <a:schemeClr val="tx1"/>
                </a:solidFill>
              </a:rPr>
              <a:t>, N., Parmar, N., </a:t>
            </a:r>
            <a:r>
              <a:rPr lang="en-US" sz="1200" dirty="0" err="1">
                <a:solidFill>
                  <a:schemeClr val="tx1"/>
                </a:solidFill>
              </a:rPr>
              <a:t>Uszkoreit</a:t>
            </a:r>
            <a:r>
              <a:rPr lang="en-US" sz="1200" dirty="0">
                <a:solidFill>
                  <a:schemeClr val="tx1"/>
                </a:solidFill>
              </a:rPr>
              <a:t>, J., Jones, L., Gomez, A. N., Kaiser, Ł., &amp; </a:t>
            </a:r>
            <a:r>
              <a:rPr lang="en-US" sz="1200" dirty="0" err="1">
                <a:solidFill>
                  <a:schemeClr val="tx1"/>
                </a:solidFill>
              </a:rPr>
              <a:t>Polosukhin</a:t>
            </a:r>
            <a:r>
              <a:rPr lang="en-US" sz="1200" dirty="0">
                <a:solidFill>
                  <a:schemeClr val="tx1"/>
                </a:solidFill>
              </a:rPr>
              <a:t>, I. (2017). Attention is all you need. Advances in Neural Information Processing Systems, 30. </a:t>
            </a:r>
            <a:r>
              <a:rPr lang="en-IN" sz="1200" dirty="0">
                <a:hlinkClick r:id="rId6"/>
              </a:rPr>
              <a:t>https://doi.org/10.48550/arXiv.1706.03762</a:t>
            </a:r>
            <a:endParaRPr lang="en-IN" sz="1200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150000"/>
              </a:lnSpc>
              <a:buClr>
                <a:schemeClr val="tx1"/>
              </a:buClr>
              <a:buSzPct val="100000"/>
              <a:buFont typeface="+mj-lt"/>
              <a:buAutoNum type="arabicPeriod" startAt="16"/>
            </a:pPr>
            <a:r>
              <a:rPr lang="en-IN" sz="1200" dirty="0" err="1">
                <a:solidFill>
                  <a:schemeClr val="tx1"/>
                </a:solidFill>
              </a:rPr>
              <a:t>Zardini</a:t>
            </a:r>
            <a:r>
              <a:rPr lang="en-IN" sz="1200" dirty="0">
                <a:solidFill>
                  <a:schemeClr val="tx1"/>
                </a:solidFill>
              </a:rPr>
              <a:t>, E., </a:t>
            </a:r>
            <a:r>
              <a:rPr lang="en-IN" sz="1200" dirty="0" err="1">
                <a:solidFill>
                  <a:schemeClr val="tx1"/>
                </a:solidFill>
              </a:rPr>
              <a:t>Blanzieri</a:t>
            </a:r>
            <a:r>
              <a:rPr lang="en-IN" sz="1200" dirty="0">
                <a:solidFill>
                  <a:schemeClr val="tx1"/>
                </a:solidFill>
              </a:rPr>
              <a:t>, E., &amp; Pastorello, D. (2024). A quantum k-nearest </a:t>
            </a:r>
            <a:r>
              <a:rPr lang="en-IN" sz="1200" dirty="0" err="1">
                <a:solidFill>
                  <a:schemeClr val="tx1"/>
                </a:solidFill>
              </a:rPr>
              <a:t>neighbors</a:t>
            </a:r>
            <a:r>
              <a:rPr lang="en-IN" sz="1200" dirty="0">
                <a:solidFill>
                  <a:schemeClr val="tx1"/>
                </a:solidFill>
              </a:rPr>
              <a:t> algorithm based on the Euclidean distance estimation. Quantum Machine Intelligence, 6(1), 23. </a:t>
            </a:r>
            <a:r>
              <a:rPr lang="en-IN" sz="1200" dirty="0">
                <a:solidFill>
                  <a:schemeClr val="tx1"/>
                </a:solidFill>
                <a:hlinkClick r:id="rId7"/>
              </a:rPr>
              <a:t>https://doi.org/10.1007/s42484-024-00155-2</a:t>
            </a:r>
            <a:endParaRPr lang="en-IN" sz="1200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150000"/>
              </a:lnSpc>
              <a:buClr>
                <a:schemeClr val="tx1"/>
              </a:buClr>
              <a:buSzPct val="100000"/>
              <a:buFont typeface="+mj-lt"/>
              <a:buAutoNum type="arabicPeriod" startAt="16"/>
            </a:pPr>
            <a:r>
              <a:rPr lang="en-IN" sz="1200" dirty="0">
                <a:solidFill>
                  <a:schemeClr val="tx1"/>
                </a:solidFill>
              </a:rPr>
              <a:t>Jäger, J., &amp; Krems, R. V. (2023). Universal expressiveness of variational quantum classifiers and quantum kernels for support vector machines. Nature Communications, 14(1), 576. </a:t>
            </a:r>
            <a:r>
              <a:rPr lang="en-IN" sz="1200" dirty="0">
                <a:solidFill>
                  <a:schemeClr val="tx1"/>
                </a:solidFill>
                <a:hlinkClick r:id="rId8"/>
              </a:rPr>
              <a:t>https://doi.org/10.1038/s41467-023-36144-5</a:t>
            </a:r>
            <a:endParaRPr lang="en-IN" sz="1200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150000"/>
              </a:lnSpc>
              <a:buClr>
                <a:schemeClr val="tx1"/>
              </a:buClr>
              <a:buSzPct val="100000"/>
              <a:buFont typeface="+mj-lt"/>
              <a:buAutoNum type="arabicPeriod" startAt="16"/>
            </a:pPr>
            <a:r>
              <a:rPr lang="en-IN" sz="1200" dirty="0">
                <a:solidFill>
                  <a:schemeClr val="tx1"/>
                </a:solidFill>
              </a:rPr>
              <a:t>Shi, S., Wang, Z., Li, J., Li, Y., Shang, R., Zheng, H., Zhong, G., Gu, Y., &amp; Huang, X. (2026). A quantum neural network with built-in self-attention mechanism. Neurocomputing, 674, 132862. </a:t>
            </a:r>
            <a:r>
              <a:rPr lang="en-IN" sz="1200" dirty="0">
                <a:solidFill>
                  <a:schemeClr val="tx1"/>
                </a:solidFill>
                <a:hlinkClick r:id="rId9"/>
              </a:rPr>
              <a:t>https://doi.org/10.1016/j.neucom.2026.132862</a:t>
            </a:r>
            <a:endParaRPr lang="en-IN" sz="1200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150000"/>
              </a:lnSpc>
              <a:buClr>
                <a:schemeClr val="tx1"/>
              </a:buClr>
              <a:buSzPct val="100000"/>
              <a:buFont typeface="+mj-lt"/>
              <a:buAutoNum type="arabicPeriod" startAt="16"/>
            </a:pPr>
            <a:r>
              <a:rPr lang="en-IN" sz="1200" dirty="0" err="1">
                <a:solidFill>
                  <a:schemeClr val="tx1"/>
                </a:solidFill>
              </a:rPr>
              <a:t>Blekos</a:t>
            </a:r>
            <a:r>
              <a:rPr lang="en-IN" sz="1200" dirty="0">
                <a:solidFill>
                  <a:schemeClr val="tx1"/>
                </a:solidFill>
              </a:rPr>
              <a:t>, K., Brand, D., Ceschini, A., Chou, C.-H., Li, R.-H., Pandya, K., &amp; Summer, A. (2024). A review on Quantum Approximate Optimization Algorithm and its variants. Physics Reports, 1068, 1–66. </a:t>
            </a:r>
            <a:r>
              <a:rPr lang="en-IN" sz="1200" dirty="0">
                <a:solidFill>
                  <a:schemeClr val="tx1"/>
                </a:solidFill>
                <a:hlinkClick r:id="rId10"/>
              </a:rPr>
              <a:t>https://doi.org/10.1016/j.physrep.2024.03.002</a:t>
            </a:r>
            <a:endParaRPr lang="en-IN" sz="1200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150000"/>
              </a:lnSpc>
              <a:buClr>
                <a:schemeClr val="tx1"/>
              </a:buClr>
              <a:buSzPct val="100000"/>
              <a:buFont typeface="+mj-lt"/>
              <a:buAutoNum type="arabicPeriod" startAt="16"/>
            </a:pPr>
            <a:r>
              <a:rPr lang="en-IN" sz="1200" dirty="0">
                <a:solidFill>
                  <a:schemeClr val="tx1"/>
                </a:solidFill>
              </a:rPr>
              <a:t>Bausch, J., Subramanian, S., &amp; Piddock, S. (2021). A quantum search decoder for natural language processing. Quantum Machine Intelligence, 3(1), 16. </a:t>
            </a:r>
            <a:r>
              <a:rPr lang="en-IN" sz="1200" dirty="0">
                <a:solidFill>
                  <a:schemeClr val="tx1"/>
                </a:solidFill>
                <a:hlinkClick r:id="rId11"/>
              </a:rPr>
              <a:t>https://doi.org/10.1007/s42484-021-00041-1</a:t>
            </a:r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29C2AB-DC7B-7F3F-5EB6-59D55ACBBBFA}"/>
              </a:ext>
            </a:extLst>
          </p:cNvPr>
          <p:cNvSpPr/>
          <p:nvPr/>
        </p:nvSpPr>
        <p:spPr>
          <a:xfrm>
            <a:off x="-3" y="1120775"/>
            <a:ext cx="2302935" cy="519112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Abstract 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Introduction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Literature Survey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  <a:endParaRPr lang="en-IN" sz="1500" b="1" dirty="0">
              <a:solidFill>
                <a:schemeClr val="accent4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Research Gap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Architecture Diagram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Gantt Chart</a:t>
            </a:r>
          </a:p>
          <a:p>
            <a:pPr>
              <a:lnSpc>
                <a:spcPct val="200000"/>
              </a:lnSpc>
            </a:pPr>
            <a:r>
              <a:rPr lang="en-IN" sz="1500" b="1" dirty="0">
                <a:solidFill>
                  <a:srgbClr val="FFC000"/>
                </a:solidFill>
                <a:latin typeface="Cambria" panose="02040503050406030204" pitchFamily="18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1781690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719</TotalTime>
  <Words>3514</Words>
  <Application>Microsoft Office PowerPoint</Application>
  <PresentationFormat>Widescreen</PresentationFormat>
  <Paragraphs>437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Aptos Narrow</vt:lpstr>
      <vt:lpstr>Arial</vt:lpstr>
      <vt:lpstr>Calibri</vt:lpstr>
      <vt:lpstr>Calibri Light</vt:lpstr>
      <vt:lpstr>Cambria</vt:lpstr>
      <vt:lpstr>Carlito</vt:lpstr>
      <vt:lpstr>Georgia</vt:lpstr>
      <vt:lpstr>Times New Roman</vt:lpstr>
      <vt:lpstr>Office Theme</vt:lpstr>
      <vt:lpstr>Department  of  Computer Science &amp; Engineering </vt:lpstr>
      <vt:lpstr>Abstract</vt:lpstr>
      <vt:lpstr>Introduction</vt:lpstr>
      <vt:lpstr>Literature Survey</vt:lpstr>
      <vt:lpstr>Literature Survey </vt:lpstr>
      <vt:lpstr>Literature Survey</vt:lpstr>
      <vt:lpstr>Literature Survey </vt:lpstr>
      <vt:lpstr>Literature Survey </vt:lpstr>
      <vt:lpstr>Literature Survey </vt:lpstr>
      <vt:lpstr>Problem Statement</vt:lpstr>
      <vt:lpstr>Research Gaps</vt:lpstr>
      <vt:lpstr>Architecture Diagram</vt:lpstr>
      <vt:lpstr>Gantt Chart</vt:lpstr>
      <vt:lpstr>Reference </vt:lpstr>
      <vt:lpstr>Reference </vt:lpstr>
      <vt:lpstr>Reference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Ketha Aakash-[CH.SC.U4CSE23222]</dc:creator>
  <cp:lastModifiedBy>Sanjjey Arumugam</cp:lastModifiedBy>
  <cp:revision>7</cp:revision>
  <dcterms:created xsi:type="dcterms:W3CDTF">2026-03-24T16:46:18Z</dcterms:created>
  <dcterms:modified xsi:type="dcterms:W3CDTF">2026-09-20T13:04:13Z</dcterms:modified>
</cp:coreProperties>
</file>